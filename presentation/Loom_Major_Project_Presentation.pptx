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1B33"/>
                </a:solidFill>
                <a:latin typeface="Calibri"/>
              </a:defRPr>
            </a:pPr>
            <a:r>
              <a:rPr sz="1200" b="0" i="0" u="none" strike="noStrike">
                <a:solidFill>
                  <a:srgbClr val="161B33"/>
                </a:solidFill>
                <a:latin typeface="Calibri"/>
              </a:rPr>
              <a:t>E4 ablation: malicious cases caught per mechanism (of 9)</a:t>
            </a:r>
          </a:p>
        </c:rich>
      </c:tx>
      <c:layout/>
      <c:overlay val="0"/>
    </c:title>
    <c:autoTitleDeleted val="0"/>
    <c:plotArea>
      <c:layout/>
      <c:barChart>
        <c:barDir val="bar"/>
        <c:grouping val="clustered"/>
        <c:varyColors val="0"/>
        <c:ser>
          <c:idx val="0"/>
          <c:order val="0"/>
          <c:tx>
            <c:strRef>
              <c:f>Sheet1!$B$1</c:f>
              <c:strCache>
                <c:ptCount val="1"/>
                <c:pt idx="0">
                  <c:v>Malicious cases caught</c:v>
                </c:pt>
              </c:strCache>
            </c:strRef>
          </c:tx>
          <c:spPr>
            <a:solidFill>
              <a:srgbClr val="4455C7"/>
            </a:solidFill>
            <a:effectLst/>
          </c:spPr>
          <c:invertIfNegative val="0"/>
          <c:dLbls>
            <c:numFmt formatCode="#,##0" sourceLinked="0"/>
            <c:txPr>
              <a:bodyPr/>
              <a:lstStyle/>
              <a:p>
                <a:pPr>
                  <a:defRPr b="0" i="0" strike="noStrike" sz="1100" u="none">
                    <a:solidFill>
                      <a:srgbClr val="1B2030"/>
                    </a:solidFill>
                    <a:latin typeface="Arial"/>
                  </a:defRPr>
                </a:pPr>
              </a:p>
            </c:txPr>
            <c:showLegendKey val="0"/>
            <c:showVal val="1"/>
            <c:showCatName val="0"/>
            <c:showSerName val="0"/>
            <c:showPercent val="0"/>
            <c:showBubbleSize val="0"/>
            <c:showLeaderLines val="0"/>
          </c:dLbls>
          <c:cat>
            <c:multiLvlStrRef>
              <c:f>Sheet1!$A$2:$A$6</c:f>
              <c:multiLvlStrCache>
                <c:ptCount val="5"/>
                <c:lvl>
                  <c:pt idx="0">
                    <c:v>Contradiction</c:v>
                  </c:pt>
                  <c:pt idx="1">
                    <c:v>Quarantine</c:v>
                  </c:pt>
                  <c:pt idx="2">
                    <c:v>Placement</c:v>
                  </c:pt>
                  <c:pt idx="3">
                    <c:v>Continuity</c:v>
                  </c:pt>
                  <c:pt idx="4">
                    <c:v>Sandbox</c:v>
                  </c:pt>
                </c:lvl>
              </c:multiLvlStrCache>
            </c:multiLvlStrRef>
          </c:cat>
          <c:val>
            <c:numRef>
              <c:f>Sheet1!$B$2:$B$6</c:f>
              <c:numCache>
                <c:formatCode>General</c:formatCode>
                <c:ptCount val="5"/>
                <c:pt idx="0">
                  <c:v>1</c:v>
                </c:pt>
                <c:pt idx="1">
                  <c:v>1</c:v>
                </c:pt>
                <c:pt idx="2">
                  <c:v>2</c:v>
                </c:pt>
                <c:pt idx="3">
                  <c:v>2</c:v>
                </c:pt>
                <c:pt idx="4">
                  <c:v>3</c:v>
                </c:pt>
              </c:numCache>
            </c:numRef>
          </c:val>
        </c:ser>
        <c:dLbls>
          <c:numFmt formatCode="#,##0" sourceLinked="0"/>
          <c:txPr>
            <a:bodyPr/>
            <a:lstStyle/>
            <a:p>
              <a:pPr>
                <a:defRPr b="0" i="0" strike="noStrike" sz="1100" u="none">
                  <a:solidFill>
                    <a:srgbClr val="1B203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030"/>
                </a:solidFill>
                <a:latin typeface="Arial"/>
              </a:defRPr>
            </a:pPr>
            <a:endParaRPr lang="en-US"/>
          </a:p>
        </c:txPr>
        <c:crossAx val="2094734552"/>
        <c:crosses val="autoZero"/>
        <c:auto val="1"/>
        <c:lblAlgn val="ctr"/>
        <c:noMultiLvlLbl val="1"/>
      </c:catAx>
      <c:valAx>
        <c:axId val="2094734552"/>
        <c:scaling>
          <c:orientation val="minMax"/>
          <c:max val="4"/>
          <c:min val="0"/>
        </c:scaling>
        <c:delete val="0"/>
        <c:axPos val="b"/>
        <c:majorGridlines>
          <c:spPr>
            <a:ln w="6350" cap="flat">
              <a:solidFill>
                <a:srgbClr val="E5E7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275"/>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Greet the guide and jury, introduce Group 14 (Aiman Haque, Zoya Mulani, Aariz Sheikh, Yusuf Aslam), and state the one-line thesis: Loom makes installing community AUR packages safe without needing any cooperation from the AUR or its maintainers.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Read the abstract's first sentence verbatim, then summarise: Loom does not try to detect malware; it contains builds and demands independent, publicly logged evidence before anything is installed. Point at the four numbers on the right; they are all from our own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Left: the four steps of a normal AUR install with yay or paru. The PKGBUILD is a shell script that runs as you, so it can read ~/.ssh, ~/.aws and browser data and reach the network before pacman ever asks for root, and pacman then runs its install hooks as root. Nobody reviews AUR uploads and anyone can adopt an orphaned package [6]; XZ Utils showed how a patient takeover plus a build-script payload works [5]. Right: four numbers from peer-reviewed work that show the scale: 107 attack vectors [1], 24,356 malicious packages [4], three quarters reaching users through source installation [3], and under 1% of packages sandboxing themselves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Read the problem statement. Then the five objectives, each met by one Loom subsystem: Heddle contains builds, Thread and Weave verify artifacts through independent rebuilders, Quarantine slows down fast attacks, Continuity notices who changed, and Warp makes the evidence public and tamper-evident. Stress that they are independent: an attacker who defeats one still faces four. The footer states what we explicitly do not claim; that honesty matters (threat model OOS-1 to OOS-6).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For each paper give one line on what it found and one line on the gap Loom addresses. Do not read the table; pick two or three highlights per slide. All sources are 2023 or later; full IEEE citations with links are in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For each paper give one line on what it found and one line on the gap Loom addresses. Do not read the table; pick two or three highlights per slide. All sources are 2023 or later; full IEEE citations with links are in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Introduction &amp; research (slides 1–7). This is the key slide of the review. Each column is a class of existing solution; each row a property. Detection tools [2]-[4] are probabilistic. Signing [7],[8] needs registry cooperation the AUR does not offer. Reproducible-builds work [11],[12] measures reproducibility but never turns it into an install decision. Loom is the only column with every property, and it needs nothing from the AUR. Hand over to Presenter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Architecture, flows &amp; cryptography (slides 8–11). Walk the diagram left to right. The user talks only to the loom client. The client reads recipes from the AUR but never runs them to get metadata. Three rebuilders, run by different organisations, rebuild every package and submit signed attestations to Warp. Three witnesses cosign Warp's checkpoints after checking consistency proofs. Peers serve artifacts by hash. At the bottom: pacman does the final install, and the kernel provides the sandbox primitives. The dashed boundary is trust: nothing outside the client is trusted without a signature or hash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Architecture, flows &amp; cryptography (slides 8–11). Follow the numbered path. Steps 1 to 3 run no package code at all: we parse .SRCINFO, never source the PKGBUILD. Step 4 is the Weave decision; if it blocks, the user gets the rule, the evidence and the fix, and nothing has executed. If allowed, we prefer the attested artifact fetched by its SHA-256 from peers, so when k rebuilders agree no PKGBUILD code ever runs on the user's machine. Only if no peer has it do we build locally inside Heddle. Then we inspect what the package installs, strip its .INSTALL so pacman never runs it as root, re-evaluate, and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Architecture, flows &amp; cryptography (slides 8–11). Top to bottom in time. A rebuilder fetches the recipe, builds twice with deliberately different time zone, locale, umask and path, and compares the two SHA-256 digests. It signs an in-toto statement inside a DSSE envelope with its own Ed25519 key and submits it to Warp. Warp checks the signer is an admitted rebuilder, appends the leaf, signs a new checkpoint and sends it with a consistency proof to each witness. Witnesses verify the proof against the last size they cosigned and return a cosignature. The client later fetches the checkpoint, requires two of three cosignatures, verifies consistency with its saved head, and verifies inclusion of every attestation it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Architecture, flows &amp; cryptography (slides 8–11). Left: Loom invents no cryptography (CON-5). SHA-256 content-addresses every artifact and record. Ed25519 signs attestations, checkpoints and cosignatures, verified with verify_strict to reject malleable signatures. DSSE's pre-authentication encoding signs the length-prefixed payload type and body, so nothing can be spliced or reinterpreted, and because the in-toto predicate type is inside the signed body, an attestation signature can never be reused as a revocation. Canonical JSON makes signed bytes deterministic. The Merkle tree uses RFC 6962 domain separation, 0x00 for leaves and 0x01 for nodes. Right: to prove d2 is in the log, the server sends only the three amber sibling hashes, log2 of 8. Witnesses cosign a checkpoint only after checking a consistency proof from the last one they signed, so an honest witness vouches for one linear history. With 2 of 3 witnesses required, any two quorums share a witness, so a split view is prevented while at most one witness colludes. Hand over to Presenter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 Heddle &amp; Weave (slide 12) and live demo part A. Left, Heddle: three nested layers. Namespaces give the build a fresh tmpfs root where the home directory simply does not exist, and an empty network namespace. Landlock is a kernel allow-list for files, TCP and IPC. seccomp-BPF refuses dangerous syscalls such as mount, ptrace, bpf and io_uring, and a supervisor explains each denial. Without user namespaces we run the reduced tier; without Landlock we refuse to build, never an unconfined fallback. A build that even tries to read credentials or use the network is rejected, even if it exits 0. Right, Weave: evaluates all nine rules and reports every violation with a fix. The key algorithm is independence: attestations sharing a rebuilder, organisation or toolchain are correlated, and the count is the maximum independent set. Here B and C share a toolchain, so three attestations count as two, which still meets k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Live demo part B, results &amp; conclusion (slides 13–16). Our SRS defines six experiments. E1: all nine malicious cases in the labelled incident corpus are blocked before any payload runs. E2: none of the seven benign packages is blocked, even though they deliberately stress each mechanism. E3 is a measurement rather than a gate. E4, the chart: detections are spread over five mechanisms and the best single one catches only three of nine, so no single bypass defeats Loom. E5: a decision takes 8.3 microseconds and an Ed25519 verification 60 microseconds in a release build. E6: 200 of 200 split views detected. And the headline: the same malicious build against a canary sink produced zero hits under Heddle and one hit unconfined.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Live demo part B, results &amp; conclusion (slides 13–16). This recaps the live demo. Rows are the nine scenarios, columns the mechanisms. Red cells are where a mechanism stopped a package in our run. Notice the red cells are spread over every column: that is the ablation result reproduced live. Scenario 8's only red cell is the Warp witnesses column: the forked log was rejected by the victim's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Live demo part B, results &amp; conclusion (slides 13–16). Deliver the four conclusions slowly, then be candid about limitations: rebuilder independence is simulated on one host, attestation proves an artifact matches its source but not that the source is benign, and log admission is permissioned. Future work follows directly. End on "Thank you" and invite questions; each presenter answers questions in their own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 Live demo part B, results &amp; conclusion (slides 13–16). Leave on screen during questions. All sixteen are peer-reviewed or preprint research from 2023 onward. The standards Loom implements (FIPS 180-4, RFC 8032, RFC 6962/9162, RFC 8785, DSSE, in-toto, C2SP) are cited in the technical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ieeexplore.ieee.org/document/10179304" TargetMode="External"/><Relationship Id="rId2" Type="http://schemas.openxmlformats.org/officeDocument/2006/relationships/hyperlink" Target="https://doi.org/10.1145/3627106.3627138" TargetMode="External"/><Relationship Id="rId3" Type="http://schemas.openxmlformats.org/officeDocument/2006/relationships/hyperlink" Target="https://arxiv.org/abs/2309.11021" TargetMode="External"/><Relationship Id="rId4" Type="http://schemas.openxmlformats.org/officeDocument/2006/relationships/hyperlink" Target="https://arxiv.org/abs/2404.04991" TargetMode="External"/><Relationship Id="rId5" Type="http://schemas.openxmlformats.org/officeDocument/2006/relationships/hyperlink" Target="https://arxiv.org/abs/2504.17473" TargetMode="External"/><Relationship Id="rId6" Type="http://schemas.openxmlformats.org/officeDocument/2006/relationships/hyperlink" Target="https://doi.org/10.1145/3611643.3616293" TargetMode="External"/><Relationship Id="rId7" Type="http://schemas.openxmlformats.org/officeDocument/2006/relationships/hyperlink" Target="https://arxiv.org/abs/2401.14635" TargetMode="External"/><Relationship Id="rId8" Type="http://schemas.openxmlformats.org/officeDocument/2006/relationships/hyperlink" Target="https://doi.org/10.1145/3576915.3623200" TargetMode="External"/><Relationship Id="rId9" Type="http://schemas.openxmlformats.org/officeDocument/2006/relationships/hyperlink" Target="https://arxiv.org/abs/2405.14993" TargetMode="External"/><Relationship Id="rId10" Type="http://schemas.openxmlformats.org/officeDocument/2006/relationships/hyperlink" Target="https://arxiv.org/abs/2409.05014" TargetMode="External"/><Relationship Id="rId11" Type="http://schemas.openxmlformats.org/officeDocument/2006/relationships/hyperlink" Target="https://doi.org/10.1145/3639476.3639767" TargetMode="External"/><Relationship Id="rId12" Type="http://schemas.openxmlformats.org/officeDocument/2006/relationships/hyperlink" Target="https://arxiv.org/abs/2501.15919" TargetMode="External"/><Relationship Id="rId13" Type="http://schemas.openxmlformats.org/officeDocument/2006/relationships/hyperlink" Target="https://www.ndss-symposium.org/ndss-paper/parakeet-practical-key-transparency-for-end-to-end-encrypted-messaging/" TargetMode="External"/><Relationship Id="rId14" Type="http://schemas.openxmlformats.org/officeDocument/2006/relationships/hyperlink" Target="https://www.usenix.org/conference/usenixsecurity24/presentation/len" TargetMode="External"/><Relationship Id="rId15" Type="http://schemas.openxmlformats.org/officeDocument/2006/relationships/hyperlink" Target="https://doi.org/10.1145/3643655.3643878" TargetMode="External"/><Relationship Id="rId16" Type="http://schemas.openxmlformats.org/officeDocument/2006/relationships/hyperlink" Target="https://arxiv.org/abs/2509.18548" TargetMode="External"/><Relationship Id="rId17" Type="http://schemas.openxmlformats.org/officeDocument/2006/relationships/slideLayout" Target="../slideLayouts/slideLayout1.xml"/><Relationship Id="rId1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33"/>
        </a:solidFill>
      </p:bgPr>
    </p:bg>
    <p:spTree>
      <p:nvGrpSpPr>
        <p:cNvPr id="1" name=""/>
        <p:cNvGrpSpPr/>
        <p:nvPr/>
      </p:nvGrpSpPr>
      <p:grpSpPr>
        <a:xfrm>
          <a:off x="0" y="0"/>
          <a:ext cx="0" cy="0"/>
          <a:chOff x="0" y="0"/>
          <a:chExt cx="0" cy="0"/>
        </a:xfrm>
      </p:grpSpPr>
      <p:sp>
        <p:nvSpPr>
          <p:cNvPr id="3" name="Shape 0"/>
          <p:cNvSpPr/>
          <p:nvPr/>
        </p:nvSpPr>
        <p:spPr>
          <a:xfrm>
            <a:off x="7955280" y="0"/>
            <a:ext cx="128016" cy="6858000"/>
          </a:xfrm>
          <a:prstGeom prst="rect">
            <a:avLst/>
          </a:prstGeom>
          <a:solidFill>
            <a:srgbClr val="2B3470"/>
          </a:solidFill>
          <a:ln/>
        </p:spPr>
      </p:sp>
      <p:sp>
        <p:nvSpPr>
          <p:cNvPr id="4" name="Shape 1"/>
          <p:cNvSpPr/>
          <p:nvPr/>
        </p:nvSpPr>
        <p:spPr>
          <a:xfrm>
            <a:off x="8412480" y="0"/>
            <a:ext cx="128016" cy="6858000"/>
          </a:xfrm>
          <a:prstGeom prst="rect">
            <a:avLst/>
          </a:prstGeom>
          <a:solidFill>
            <a:srgbClr val="E0A526"/>
          </a:solidFill>
          <a:ln/>
        </p:spPr>
      </p:sp>
      <p:sp>
        <p:nvSpPr>
          <p:cNvPr id="5" name="Shape 2"/>
          <p:cNvSpPr/>
          <p:nvPr/>
        </p:nvSpPr>
        <p:spPr>
          <a:xfrm>
            <a:off x="8869680" y="0"/>
            <a:ext cx="128016" cy="6858000"/>
          </a:xfrm>
          <a:prstGeom prst="rect">
            <a:avLst/>
          </a:prstGeom>
          <a:solidFill>
            <a:srgbClr val="2B3470"/>
          </a:solidFill>
          <a:ln/>
        </p:spPr>
      </p:sp>
      <p:sp>
        <p:nvSpPr>
          <p:cNvPr id="6" name="Shape 3"/>
          <p:cNvSpPr/>
          <p:nvPr/>
        </p:nvSpPr>
        <p:spPr>
          <a:xfrm>
            <a:off x="9326880" y="0"/>
            <a:ext cx="128016" cy="6858000"/>
          </a:xfrm>
          <a:prstGeom prst="rect">
            <a:avLst/>
          </a:prstGeom>
          <a:solidFill>
            <a:srgbClr val="2B3470"/>
          </a:solidFill>
          <a:ln/>
        </p:spPr>
      </p:sp>
      <p:sp>
        <p:nvSpPr>
          <p:cNvPr id="7" name="Shape 4"/>
          <p:cNvSpPr/>
          <p:nvPr/>
        </p:nvSpPr>
        <p:spPr>
          <a:xfrm>
            <a:off x="9784080" y="0"/>
            <a:ext cx="128016" cy="6858000"/>
          </a:xfrm>
          <a:prstGeom prst="rect">
            <a:avLst/>
          </a:prstGeom>
          <a:solidFill>
            <a:srgbClr val="E0A526"/>
          </a:solidFill>
          <a:ln/>
        </p:spPr>
      </p:sp>
      <p:sp>
        <p:nvSpPr>
          <p:cNvPr id="8" name="Shape 5"/>
          <p:cNvSpPr/>
          <p:nvPr/>
        </p:nvSpPr>
        <p:spPr>
          <a:xfrm>
            <a:off x="10241280" y="0"/>
            <a:ext cx="128016" cy="6858000"/>
          </a:xfrm>
          <a:prstGeom prst="rect">
            <a:avLst/>
          </a:prstGeom>
          <a:solidFill>
            <a:srgbClr val="2B3470"/>
          </a:solidFill>
          <a:ln/>
        </p:spPr>
      </p:sp>
      <p:sp>
        <p:nvSpPr>
          <p:cNvPr id="9" name="Shape 6"/>
          <p:cNvSpPr/>
          <p:nvPr/>
        </p:nvSpPr>
        <p:spPr>
          <a:xfrm>
            <a:off x="10698480" y="0"/>
            <a:ext cx="128016" cy="6858000"/>
          </a:xfrm>
          <a:prstGeom prst="rect">
            <a:avLst/>
          </a:prstGeom>
          <a:solidFill>
            <a:srgbClr val="2B3470"/>
          </a:solidFill>
          <a:ln/>
        </p:spPr>
      </p:sp>
      <p:sp>
        <p:nvSpPr>
          <p:cNvPr id="10" name="Shape 7"/>
          <p:cNvSpPr/>
          <p:nvPr/>
        </p:nvSpPr>
        <p:spPr>
          <a:xfrm>
            <a:off x="11155680" y="0"/>
            <a:ext cx="128016" cy="6858000"/>
          </a:xfrm>
          <a:prstGeom prst="rect">
            <a:avLst/>
          </a:prstGeom>
          <a:solidFill>
            <a:srgbClr val="E0A526"/>
          </a:solidFill>
          <a:ln/>
        </p:spPr>
      </p:sp>
      <p:sp>
        <p:nvSpPr>
          <p:cNvPr id="11" name="Shape 8"/>
          <p:cNvSpPr/>
          <p:nvPr/>
        </p:nvSpPr>
        <p:spPr>
          <a:xfrm>
            <a:off x="11612880" y="0"/>
            <a:ext cx="128016" cy="6858000"/>
          </a:xfrm>
          <a:prstGeom prst="rect">
            <a:avLst/>
          </a:prstGeom>
          <a:solidFill>
            <a:srgbClr val="2B3470"/>
          </a:solidFill>
          <a:ln/>
        </p:spPr>
      </p:sp>
      <p:sp>
        <p:nvSpPr>
          <p:cNvPr id="12" name="Shape 9"/>
          <p:cNvSpPr/>
          <p:nvPr/>
        </p:nvSpPr>
        <p:spPr>
          <a:xfrm>
            <a:off x="7818120" y="320040"/>
            <a:ext cx="4389120" cy="109728"/>
          </a:xfrm>
          <a:prstGeom prst="rect">
            <a:avLst/>
          </a:prstGeom>
          <a:solidFill>
            <a:srgbClr val="3B4690"/>
          </a:solidFill>
          <a:ln/>
        </p:spPr>
      </p:sp>
      <p:sp>
        <p:nvSpPr>
          <p:cNvPr id="13" name="Shape 10"/>
          <p:cNvSpPr/>
          <p:nvPr/>
        </p:nvSpPr>
        <p:spPr>
          <a:xfrm>
            <a:off x="7818120" y="886968"/>
            <a:ext cx="4389120" cy="109728"/>
          </a:xfrm>
          <a:prstGeom prst="rect">
            <a:avLst/>
          </a:prstGeom>
          <a:solidFill>
            <a:srgbClr val="3B4690"/>
          </a:solidFill>
          <a:ln/>
        </p:spPr>
      </p:sp>
      <p:sp>
        <p:nvSpPr>
          <p:cNvPr id="14" name="Shape 11"/>
          <p:cNvSpPr/>
          <p:nvPr/>
        </p:nvSpPr>
        <p:spPr>
          <a:xfrm>
            <a:off x="7818120" y="1453896"/>
            <a:ext cx="4389120" cy="109728"/>
          </a:xfrm>
          <a:prstGeom prst="rect">
            <a:avLst/>
          </a:prstGeom>
          <a:solidFill>
            <a:srgbClr val="3B4690"/>
          </a:solidFill>
          <a:ln/>
        </p:spPr>
      </p:sp>
      <p:sp>
        <p:nvSpPr>
          <p:cNvPr id="15" name="Shape 12"/>
          <p:cNvSpPr/>
          <p:nvPr/>
        </p:nvSpPr>
        <p:spPr>
          <a:xfrm>
            <a:off x="7818120" y="2020824"/>
            <a:ext cx="4389120" cy="109728"/>
          </a:xfrm>
          <a:prstGeom prst="rect">
            <a:avLst/>
          </a:prstGeom>
          <a:solidFill>
            <a:srgbClr val="3B4690"/>
          </a:solidFill>
          <a:ln/>
        </p:spPr>
      </p:sp>
      <p:sp>
        <p:nvSpPr>
          <p:cNvPr id="16" name="Shape 13"/>
          <p:cNvSpPr/>
          <p:nvPr/>
        </p:nvSpPr>
        <p:spPr>
          <a:xfrm>
            <a:off x="7818120" y="2587752"/>
            <a:ext cx="4389120" cy="109728"/>
          </a:xfrm>
          <a:prstGeom prst="rect">
            <a:avLst/>
          </a:prstGeom>
          <a:solidFill>
            <a:srgbClr val="3B4690"/>
          </a:solidFill>
          <a:ln/>
        </p:spPr>
      </p:sp>
      <p:sp>
        <p:nvSpPr>
          <p:cNvPr id="17" name="Shape 14"/>
          <p:cNvSpPr/>
          <p:nvPr/>
        </p:nvSpPr>
        <p:spPr>
          <a:xfrm>
            <a:off x="7818120" y="3154680"/>
            <a:ext cx="4389120" cy="109728"/>
          </a:xfrm>
          <a:prstGeom prst="rect">
            <a:avLst/>
          </a:prstGeom>
          <a:solidFill>
            <a:srgbClr val="3B4690"/>
          </a:solidFill>
          <a:ln/>
        </p:spPr>
      </p:sp>
      <p:sp>
        <p:nvSpPr>
          <p:cNvPr id="18" name="Shape 15"/>
          <p:cNvSpPr/>
          <p:nvPr/>
        </p:nvSpPr>
        <p:spPr>
          <a:xfrm>
            <a:off x="7818120" y="3721608"/>
            <a:ext cx="4389120" cy="109728"/>
          </a:xfrm>
          <a:prstGeom prst="rect">
            <a:avLst/>
          </a:prstGeom>
          <a:solidFill>
            <a:srgbClr val="3B4690"/>
          </a:solidFill>
          <a:ln/>
        </p:spPr>
      </p:sp>
      <p:sp>
        <p:nvSpPr>
          <p:cNvPr id="19" name="Shape 16"/>
          <p:cNvSpPr/>
          <p:nvPr/>
        </p:nvSpPr>
        <p:spPr>
          <a:xfrm>
            <a:off x="7818120" y="4288536"/>
            <a:ext cx="4389120" cy="109728"/>
          </a:xfrm>
          <a:prstGeom prst="rect">
            <a:avLst/>
          </a:prstGeom>
          <a:solidFill>
            <a:srgbClr val="3B4690"/>
          </a:solidFill>
          <a:ln/>
        </p:spPr>
      </p:sp>
      <p:sp>
        <p:nvSpPr>
          <p:cNvPr id="20" name="Shape 17"/>
          <p:cNvSpPr/>
          <p:nvPr/>
        </p:nvSpPr>
        <p:spPr>
          <a:xfrm>
            <a:off x="7818120" y="4855464"/>
            <a:ext cx="4389120" cy="109728"/>
          </a:xfrm>
          <a:prstGeom prst="rect">
            <a:avLst/>
          </a:prstGeom>
          <a:solidFill>
            <a:srgbClr val="3B4690"/>
          </a:solidFill>
          <a:ln/>
        </p:spPr>
      </p:sp>
      <p:sp>
        <p:nvSpPr>
          <p:cNvPr id="21" name="Shape 18"/>
          <p:cNvSpPr/>
          <p:nvPr/>
        </p:nvSpPr>
        <p:spPr>
          <a:xfrm>
            <a:off x="7818120" y="5422392"/>
            <a:ext cx="4389120" cy="109728"/>
          </a:xfrm>
          <a:prstGeom prst="rect">
            <a:avLst/>
          </a:prstGeom>
          <a:solidFill>
            <a:srgbClr val="3B4690"/>
          </a:solidFill>
          <a:ln/>
        </p:spPr>
      </p:sp>
      <p:sp>
        <p:nvSpPr>
          <p:cNvPr id="22" name="Shape 19"/>
          <p:cNvSpPr/>
          <p:nvPr/>
        </p:nvSpPr>
        <p:spPr>
          <a:xfrm>
            <a:off x="7818120" y="5989320"/>
            <a:ext cx="4389120" cy="109728"/>
          </a:xfrm>
          <a:prstGeom prst="rect">
            <a:avLst/>
          </a:prstGeom>
          <a:solidFill>
            <a:srgbClr val="3B4690"/>
          </a:solidFill>
          <a:ln/>
        </p:spPr>
      </p:sp>
      <p:sp>
        <p:nvSpPr>
          <p:cNvPr id="23" name="Shape 20"/>
          <p:cNvSpPr/>
          <p:nvPr/>
        </p:nvSpPr>
        <p:spPr>
          <a:xfrm>
            <a:off x="7818120" y="6556248"/>
            <a:ext cx="4389120" cy="109728"/>
          </a:xfrm>
          <a:prstGeom prst="rect">
            <a:avLst/>
          </a:prstGeom>
          <a:solidFill>
            <a:srgbClr val="3B4690"/>
          </a:solidFill>
          <a:ln/>
        </p:spPr>
      </p:sp>
      <p:sp>
        <p:nvSpPr>
          <p:cNvPr id="24" name="Shape 21"/>
          <p:cNvSpPr/>
          <p:nvPr/>
        </p:nvSpPr>
        <p:spPr>
          <a:xfrm>
            <a:off x="7955280" y="274320"/>
            <a:ext cx="128016" cy="201168"/>
          </a:xfrm>
          <a:prstGeom prst="rect">
            <a:avLst/>
          </a:prstGeom>
          <a:solidFill>
            <a:srgbClr val="2B3470"/>
          </a:solidFill>
          <a:ln/>
        </p:spPr>
      </p:sp>
      <p:sp>
        <p:nvSpPr>
          <p:cNvPr id="25" name="Shape 22"/>
          <p:cNvSpPr/>
          <p:nvPr/>
        </p:nvSpPr>
        <p:spPr>
          <a:xfrm>
            <a:off x="7955280" y="1408176"/>
            <a:ext cx="128016" cy="201168"/>
          </a:xfrm>
          <a:prstGeom prst="rect">
            <a:avLst/>
          </a:prstGeom>
          <a:solidFill>
            <a:srgbClr val="2B3470"/>
          </a:solidFill>
          <a:ln/>
        </p:spPr>
      </p:sp>
      <p:sp>
        <p:nvSpPr>
          <p:cNvPr id="26" name="Shape 23"/>
          <p:cNvSpPr/>
          <p:nvPr/>
        </p:nvSpPr>
        <p:spPr>
          <a:xfrm>
            <a:off x="7955280" y="2542032"/>
            <a:ext cx="128016" cy="201168"/>
          </a:xfrm>
          <a:prstGeom prst="rect">
            <a:avLst/>
          </a:prstGeom>
          <a:solidFill>
            <a:srgbClr val="2B3470"/>
          </a:solidFill>
          <a:ln/>
        </p:spPr>
      </p:sp>
      <p:sp>
        <p:nvSpPr>
          <p:cNvPr id="27" name="Shape 24"/>
          <p:cNvSpPr/>
          <p:nvPr/>
        </p:nvSpPr>
        <p:spPr>
          <a:xfrm>
            <a:off x="7955280" y="3675888"/>
            <a:ext cx="128016" cy="201168"/>
          </a:xfrm>
          <a:prstGeom prst="rect">
            <a:avLst/>
          </a:prstGeom>
          <a:solidFill>
            <a:srgbClr val="2B3470"/>
          </a:solidFill>
          <a:ln/>
        </p:spPr>
      </p:sp>
      <p:sp>
        <p:nvSpPr>
          <p:cNvPr id="28" name="Shape 25"/>
          <p:cNvSpPr/>
          <p:nvPr/>
        </p:nvSpPr>
        <p:spPr>
          <a:xfrm>
            <a:off x="7955280" y="4809744"/>
            <a:ext cx="128016" cy="201168"/>
          </a:xfrm>
          <a:prstGeom prst="rect">
            <a:avLst/>
          </a:prstGeom>
          <a:solidFill>
            <a:srgbClr val="2B3470"/>
          </a:solidFill>
          <a:ln/>
        </p:spPr>
      </p:sp>
      <p:sp>
        <p:nvSpPr>
          <p:cNvPr id="29" name="Shape 26"/>
          <p:cNvSpPr/>
          <p:nvPr/>
        </p:nvSpPr>
        <p:spPr>
          <a:xfrm>
            <a:off x="7955280" y="5943600"/>
            <a:ext cx="128016" cy="201168"/>
          </a:xfrm>
          <a:prstGeom prst="rect">
            <a:avLst/>
          </a:prstGeom>
          <a:solidFill>
            <a:srgbClr val="2B3470"/>
          </a:solidFill>
          <a:ln/>
        </p:spPr>
      </p:sp>
      <p:sp>
        <p:nvSpPr>
          <p:cNvPr id="30" name="Shape 27"/>
          <p:cNvSpPr/>
          <p:nvPr/>
        </p:nvSpPr>
        <p:spPr>
          <a:xfrm>
            <a:off x="8412480" y="841248"/>
            <a:ext cx="128016" cy="201168"/>
          </a:xfrm>
          <a:prstGeom prst="rect">
            <a:avLst/>
          </a:prstGeom>
          <a:solidFill>
            <a:srgbClr val="E0A526"/>
          </a:solidFill>
          <a:ln/>
        </p:spPr>
      </p:sp>
      <p:sp>
        <p:nvSpPr>
          <p:cNvPr id="31" name="Shape 28"/>
          <p:cNvSpPr/>
          <p:nvPr/>
        </p:nvSpPr>
        <p:spPr>
          <a:xfrm>
            <a:off x="8412480" y="1975104"/>
            <a:ext cx="128016" cy="201168"/>
          </a:xfrm>
          <a:prstGeom prst="rect">
            <a:avLst/>
          </a:prstGeom>
          <a:solidFill>
            <a:srgbClr val="E0A526"/>
          </a:solidFill>
          <a:ln/>
        </p:spPr>
      </p:sp>
      <p:sp>
        <p:nvSpPr>
          <p:cNvPr id="32" name="Shape 29"/>
          <p:cNvSpPr/>
          <p:nvPr/>
        </p:nvSpPr>
        <p:spPr>
          <a:xfrm>
            <a:off x="8412480" y="3108960"/>
            <a:ext cx="128016" cy="201168"/>
          </a:xfrm>
          <a:prstGeom prst="rect">
            <a:avLst/>
          </a:prstGeom>
          <a:solidFill>
            <a:srgbClr val="E0A526"/>
          </a:solidFill>
          <a:ln/>
        </p:spPr>
      </p:sp>
      <p:sp>
        <p:nvSpPr>
          <p:cNvPr id="33" name="Shape 30"/>
          <p:cNvSpPr/>
          <p:nvPr/>
        </p:nvSpPr>
        <p:spPr>
          <a:xfrm>
            <a:off x="8412480" y="4242816"/>
            <a:ext cx="128016" cy="201168"/>
          </a:xfrm>
          <a:prstGeom prst="rect">
            <a:avLst/>
          </a:prstGeom>
          <a:solidFill>
            <a:srgbClr val="E0A526"/>
          </a:solidFill>
          <a:ln/>
        </p:spPr>
      </p:sp>
      <p:sp>
        <p:nvSpPr>
          <p:cNvPr id="34" name="Shape 31"/>
          <p:cNvSpPr/>
          <p:nvPr/>
        </p:nvSpPr>
        <p:spPr>
          <a:xfrm>
            <a:off x="8412480" y="5376672"/>
            <a:ext cx="128016" cy="201168"/>
          </a:xfrm>
          <a:prstGeom prst="rect">
            <a:avLst/>
          </a:prstGeom>
          <a:solidFill>
            <a:srgbClr val="E0A526"/>
          </a:solidFill>
          <a:ln/>
        </p:spPr>
      </p:sp>
      <p:sp>
        <p:nvSpPr>
          <p:cNvPr id="35" name="Shape 32"/>
          <p:cNvSpPr/>
          <p:nvPr/>
        </p:nvSpPr>
        <p:spPr>
          <a:xfrm>
            <a:off x="8412480" y="6510528"/>
            <a:ext cx="128016" cy="201168"/>
          </a:xfrm>
          <a:prstGeom prst="rect">
            <a:avLst/>
          </a:prstGeom>
          <a:solidFill>
            <a:srgbClr val="E0A526"/>
          </a:solidFill>
          <a:ln/>
        </p:spPr>
      </p:sp>
      <p:sp>
        <p:nvSpPr>
          <p:cNvPr id="36" name="Shape 33"/>
          <p:cNvSpPr/>
          <p:nvPr/>
        </p:nvSpPr>
        <p:spPr>
          <a:xfrm>
            <a:off x="8869680" y="274320"/>
            <a:ext cx="128016" cy="201168"/>
          </a:xfrm>
          <a:prstGeom prst="rect">
            <a:avLst/>
          </a:prstGeom>
          <a:solidFill>
            <a:srgbClr val="2B3470"/>
          </a:solidFill>
          <a:ln/>
        </p:spPr>
      </p:sp>
      <p:sp>
        <p:nvSpPr>
          <p:cNvPr id="37" name="Shape 34"/>
          <p:cNvSpPr/>
          <p:nvPr/>
        </p:nvSpPr>
        <p:spPr>
          <a:xfrm>
            <a:off x="8869680" y="1408176"/>
            <a:ext cx="128016" cy="201168"/>
          </a:xfrm>
          <a:prstGeom prst="rect">
            <a:avLst/>
          </a:prstGeom>
          <a:solidFill>
            <a:srgbClr val="2B3470"/>
          </a:solidFill>
          <a:ln/>
        </p:spPr>
      </p:sp>
      <p:sp>
        <p:nvSpPr>
          <p:cNvPr id="38" name="Shape 35"/>
          <p:cNvSpPr/>
          <p:nvPr/>
        </p:nvSpPr>
        <p:spPr>
          <a:xfrm>
            <a:off x="8869680" y="2542032"/>
            <a:ext cx="128016" cy="201168"/>
          </a:xfrm>
          <a:prstGeom prst="rect">
            <a:avLst/>
          </a:prstGeom>
          <a:solidFill>
            <a:srgbClr val="2B3470"/>
          </a:solidFill>
          <a:ln/>
        </p:spPr>
      </p:sp>
      <p:sp>
        <p:nvSpPr>
          <p:cNvPr id="39" name="Shape 36"/>
          <p:cNvSpPr/>
          <p:nvPr/>
        </p:nvSpPr>
        <p:spPr>
          <a:xfrm>
            <a:off x="8869680" y="3675888"/>
            <a:ext cx="128016" cy="201168"/>
          </a:xfrm>
          <a:prstGeom prst="rect">
            <a:avLst/>
          </a:prstGeom>
          <a:solidFill>
            <a:srgbClr val="2B3470"/>
          </a:solidFill>
          <a:ln/>
        </p:spPr>
      </p:sp>
      <p:sp>
        <p:nvSpPr>
          <p:cNvPr id="40" name="Shape 37"/>
          <p:cNvSpPr/>
          <p:nvPr/>
        </p:nvSpPr>
        <p:spPr>
          <a:xfrm>
            <a:off x="8869680" y="4809744"/>
            <a:ext cx="128016" cy="201168"/>
          </a:xfrm>
          <a:prstGeom prst="rect">
            <a:avLst/>
          </a:prstGeom>
          <a:solidFill>
            <a:srgbClr val="2B3470"/>
          </a:solidFill>
          <a:ln/>
        </p:spPr>
      </p:sp>
      <p:sp>
        <p:nvSpPr>
          <p:cNvPr id="41" name="Shape 38"/>
          <p:cNvSpPr/>
          <p:nvPr/>
        </p:nvSpPr>
        <p:spPr>
          <a:xfrm>
            <a:off x="8869680" y="5943600"/>
            <a:ext cx="128016" cy="201168"/>
          </a:xfrm>
          <a:prstGeom prst="rect">
            <a:avLst/>
          </a:prstGeom>
          <a:solidFill>
            <a:srgbClr val="2B3470"/>
          </a:solidFill>
          <a:ln/>
        </p:spPr>
      </p:sp>
      <p:sp>
        <p:nvSpPr>
          <p:cNvPr id="42" name="Shape 39"/>
          <p:cNvSpPr/>
          <p:nvPr/>
        </p:nvSpPr>
        <p:spPr>
          <a:xfrm>
            <a:off x="9326880" y="841248"/>
            <a:ext cx="128016" cy="201168"/>
          </a:xfrm>
          <a:prstGeom prst="rect">
            <a:avLst/>
          </a:prstGeom>
          <a:solidFill>
            <a:srgbClr val="2B3470"/>
          </a:solidFill>
          <a:ln/>
        </p:spPr>
      </p:sp>
      <p:sp>
        <p:nvSpPr>
          <p:cNvPr id="43" name="Shape 40"/>
          <p:cNvSpPr/>
          <p:nvPr/>
        </p:nvSpPr>
        <p:spPr>
          <a:xfrm>
            <a:off x="9326880" y="1975104"/>
            <a:ext cx="128016" cy="201168"/>
          </a:xfrm>
          <a:prstGeom prst="rect">
            <a:avLst/>
          </a:prstGeom>
          <a:solidFill>
            <a:srgbClr val="2B3470"/>
          </a:solidFill>
          <a:ln/>
        </p:spPr>
      </p:sp>
      <p:sp>
        <p:nvSpPr>
          <p:cNvPr id="44" name="Shape 41"/>
          <p:cNvSpPr/>
          <p:nvPr/>
        </p:nvSpPr>
        <p:spPr>
          <a:xfrm>
            <a:off x="9326880" y="3108960"/>
            <a:ext cx="128016" cy="201168"/>
          </a:xfrm>
          <a:prstGeom prst="rect">
            <a:avLst/>
          </a:prstGeom>
          <a:solidFill>
            <a:srgbClr val="2B3470"/>
          </a:solidFill>
          <a:ln/>
        </p:spPr>
      </p:sp>
      <p:sp>
        <p:nvSpPr>
          <p:cNvPr id="45" name="Shape 42"/>
          <p:cNvSpPr/>
          <p:nvPr/>
        </p:nvSpPr>
        <p:spPr>
          <a:xfrm>
            <a:off x="9326880" y="4242816"/>
            <a:ext cx="128016" cy="201168"/>
          </a:xfrm>
          <a:prstGeom prst="rect">
            <a:avLst/>
          </a:prstGeom>
          <a:solidFill>
            <a:srgbClr val="2B3470"/>
          </a:solidFill>
          <a:ln/>
        </p:spPr>
      </p:sp>
      <p:sp>
        <p:nvSpPr>
          <p:cNvPr id="46" name="Shape 43"/>
          <p:cNvSpPr/>
          <p:nvPr/>
        </p:nvSpPr>
        <p:spPr>
          <a:xfrm>
            <a:off x="9326880" y="5376672"/>
            <a:ext cx="128016" cy="201168"/>
          </a:xfrm>
          <a:prstGeom prst="rect">
            <a:avLst/>
          </a:prstGeom>
          <a:solidFill>
            <a:srgbClr val="2B3470"/>
          </a:solidFill>
          <a:ln/>
        </p:spPr>
      </p:sp>
      <p:sp>
        <p:nvSpPr>
          <p:cNvPr id="47" name="Shape 44"/>
          <p:cNvSpPr/>
          <p:nvPr/>
        </p:nvSpPr>
        <p:spPr>
          <a:xfrm>
            <a:off x="9326880" y="6510528"/>
            <a:ext cx="128016" cy="201168"/>
          </a:xfrm>
          <a:prstGeom prst="rect">
            <a:avLst/>
          </a:prstGeom>
          <a:solidFill>
            <a:srgbClr val="2B3470"/>
          </a:solidFill>
          <a:ln/>
        </p:spPr>
      </p:sp>
      <p:sp>
        <p:nvSpPr>
          <p:cNvPr id="48" name="Shape 45"/>
          <p:cNvSpPr/>
          <p:nvPr/>
        </p:nvSpPr>
        <p:spPr>
          <a:xfrm>
            <a:off x="9784080" y="274320"/>
            <a:ext cx="128016" cy="201168"/>
          </a:xfrm>
          <a:prstGeom prst="rect">
            <a:avLst/>
          </a:prstGeom>
          <a:solidFill>
            <a:srgbClr val="E0A526"/>
          </a:solidFill>
          <a:ln/>
        </p:spPr>
      </p:sp>
      <p:sp>
        <p:nvSpPr>
          <p:cNvPr id="49" name="Shape 46"/>
          <p:cNvSpPr/>
          <p:nvPr/>
        </p:nvSpPr>
        <p:spPr>
          <a:xfrm>
            <a:off x="9784080" y="1408176"/>
            <a:ext cx="128016" cy="201168"/>
          </a:xfrm>
          <a:prstGeom prst="rect">
            <a:avLst/>
          </a:prstGeom>
          <a:solidFill>
            <a:srgbClr val="E0A526"/>
          </a:solidFill>
          <a:ln/>
        </p:spPr>
      </p:sp>
      <p:sp>
        <p:nvSpPr>
          <p:cNvPr id="50" name="Shape 47"/>
          <p:cNvSpPr/>
          <p:nvPr/>
        </p:nvSpPr>
        <p:spPr>
          <a:xfrm>
            <a:off x="9784080" y="2542032"/>
            <a:ext cx="128016" cy="201168"/>
          </a:xfrm>
          <a:prstGeom prst="rect">
            <a:avLst/>
          </a:prstGeom>
          <a:solidFill>
            <a:srgbClr val="E0A526"/>
          </a:solidFill>
          <a:ln/>
        </p:spPr>
      </p:sp>
      <p:sp>
        <p:nvSpPr>
          <p:cNvPr id="51" name="Shape 48"/>
          <p:cNvSpPr/>
          <p:nvPr/>
        </p:nvSpPr>
        <p:spPr>
          <a:xfrm>
            <a:off x="9784080" y="3675888"/>
            <a:ext cx="128016" cy="201168"/>
          </a:xfrm>
          <a:prstGeom prst="rect">
            <a:avLst/>
          </a:prstGeom>
          <a:solidFill>
            <a:srgbClr val="E0A526"/>
          </a:solidFill>
          <a:ln/>
        </p:spPr>
      </p:sp>
      <p:sp>
        <p:nvSpPr>
          <p:cNvPr id="52" name="Shape 49"/>
          <p:cNvSpPr/>
          <p:nvPr/>
        </p:nvSpPr>
        <p:spPr>
          <a:xfrm>
            <a:off x="9784080" y="4809744"/>
            <a:ext cx="128016" cy="201168"/>
          </a:xfrm>
          <a:prstGeom prst="rect">
            <a:avLst/>
          </a:prstGeom>
          <a:solidFill>
            <a:srgbClr val="E0A526"/>
          </a:solidFill>
          <a:ln/>
        </p:spPr>
      </p:sp>
      <p:sp>
        <p:nvSpPr>
          <p:cNvPr id="53" name="Shape 50"/>
          <p:cNvSpPr/>
          <p:nvPr/>
        </p:nvSpPr>
        <p:spPr>
          <a:xfrm>
            <a:off x="9784080" y="5943600"/>
            <a:ext cx="128016" cy="201168"/>
          </a:xfrm>
          <a:prstGeom prst="rect">
            <a:avLst/>
          </a:prstGeom>
          <a:solidFill>
            <a:srgbClr val="E0A526"/>
          </a:solidFill>
          <a:ln/>
        </p:spPr>
      </p:sp>
      <p:sp>
        <p:nvSpPr>
          <p:cNvPr id="54" name="Shape 51"/>
          <p:cNvSpPr/>
          <p:nvPr/>
        </p:nvSpPr>
        <p:spPr>
          <a:xfrm>
            <a:off x="10241280" y="841248"/>
            <a:ext cx="128016" cy="201168"/>
          </a:xfrm>
          <a:prstGeom prst="rect">
            <a:avLst/>
          </a:prstGeom>
          <a:solidFill>
            <a:srgbClr val="2B3470"/>
          </a:solidFill>
          <a:ln/>
        </p:spPr>
      </p:sp>
      <p:sp>
        <p:nvSpPr>
          <p:cNvPr id="55" name="Shape 52"/>
          <p:cNvSpPr/>
          <p:nvPr/>
        </p:nvSpPr>
        <p:spPr>
          <a:xfrm>
            <a:off x="10241280" y="1975104"/>
            <a:ext cx="128016" cy="201168"/>
          </a:xfrm>
          <a:prstGeom prst="rect">
            <a:avLst/>
          </a:prstGeom>
          <a:solidFill>
            <a:srgbClr val="2B3470"/>
          </a:solidFill>
          <a:ln/>
        </p:spPr>
      </p:sp>
      <p:sp>
        <p:nvSpPr>
          <p:cNvPr id="56" name="Shape 53"/>
          <p:cNvSpPr/>
          <p:nvPr/>
        </p:nvSpPr>
        <p:spPr>
          <a:xfrm>
            <a:off x="10241280" y="3108960"/>
            <a:ext cx="128016" cy="201168"/>
          </a:xfrm>
          <a:prstGeom prst="rect">
            <a:avLst/>
          </a:prstGeom>
          <a:solidFill>
            <a:srgbClr val="2B3470"/>
          </a:solidFill>
          <a:ln/>
        </p:spPr>
      </p:sp>
      <p:sp>
        <p:nvSpPr>
          <p:cNvPr id="57" name="Shape 54"/>
          <p:cNvSpPr/>
          <p:nvPr/>
        </p:nvSpPr>
        <p:spPr>
          <a:xfrm>
            <a:off x="10241280" y="4242816"/>
            <a:ext cx="128016" cy="201168"/>
          </a:xfrm>
          <a:prstGeom prst="rect">
            <a:avLst/>
          </a:prstGeom>
          <a:solidFill>
            <a:srgbClr val="2B3470"/>
          </a:solidFill>
          <a:ln/>
        </p:spPr>
      </p:sp>
      <p:sp>
        <p:nvSpPr>
          <p:cNvPr id="58" name="Shape 55"/>
          <p:cNvSpPr/>
          <p:nvPr/>
        </p:nvSpPr>
        <p:spPr>
          <a:xfrm>
            <a:off x="10241280" y="5376672"/>
            <a:ext cx="128016" cy="201168"/>
          </a:xfrm>
          <a:prstGeom prst="rect">
            <a:avLst/>
          </a:prstGeom>
          <a:solidFill>
            <a:srgbClr val="2B3470"/>
          </a:solidFill>
          <a:ln/>
        </p:spPr>
      </p:sp>
      <p:sp>
        <p:nvSpPr>
          <p:cNvPr id="59" name="Shape 56"/>
          <p:cNvSpPr/>
          <p:nvPr/>
        </p:nvSpPr>
        <p:spPr>
          <a:xfrm>
            <a:off x="10241280" y="6510528"/>
            <a:ext cx="128016" cy="201168"/>
          </a:xfrm>
          <a:prstGeom prst="rect">
            <a:avLst/>
          </a:prstGeom>
          <a:solidFill>
            <a:srgbClr val="2B3470"/>
          </a:solidFill>
          <a:ln/>
        </p:spPr>
      </p:sp>
      <p:sp>
        <p:nvSpPr>
          <p:cNvPr id="60" name="Shape 57"/>
          <p:cNvSpPr/>
          <p:nvPr/>
        </p:nvSpPr>
        <p:spPr>
          <a:xfrm>
            <a:off x="10698480" y="274320"/>
            <a:ext cx="128016" cy="201168"/>
          </a:xfrm>
          <a:prstGeom prst="rect">
            <a:avLst/>
          </a:prstGeom>
          <a:solidFill>
            <a:srgbClr val="2B3470"/>
          </a:solidFill>
          <a:ln/>
        </p:spPr>
      </p:sp>
      <p:sp>
        <p:nvSpPr>
          <p:cNvPr id="61" name="Shape 58"/>
          <p:cNvSpPr/>
          <p:nvPr/>
        </p:nvSpPr>
        <p:spPr>
          <a:xfrm>
            <a:off x="10698480" y="1408176"/>
            <a:ext cx="128016" cy="201168"/>
          </a:xfrm>
          <a:prstGeom prst="rect">
            <a:avLst/>
          </a:prstGeom>
          <a:solidFill>
            <a:srgbClr val="2B3470"/>
          </a:solidFill>
          <a:ln/>
        </p:spPr>
      </p:sp>
      <p:sp>
        <p:nvSpPr>
          <p:cNvPr id="62" name="Shape 59"/>
          <p:cNvSpPr/>
          <p:nvPr/>
        </p:nvSpPr>
        <p:spPr>
          <a:xfrm>
            <a:off x="10698480" y="2542032"/>
            <a:ext cx="128016" cy="201168"/>
          </a:xfrm>
          <a:prstGeom prst="rect">
            <a:avLst/>
          </a:prstGeom>
          <a:solidFill>
            <a:srgbClr val="2B3470"/>
          </a:solidFill>
          <a:ln/>
        </p:spPr>
      </p:sp>
      <p:sp>
        <p:nvSpPr>
          <p:cNvPr id="63" name="Shape 60"/>
          <p:cNvSpPr/>
          <p:nvPr/>
        </p:nvSpPr>
        <p:spPr>
          <a:xfrm>
            <a:off x="10698480" y="3675888"/>
            <a:ext cx="128016" cy="201168"/>
          </a:xfrm>
          <a:prstGeom prst="rect">
            <a:avLst/>
          </a:prstGeom>
          <a:solidFill>
            <a:srgbClr val="2B3470"/>
          </a:solidFill>
          <a:ln/>
        </p:spPr>
      </p:sp>
      <p:sp>
        <p:nvSpPr>
          <p:cNvPr id="64" name="Shape 61"/>
          <p:cNvSpPr/>
          <p:nvPr/>
        </p:nvSpPr>
        <p:spPr>
          <a:xfrm>
            <a:off x="10698480" y="4809744"/>
            <a:ext cx="128016" cy="201168"/>
          </a:xfrm>
          <a:prstGeom prst="rect">
            <a:avLst/>
          </a:prstGeom>
          <a:solidFill>
            <a:srgbClr val="2B3470"/>
          </a:solidFill>
          <a:ln/>
        </p:spPr>
      </p:sp>
      <p:sp>
        <p:nvSpPr>
          <p:cNvPr id="65" name="Shape 62"/>
          <p:cNvSpPr/>
          <p:nvPr/>
        </p:nvSpPr>
        <p:spPr>
          <a:xfrm>
            <a:off x="10698480" y="5943600"/>
            <a:ext cx="128016" cy="201168"/>
          </a:xfrm>
          <a:prstGeom prst="rect">
            <a:avLst/>
          </a:prstGeom>
          <a:solidFill>
            <a:srgbClr val="2B3470"/>
          </a:solidFill>
          <a:ln/>
        </p:spPr>
      </p:sp>
      <p:sp>
        <p:nvSpPr>
          <p:cNvPr id="66" name="Shape 63"/>
          <p:cNvSpPr/>
          <p:nvPr/>
        </p:nvSpPr>
        <p:spPr>
          <a:xfrm>
            <a:off x="11155680" y="841248"/>
            <a:ext cx="128016" cy="201168"/>
          </a:xfrm>
          <a:prstGeom prst="rect">
            <a:avLst/>
          </a:prstGeom>
          <a:solidFill>
            <a:srgbClr val="E0A526"/>
          </a:solidFill>
          <a:ln/>
        </p:spPr>
      </p:sp>
      <p:sp>
        <p:nvSpPr>
          <p:cNvPr id="67" name="Shape 64"/>
          <p:cNvSpPr/>
          <p:nvPr/>
        </p:nvSpPr>
        <p:spPr>
          <a:xfrm>
            <a:off x="11155680" y="1975104"/>
            <a:ext cx="128016" cy="201168"/>
          </a:xfrm>
          <a:prstGeom prst="rect">
            <a:avLst/>
          </a:prstGeom>
          <a:solidFill>
            <a:srgbClr val="E0A526"/>
          </a:solidFill>
          <a:ln/>
        </p:spPr>
      </p:sp>
      <p:sp>
        <p:nvSpPr>
          <p:cNvPr id="68" name="Shape 65"/>
          <p:cNvSpPr/>
          <p:nvPr/>
        </p:nvSpPr>
        <p:spPr>
          <a:xfrm>
            <a:off x="11155680" y="3108960"/>
            <a:ext cx="128016" cy="201168"/>
          </a:xfrm>
          <a:prstGeom prst="rect">
            <a:avLst/>
          </a:prstGeom>
          <a:solidFill>
            <a:srgbClr val="E0A526"/>
          </a:solidFill>
          <a:ln/>
        </p:spPr>
      </p:sp>
      <p:sp>
        <p:nvSpPr>
          <p:cNvPr id="69" name="Shape 66"/>
          <p:cNvSpPr/>
          <p:nvPr/>
        </p:nvSpPr>
        <p:spPr>
          <a:xfrm>
            <a:off x="11155680" y="4242816"/>
            <a:ext cx="128016" cy="201168"/>
          </a:xfrm>
          <a:prstGeom prst="rect">
            <a:avLst/>
          </a:prstGeom>
          <a:solidFill>
            <a:srgbClr val="E0A526"/>
          </a:solidFill>
          <a:ln/>
        </p:spPr>
      </p:sp>
      <p:sp>
        <p:nvSpPr>
          <p:cNvPr id="70" name="Shape 67"/>
          <p:cNvSpPr/>
          <p:nvPr/>
        </p:nvSpPr>
        <p:spPr>
          <a:xfrm>
            <a:off x="11155680" y="5376672"/>
            <a:ext cx="128016" cy="201168"/>
          </a:xfrm>
          <a:prstGeom prst="rect">
            <a:avLst/>
          </a:prstGeom>
          <a:solidFill>
            <a:srgbClr val="E0A526"/>
          </a:solidFill>
          <a:ln/>
        </p:spPr>
      </p:sp>
      <p:sp>
        <p:nvSpPr>
          <p:cNvPr id="71" name="Shape 68"/>
          <p:cNvSpPr/>
          <p:nvPr/>
        </p:nvSpPr>
        <p:spPr>
          <a:xfrm>
            <a:off x="11155680" y="6510528"/>
            <a:ext cx="128016" cy="201168"/>
          </a:xfrm>
          <a:prstGeom prst="rect">
            <a:avLst/>
          </a:prstGeom>
          <a:solidFill>
            <a:srgbClr val="E0A526"/>
          </a:solidFill>
          <a:ln/>
        </p:spPr>
      </p:sp>
      <p:sp>
        <p:nvSpPr>
          <p:cNvPr id="72" name="Shape 69"/>
          <p:cNvSpPr/>
          <p:nvPr/>
        </p:nvSpPr>
        <p:spPr>
          <a:xfrm>
            <a:off x="11612880" y="274320"/>
            <a:ext cx="128016" cy="201168"/>
          </a:xfrm>
          <a:prstGeom prst="rect">
            <a:avLst/>
          </a:prstGeom>
          <a:solidFill>
            <a:srgbClr val="2B3470"/>
          </a:solidFill>
          <a:ln/>
        </p:spPr>
      </p:sp>
      <p:sp>
        <p:nvSpPr>
          <p:cNvPr id="73" name="Shape 70"/>
          <p:cNvSpPr/>
          <p:nvPr/>
        </p:nvSpPr>
        <p:spPr>
          <a:xfrm>
            <a:off x="11612880" y="1408176"/>
            <a:ext cx="128016" cy="201168"/>
          </a:xfrm>
          <a:prstGeom prst="rect">
            <a:avLst/>
          </a:prstGeom>
          <a:solidFill>
            <a:srgbClr val="2B3470"/>
          </a:solidFill>
          <a:ln/>
        </p:spPr>
      </p:sp>
      <p:sp>
        <p:nvSpPr>
          <p:cNvPr id="74" name="Shape 71"/>
          <p:cNvSpPr/>
          <p:nvPr/>
        </p:nvSpPr>
        <p:spPr>
          <a:xfrm>
            <a:off x="11612880" y="2542032"/>
            <a:ext cx="128016" cy="201168"/>
          </a:xfrm>
          <a:prstGeom prst="rect">
            <a:avLst/>
          </a:prstGeom>
          <a:solidFill>
            <a:srgbClr val="2B3470"/>
          </a:solidFill>
          <a:ln/>
        </p:spPr>
      </p:sp>
      <p:sp>
        <p:nvSpPr>
          <p:cNvPr id="75" name="Shape 72"/>
          <p:cNvSpPr/>
          <p:nvPr/>
        </p:nvSpPr>
        <p:spPr>
          <a:xfrm>
            <a:off x="11612880" y="3675888"/>
            <a:ext cx="128016" cy="201168"/>
          </a:xfrm>
          <a:prstGeom prst="rect">
            <a:avLst/>
          </a:prstGeom>
          <a:solidFill>
            <a:srgbClr val="2B3470"/>
          </a:solidFill>
          <a:ln/>
        </p:spPr>
      </p:sp>
      <p:sp>
        <p:nvSpPr>
          <p:cNvPr id="76" name="Shape 73"/>
          <p:cNvSpPr/>
          <p:nvPr/>
        </p:nvSpPr>
        <p:spPr>
          <a:xfrm>
            <a:off x="11612880" y="4809744"/>
            <a:ext cx="128016" cy="201168"/>
          </a:xfrm>
          <a:prstGeom prst="rect">
            <a:avLst/>
          </a:prstGeom>
          <a:solidFill>
            <a:srgbClr val="2B3470"/>
          </a:solidFill>
          <a:ln/>
        </p:spPr>
      </p:sp>
      <p:sp>
        <p:nvSpPr>
          <p:cNvPr id="77" name="Shape 74"/>
          <p:cNvSpPr/>
          <p:nvPr/>
        </p:nvSpPr>
        <p:spPr>
          <a:xfrm>
            <a:off x="11612880" y="5943600"/>
            <a:ext cx="128016" cy="201168"/>
          </a:xfrm>
          <a:prstGeom prst="rect">
            <a:avLst/>
          </a:prstGeom>
          <a:solidFill>
            <a:srgbClr val="2B3470"/>
          </a:solidFill>
          <a:ln/>
        </p:spPr>
      </p:sp>
      <p:sp>
        <p:nvSpPr>
          <p:cNvPr id="78" name="Shape 75"/>
          <p:cNvSpPr/>
          <p:nvPr/>
        </p:nvSpPr>
        <p:spPr>
          <a:xfrm>
            <a:off x="7498080" y="0"/>
            <a:ext cx="457200" cy="6858000"/>
          </a:xfrm>
          <a:prstGeom prst="rect">
            <a:avLst/>
          </a:prstGeom>
          <a:solidFill>
            <a:srgbClr val="161B33"/>
          </a:solidFill>
          <a:ln/>
        </p:spPr>
      </p:sp>
      <p:sp>
        <p:nvSpPr>
          <p:cNvPr id="79" name="Text 76"/>
          <p:cNvSpPr txBox="1"/>
          <p:nvPr/>
        </p:nvSpPr>
        <p:spPr>
          <a:xfrm>
            <a:off x="640080" y="640080"/>
            <a:ext cx="6766560" cy="274320"/>
          </a:xfrm>
          <a:prstGeom prst="rect">
            <a:avLst/>
          </a:prstGeom>
          <a:noFill/>
          <a:ln/>
        </p:spPr>
        <p:txBody>
          <a:bodyPr wrap="square" lIns="0" tIns="0" rIns="0" bIns="0" rtlCol="0" anchor="t"/>
          <a:lstStyle/>
          <a:p>
            <a:pPr algn="l" indent="0" marL="0">
              <a:buNone/>
            </a:pPr>
            <a:r>
              <a:rPr lang="en-US" sz="1200" b="1" spc="400" kern="0" dirty="0">
                <a:solidFill>
                  <a:srgbClr val="E0A526"/>
                </a:solidFill>
                <a:latin typeface="Calibri" pitchFamily="34" charset="0"/>
                <a:ea typeface="Calibri" pitchFamily="34" charset="-122"/>
                <a:cs typeface="Calibri" pitchFamily="34" charset="-120"/>
              </a:rPr>
              <a:t>MAJOR PROJECT · FINAL REVIEW</a:t>
            </a:r>
            <a:endParaRPr lang="en-US" sz="1200" dirty="0"/>
          </a:p>
        </p:txBody>
      </p:sp>
      <p:sp>
        <p:nvSpPr>
          <p:cNvPr id="80" name="Text 77"/>
          <p:cNvSpPr txBox="1"/>
          <p:nvPr/>
        </p:nvSpPr>
        <p:spPr>
          <a:xfrm>
            <a:off x="640080" y="1051560"/>
            <a:ext cx="6766560" cy="1005840"/>
          </a:xfrm>
          <a:prstGeom prst="rect">
            <a:avLst/>
          </a:prstGeom>
          <a:noFill/>
          <a:ln/>
        </p:spPr>
        <p:txBody>
          <a:bodyPr wrap="square" lIns="0" tIns="0" rIns="0" bIns="0" rtlCol="0" anchor="t"/>
          <a:lstStyle/>
          <a:p>
            <a:pPr algn="l" indent="0" marL="0">
              <a:buNone/>
            </a:pPr>
            <a:r>
              <a:rPr lang="en-US" sz="6400" b="1" dirty="0">
                <a:solidFill>
                  <a:srgbClr val="FFFFFF"/>
                </a:solidFill>
                <a:latin typeface="Cambria" pitchFamily="34" charset="0"/>
                <a:ea typeface="Cambria" pitchFamily="34" charset="-122"/>
                <a:cs typeface="Cambria" pitchFamily="34" charset="-120"/>
              </a:rPr>
              <a:t>Loom</a:t>
            </a:r>
            <a:endParaRPr lang="en-US" sz="6400" dirty="0"/>
          </a:p>
        </p:txBody>
      </p:sp>
      <p:sp>
        <p:nvSpPr>
          <p:cNvPr id="81" name="Text 78"/>
          <p:cNvSpPr txBox="1"/>
          <p:nvPr/>
        </p:nvSpPr>
        <p:spPr>
          <a:xfrm>
            <a:off x="640080" y="2103120"/>
            <a:ext cx="6675120" cy="1097280"/>
          </a:xfrm>
          <a:prstGeom prst="rect">
            <a:avLst/>
          </a:prstGeom>
          <a:noFill/>
          <a:ln/>
        </p:spPr>
        <p:txBody>
          <a:bodyPr wrap="square" lIns="0" tIns="0" rIns="0" bIns="0" rtlCol="0" anchor="t"/>
          <a:lstStyle/>
          <a:p>
            <a:pPr algn="l" indent="0" marL="0">
              <a:buNone/>
            </a:pPr>
            <a:r>
              <a:rPr lang="en-US" sz="2600" dirty="0">
                <a:solidFill>
                  <a:srgbClr val="DDE2FF"/>
                </a:solidFill>
                <a:latin typeface="Cambria" pitchFamily="34" charset="0"/>
                <a:ea typeface="Cambria" pitchFamily="34" charset="-122"/>
                <a:cs typeface="Cambria" pitchFamily="34" charset="-120"/>
              </a:rPr>
              <a:t>A Decentralised, Verifying Package Manager for the Arch User Repository</a:t>
            </a:r>
            <a:endParaRPr lang="en-US" sz="2600" dirty="0"/>
          </a:p>
        </p:txBody>
      </p:sp>
      <p:sp>
        <p:nvSpPr>
          <p:cNvPr id="82" name="Text 79"/>
          <p:cNvSpPr txBox="1"/>
          <p:nvPr/>
        </p:nvSpPr>
        <p:spPr>
          <a:xfrm>
            <a:off x="640080" y="3291840"/>
            <a:ext cx="6583680" cy="640080"/>
          </a:xfrm>
          <a:prstGeom prst="rect">
            <a:avLst/>
          </a:prstGeom>
          <a:noFill/>
          <a:ln/>
        </p:spPr>
        <p:txBody>
          <a:bodyPr wrap="square" lIns="0" tIns="0" rIns="0" bIns="0" rtlCol="0" anchor="t"/>
          <a:lstStyle/>
          <a:p>
            <a:pPr algn="l" indent="0" marL="0">
              <a:buNone/>
            </a:pPr>
            <a:r>
              <a:rPr lang="en-US" sz="1400" i="1" dirty="0">
                <a:solidFill>
                  <a:srgbClr val="AEB6DA"/>
                </a:solidFill>
                <a:latin typeface="Calibri" pitchFamily="34" charset="0"/>
                <a:ea typeface="Calibri" pitchFamily="34" charset="-122"/>
                <a:cs typeface="Calibri" pitchFamily="34" charset="-120"/>
              </a:rPr>
              <a:t>Sandboxed builds · k-of-n reproducible attestations · a witnessed transparency log · authority-continuity checks</a:t>
            </a:r>
            <a:endParaRPr lang="en-US" sz="1400" dirty="0"/>
          </a:p>
        </p:txBody>
      </p:sp>
      <p:sp>
        <p:nvSpPr>
          <p:cNvPr id="83" name="Text 80"/>
          <p:cNvSpPr txBox="1"/>
          <p:nvPr/>
        </p:nvSpPr>
        <p:spPr>
          <a:xfrm>
            <a:off x="640080" y="4069080"/>
            <a:ext cx="2743200" cy="274320"/>
          </a:xfrm>
          <a:prstGeom prst="rect">
            <a:avLst/>
          </a:prstGeom>
          <a:noFill/>
          <a:ln/>
        </p:spPr>
        <p:txBody>
          <a:bodyPr wrap="square" lIns="0" tIns="0" rIns="0" bIns="0" rtlCol="0" anchor="t"/>
          <a:lstStyle/>
          <a:p>
            <a:pPr algn="l" indent="0" marL="0">
              <a:buNone/>
            </a:pPr>
            <a:r>
              <a:rPr lang="en-US" sz="1100" b="1" spc="300" kern="0" dirty="0">
                <a:solidFill>
                  <a:srgbClr val="E0A526"/>
                </a:solidFill>
                <a:latin typeface="Calibri" pitchFamily="34" charset="0"/>
                <a:ea typeface="Calibri" pitchFamily="34" charset="-122"/>
                <a:cs typeface="Calibri" pitchFamily="34" charset="-120"/>
              </a:rPr>
              <a:t>GROUP NO. 14</a:t>
            </a:r>
            <a:endParaRPr lang="en-US" sz="1100" dirty="0"/>
          </a:p>
        </p:txBody>
      </p:sp>
      <p:sp>
        <p:nvSpPr>
          <p:cNvPr id="84" name="Shape 81"/>
          <p:cNvSpPr/>
          <p:nvPr/>
        </p:nvSpPr>
        <p:spPr>
          <a:xfrm>
            <a:off x="640080" y="4489704"/>
            <a:ext cx="54864" cy="475488"/>
          </a:xfrm>
          <a:prstGeom prst="rect">
            <a:avLst/>
          </a:prstGeom>
          <a:solidFill>
            <a:srgbClr val="8C9BFF"/>
          </a:solidFill>
          <a:ln/>
        </p:spPr>
      </p:sp>
      <p:sp>
        <p:nvSpPr>
          <p:cNvPr id="85" name="Text 82"/>
          <p:cNvSpPr txBox="1"/>
          <p:nvPr/>
        </p:nvSpPr>
        <p:spPr>
          <a:xfrm>
            <a:off x="822960" y="4434840"/>
            <a:ext cx="2926080" cy="329184"/>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Aiman Haque</a:t>
            </a:r>
            <a:endParaRPr lang="en-US" sz="1600" dirty="0"/>
          </a:p>
        </p:txBody>
      </p:sp>
      <p:sp>
        <p:nvSpPr>
          <p:cNvPr id="86" name="Text 83"/>
          <p:cNvSpPr txBox="1"/>
          <p:nvPr/>
        </p:nvSpPr>
        <p:spPr>
          <a:xfrm>
            <a:off x="822960" y="4754880"/>
            <a:ext cx="2926080" cy="237744"/>
          </a:xfrm>
          <a:prstGeom prst="rect">
            <a:avLst/>
          </a:prstGeom>
          <a:noFill/>
          <a:ln/>
        </p:spPr>
        <p:txBody>
          <a:bodyPr wrap="square" lIns="0" tIns="0" rIns="0" bIns="0" rtlCol="0" anchor="t"/>
          <a:lstStyle/>
          <a:p>
            <a:pPr algn="l" indent="0" marL="0">
              <a:buNone/>
            </a:pPr>
            <a:r>
              <a:rPr lang="en-US" sz="1150" dirty="0">
                <a:solidFill>
                  <a:srgbClr val="AEB6DA"/>
                </a:solidFill>
                <a:latin typeface="Calibri" pitchFamily="34" charset="0"/>
                <a:ea typeface="Calibri" pitchFamily="34" charset="-122"/>
                <a:cs typeface="Calibri" pitchFamily="34" charset="-120"/>
              </a:rPr>
              <a:t>Roll No. 231415</a:t>
            </a:r>
            <a:endParaRPr lang="en-US" sz="1150" dirty="0"/>
          </a:p>
        </p:txBody>
      </p:sp>
      <p:sp>
        <p:nvSpPr>
          <p:cNvPr id="87" name="Shape 84"/>
          <p:cNvSpPr/>
          <p:nvPr/>
        </p:nvSpPr>
        <p:spPr>
          <a:xfrm>
            <a:off x="3886200" y="4489704"/>
            <a:ext cx="54864" cy="475488"/>
          </a:xfrm>
          <a:prstGeom prst="rect">
            <a:avLst/>
          </a:prstGeom>
          <a:solidFill>
            <a:srgbClr val="E0A526"/>
          </a:solidFill>
          <a:ln/>
        </p:spPr>
      </p:sp>
      <p:sp>
        <p:nvSpPr>
          <p:cNvPr id="88" name="Text 85"/>
          <p:cNvSpPr txBox="1"/>
          <p:nvPr/>
        </p:nvSpPr>
        <p:spPr>
          <a:xfrm>
            <a:off x="4069080" y="4434840"/>
            <a:ext cx="2926080" cy="329184"/>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Zoya Mulani</a:t>
            </a:r>
            <a:endParaRPr lang="en-US" sz="1600" dirty="0"/>
          </a:p>
        </p:txBody>
      </p:sp>
      <p:sp>
        <p:nvSpPr>
          <p:cNvPr id="89" name="Text 86"/>
          <p:cNvSpPr txBox="1"/>
          <p:nvPr/>
        </p:nvSpPr>
        <p:spPr>
          <a:xfrm>
            <a:off x="4069080" y="4754880"/>
            <a:ext cx="2926080" cy="237744"/>
          </a:xfrm>
          <a:prstGeom prst="rect">
            <a:avLst/>
          </a:prstGeom>
          <a:noFill/>
          <a:ln/>
        </p:spPr>
        <p:txBody>
          <a:bodyPr wrap="square" lIns="0" tIns="0" rIns="0" bIns="0" rtlCol="0" anchor="t"/>
          <a:lstStyle/>
          <a:p>
            <a:pPr algn="l" indent="0" marL="0">
              <a:buNone/>
            </a:pPr>
            <a:r>
              <a:rPr lang="en-US" sz="1150" dirty="0">
                <a:solidFill>
                  <a:srgbClr val="AEB6DA"/>
                </a:solidFill>
                <a:latin typeface="Calibri" pitchFamily="34" charset="0"/>
                <a:ea typeface="Calibri" pitchFamily="34" charset="-122"/>
                <a:cs typeface="Calibri" pitchFamily="34" charset="-120"/>
              </a:rPr>
              <a:t>Roll No. 231453</a:t>
            </a:r>
            <a:endParaRPr lang="en-US" sz="1150" dirty="0"/>
          </a:p>
        </p:txBody>
      </p:sp>
      <p:sp>
        <p:nvSpPr>
          <p:cNvPr id="90" name="Shape 87"/>
          <p:cNvSpPr/>
          <p:nvPr/>
        </p:nvSpPr>
        <p:spPr>
          <a:xfrm>
            <a:off x="640080" y="5202936"/>
            <a:ext cx="54864" cy="475488"/>
          </a:xfrm>
          <a:prstGeom prst="rect">
            <a:avLst/>
          </a:prstGeom>
          <a:solidFill>
            <a:srgbClr val="8C9BFF"/>
          </a:solidFill>
          <a:ln/>
        </p:spPr>
      </p:sp>
      <p:sp>
        <p:nvSpPr>
          <p:cNvPr id="91" name="Text 88"/>
          <p:cNvSpPr txBox="1"/>
          <p:nvPr/>
        </p:nvSpPr>
        <p:spPr>
          <a:xfrm>
            <a:off x="822960" y="5148072"/>
            <a:ext cx="2926080" cy="329184"/>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Aariz Sheikh</a:t>
            </a:r>
            <a:endParaRPr lang="en-US" sz="1600" dirty="0"/>
          </a:p>
        </p:txBody>
      </p:sp>
      <p:sp>
        <p:nvSpPr>
          <p:cNvPr id="92" name="Text 89"/>
          <p:cNvSpPr txBox="1"/>
          <p:nvPr/>
        </p:nvSpPr>
        <p:spPr>
          <a:xfrm>
            <a:off x="822960" y="5468112"/>
            <a:ext cx="2926080" cy="237744"/>
          </a:xfrm>
          <a:prstGeom prst="rect">
            <a:avLst/>
          </a:prstGeom>
          <a:noFill/>
          <a:ln/>
        </p:spPr>
        <p:txBody>
          <a:bodyPr wrap="square" lIns="0" tIns="0" rIns="0" bIns="0" rtlCol="0" anchor="t"/>
          <a:lstStyle/>
          <a:p>
            <a:pPr algn="l" indent="0" marL="0">
              <a:buNone/>
            </a:pPr>
            <a:r>
              <a:rPr lang="en-US" sz="1150" dirty="0">
                <a:solidFill>
                  <a:srgbClr val="AEB6DA"/>
                </a:solidFill>
                <a:latin typeface="Calibri" pitchFamily="34" charset="0"/>
                <a:ea typeface="Calibri" pitchFamily="34" charset="-122"/>
                <a:cs typeface="Calibri" pitchFamily="34" charset="-120"/>
              </a:rPr>
              <a:t>Roll No. 231453</a:t>
            </a:r>
            <a:endParaRPr lang="en-US" sz="1150" dirty="0"/>
          </a:p>
        </p:txBody>
      </p:sp>
      <p:sp>
        <p:nvSpPr>
          <p:cNvPr id="93" name="Shape 90"/>
          <p:cNvSpPr/>
          <p:nvPr/>
        </p:nvSpPr>
        <p:spPr>
          <a:xfrm>
            <a:off x="3886200" y="5202936"/>
            <a:ext cx="54864" cy="475488"/>
          </a:xfrm>
          <a:prstGeom prst="rect">
            <a:avLst/>
          </a:prstGeom>
          <a:solidFill>
            <a:srgbClr val="E0A526"/>
          </a:solidFill>
          <a:ln/>
        </p:spPr>
      </p:sp>
      <p:sp>
        <p:nvSpPr>
          <p:cNvPr id="94" name="Text 91"/>
          <p:cNvSpPr txBox="1"/>
          <p:nvPr/>
        </p:nvSpPr>
        <p:spPr>
          <a:xfrm>
            <a:off x="4069080" y="5148072"/>
            <a:ext cx="2926080" cy="329184"/>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Yusuf Aslam</a:t>
            </a:r>
            <a:endParaRPr lang="en-US" sz="1600" dirty="0"/>
          </a:p>
        </p:txBody>
      </p:sp>
      <p:sp>
        <p:nvSpPr>
          <p:cNvPr id="95" name="Text 92"/>
          <p:cNvSpPr txBox="1"/>
          <p:nvPr/>
        </p:nvSpPr>
        <p:spPr>
          <a:xfrm>
            <a:off x="4069080" y="5468112"/>
            <a:ext cx="2926080" cy="237744"/>
          </a:xfrm>
          <a:prstGeom prst="rect">
            <a:avLst/>
          </a:prstGeom>
          <a:noFill/>
          <a:ln/>
        </p:spPr>
        <p:txBody>
          <a:bodyPr wrap="square" lIns="0" tIns="0" rIns="0" bIns="0" rtlCol="0" anchor="t"/>
          <a:lstStyle/>
          <a:p>
            <a:pPr algn="l" indent="0" marL="0">
              <a:buNone/>
            </a:pPr>
            <a:r>
              <a:rPr lang="en-US" sz="1150" dirty="0">
                <a:solidFill>
                  <a:srgbClr val="AEB6DA"/>
                </a:solidFill>
                <a:latin typeface="Calibri" pitchFamily="34" charset="0"/>
                <a:ea typeface="Calibri" pitchFamily="34" charset="-122"/>
                <a:cs typeface="Calibri" pitchFamily="34" charset="-120"/>
              </a:rPr>
              <a:t>Roll No. 231460</a:t>
            </a:r>
            <a:endParaRPr lang="en-US" sz="1150" dirty="0"/>
          </a:p>
        </p:txBody>
      </p:sp>
      <p:sp>
        <p:nvSpPr>
          <p:cNvPr id="96" name="Text 93"/>
          <p:cNvSpPr txBox="1"/>
          <p:nvPr/>
        </p:nvSpPr>
        <p:spPr>
          <a:xfrm>
            <a:off x="640080" y="5989320"/>
            <a:ext cx="6766560" cy="274320"/>
          </a:xfrm>
          <a:prstGeom prst="rect">
            <a:avLst/>
          </a:prstGeom>
          <a:noFill/>
          <a:ln/>
        </p:spPr>
        <p:txBody>
          <a:bodyPr wrap="square" lIns="0" tIns="0" rIns="0" bIns="0" rtlCol="0" anchor="t"/>
          <a:lstStyle/>
          <a:p>
            <a:pPr algn="l" indent="0" marL="0">
              <a:buNone/>
            </a:pPr>
            <a:r>
              <a:rPr lang="en-US" sz="1100" dirty="0">
                <a:solidFill>
                  <a:srgbClr val="AEB6DA"/>
                </a:solidFill>
                <a:latin typeface="Calibri" pitchFamily="34" charset="0"/>
                <a:ea typeface="Calibri" pitchFamily="34" charset="-122"/>
                <a:cs typeface="Calibri" pitchFamily="34" charset="-120"/>
              </a:rPr>
              <a:t>Guide: [Guide Name]  ·  Department of [Department]  ·  [Institution]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ABSTRACT</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Abstract and index terms</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2</a:t>
            </a:r>
            <a:endParaRPr lang="en-US" sz="900" dirty="0"/>
          </a:p>
        </p:txBody>
      </p:sp>
      <p:sp>
        <p:nvSpPr>
          <p:cNvPr id="17" name="Text 14"/>
          <p:cNvSpPr txBox="1"/>
          <p:nvPr/>
        </p:nvSpPr>
        <p:spPr>
          <a:xfrm>
            <a:off x="548640" y="1554480"/>
            <a:ext cx="7589520" cy="3931920"/>
          </a:xfrm>
          <a:prstGeom prst="rect">
            <a:avLst/>
          </a:prstGeom>
          <a:noFill/>
          <a:ln/>
        </p:spPr>
        <p:txBody>
          <a:bodyPr wrap="square" lIns="0" tIns="0" rIns="0" bIns="0" rtlCol="0" anchor="t"/>
          <a:lstStyle/>
          <a:p>
            <a:pPr algn="just" indent="0" marL="0">
              <a:lnSpc>
                <a:spcPct val="108000"/>
              </a:lnSpc>
              <a:buNone/>
            </a:pPr>
            <a:r>
              <a:rPr lang="en-US" sz="1450" b="1" i="1" dirty="0">
                <a:solidFill>
                  <a:srgbClr val="1B2030"/>
                </a:solidFill>
                <a:latin typeface="Cambria" pitchFamily="34" charset="0"/>
                <a:ea typeface="Cambria" pitchFamily="34" charset="-122"/>
                <a:cs typeface="Cambria" pitchFamily="34" charset="-120"/>
              </a:rPr>
              <a:t>Abstract</a:t>
            </a:r>
            <a:pPr algn="just" indent="0" marL="0">
              <a:lnSpc>
                <a:spcPct val="108000"/>
              </a:lnSpc>
              <a:buNone/>
            </a:pPr>
            <a:r>
              <a:rPr lang="en-US" sz="1450" dirty="0">
                <a:solidFill>
                  <a:srgbClr val="1B2030"/>
                </a:solidFill>
                <a:latin typeface="Cambria" pitchFamily="34" charset="0"/>
                <a:ea typeface="Cambria" pitchFamily="34" charset="-122"/>
                <a:cs typeface="Cambria" pitchFamily="34" charset="-120"/>
              </a:rPr>
              <a:t>—Community package repositories such as the Arch User Repository (AUR) execute unreviewed build scripts with the user's full privileges and install whatever a maintainer publishes, a weakness exploited by recent orphan-adoption, credential-harvesting and build-injection campaigns. We present Loom, a client-side, decentralised package manager that installs AUR packages under an enforceable trust policy without requiring cooperation from the AUR or its maintainers. Loom combines five independent mechanisms: (i) Heddle, a least-privilege build sandbox built from Linux namespaces, Landlock and seccomp-BPF; (ii) Thread and Weave, which accept an artifact only when k organisationally and toolchain-independent rebuilders reproduce it bit-for-bit; (iii) temporal quarantine with an advisory fast-path; (iv) publishing-authority continuity checks; and (v) Warp, an append-only, witness-cosigned Merkle transparency log that detects split views. Implemented in Rust and evaluated on a labelled incident corpus, Loom blocks 9/9 malicious cases with 0/7 false positives, detects 200/200 split-view trials, and adds microseconds of decision overhead.</a:t>
            </a:r>
            <a:endParaRPr lang="en-US" sz="1450" dirty="0"/>
          </a:p>
        </p:txBody>
      </p:sp>
      <p:sp>
        <p:nvSpPr>
          <p:cNvPr id="18" name="Text 15"/>
          <p:cNvSpPr txBox="1"/>
          <p:nvPr/>
        </p:nvSpPr>
        <p:spPr>
          <a:xfrm>
            <a:off x="548640" y="5257800"/>
            <a:ext cx="7589520" cy="685800"/>
          </a:xfrm>
          <a:prstGeom prst="rect">
            <a:avLst/>
          </a:prstGeom>
          <a:noFill/>
          <a:ln/>
        </p:spPr>
        <p:txBody>
          <a:bodyPr wrap="square" lIns="0" tIns="0" rIns="0" bIns="0" rtlCol="0" anchor="ctr"/>
          <a:lstStyle/>
          <a:p>
            <a:pPr indent="0" marL="0">
              <a:buNone/>
            </a:pPr>
            <a:r>
              <a:rPr lang="en-US" sz="1250" b="1" i="1" dirty="0">
                <a:solidFill>
                  <a:srgbClr val="5B6275"/>
                </a:solidFill>
                <a:latin typeface="Cambria" pitchFamily="34" charset="0"/>
                <a:ea typeface="Cambria" pitchFamily="34" charset="-122"/>
                <a:cs typeface="Cambria" pitchFamily="34" charset="-120"/>
              </a:rPr>
              <a:t>Index Terms</a:t>
            </a:r>
            <a:pPr indent="0" marL="0">
              <a:buNone/>
            </a:pPr>
            <a:r>
              <a:rPr lang="en-US" sz="1250" dirty="0">
                <a:solidFill>
                  <a:srgbClr val="5B6275"/>
                </a:solidFill>
                <a:latin typeface="Cambria" pitchFamily="34" charset="0"/>
                <a:ea typeface="Cambria" pitchFamily="34" charset="-122"/>
                <a:cs typeface="Cambria" pitchFamily="34" charset="-120"/>
              </a:rPr>
              <a:t>—software supply chain security, reproducible builds, transparency logs, Merkle trees, Ed25519, sandboxing, Landlock, seccomp-BPF, package management, Arch User Repository.</a:t>
            </a:r>
            <a:endParaRPr lang="en-US" sz="1250" dirty="0"/>
          </a:p>
        </p:txBody>
      </p:sp>
      <p:sp>
        <p:nvSpPr>
          <p:cNvPr id="19" name="Shape 16"/>
          <p:cNvSpPr/>
          <p:nvPr/>
        </p:nvSpPr>
        <p:spPr>
          <a:xfrm>
            <a:off x="8595360" y="1554480"/>
            <a:ext cx="3063240" cy="1024128"/>
          </a:xfrm>
          <a:prstGeom prst="roundRect">
            <a:avLst>
              <a:gd name="adj" fmla="val 7143"/>
            </a:avLst>
          </a:prstGeom>
          <a:solidFill>
            <a:srgbClr val="F4F5FA"/>
          </a:solidFill>
          <a:ln/>
        </p:spPr>
      </p:sp>
      <p:sp>
        <p:nvSpPr>
          <p:cNvPr id="20" name="Text 17"/>
          <p:cNvSpPr txBox="1"/>
          <p:nvPr/>
        </p:nvSpPr>
        <p:spPr>
          <a:xfrm>
            <a:off x="8778240" y="1645920"/>
            <a:ext cx="2743200" cy="548640"/>
          </a:xfrm>
          <a:prstGeom prst="rect">
            <a:avLst/>
          </a:prstGeom>
          <a:noFill/>
          <a:ln/>
        </p:spPr>
        <p:txBody>
          <a:bodyPr wrap="square" lIns="0" tIns="0" rIns="0" bIns="0" rtlCol="0" anchor="t"/>
          <a:lstStyle/>
          <a:p>
            <a:pPr algn="l" indent="0" marL="0">
              <a:buNone/>
            </a:pPr>
            <a:r>
              <a:rPr lang="en-US" sz="3200" b="1" dirty="0">
                <a:solidFill>
                  <a:srgbClr val="2B7651"/>
                </a:solidFill>
                <a:latin typeface="Cambria" pitchFamily="34" charset="0"/>
                <a:ea typeface="Cambria" pitchFamily="34" charset="-122"/>
                <a:cs typeface="Cambria" pitchFamily="34" charset="-120"/>
              </a:rPr>
              <a:t>9 / 9</a:t>
            </a:r>
            <a:endParaRPr lang="en-US" sz="3200" dirty="0"/>
          </a:p>
        </p:txBody>
      </p:sp>
      <p:sp>
        <p:nvSpPr>
          <p:cNvPr id="21" name="Text 18"/>
          <p:cNvSpPr txBox="1"/>
          <p:nvPr/>
        </p:nvSpPr>
        <p:spPr>
          <a:xfrm>
            <a:off x="8778240" y="2212848"/>
            <a:ext cx="2743200" cy="292608"/>
          </a:xfrm>
          <a:prstGeom prst="rect">
            <a:avLst/>
          </a:prstGeom>
          <a:noFill/>
          <a:ln/>
        </p:spPr>
        <p:txBody>
          <a:bodyPr wrap="square" lIns="0" tIns="0" rIns="0" bIns="0" rtlCol="0" anchor="t"/>
          <a:lstStyle/>
          <a:p>
            <a:pPr algn="l" indent="0" marL="0">
              <a:buNone/>
            </a:pPr>
            <a:r>
              <a:rPr lang="en-US" sz="1150" dirty="0">
                <a:solidFill>
                  <a:srgbClr val="5B6275"/>
                </a:solidFill>
                <a:latin typeface="Calibri" pitchFamily="34" charset="0"/>
                <a:ea typeface="Calibri" pitchFamily="34" charset="-122"/>
                <a:cs typeface="Calibri" pitchFamily="34" charset="-120"/>
              </a:rPr>
              <a:t>malicious cases blocked (AC-1)</a:t>
            </a:r>
            <a:endParaRPr lang="en-US" sz="1150" dirty="0"/>
          </a:p>
        </p:txBody>
      </p:sp>
      <p:sp>
        <p:nvSpPr>
          <p:cNvPr id="22" name="Shape 19"/>
          <p:cNvSpPr/>
          <p:nvPr/>
        </p:nvSpPr>
        <p:spPr>
          <a:xfrm>
            <a:off x="8595360" y="2743200"/>
            <a:ext cx="3063240" cy="1024128"/>
          </a:xfrm>
          <a:prstGeom prst="roundRect">
            <a:avLst>
              <a:gd name="adj" fmla="val 7143"/>
            </a:avLst>
          </a:prstGeom>
          <a:solidFill>
            <a:srgbClr val="F4F5FA"/>
          </a:solidFill>
          <a:ln/>
        </p:spPr>
      </p:sp>
      <p:sp>
        <p:nvSpPr>
          <p:cNvPr id="23" name="Text 20"/>
          <p:cNvSpPr txBox="1"/>
          <p:nvPr/>
        </p:nvSpPr>
        <p:spPr>
          <a:xfrm>
            <a:off x="8778240" y="2834640"/>
            <a:ext cx="2743200" cy="548640"/>
          </a:xfrm>
          <a:prstGeom prst="rect">
            <a:avLst/>
          </a:prstGeom>
          <a:noFill/>
          <a:ln/>
        </p:spPr>
        <p:txBody>
          <a:bodyPr wrap="square" lIns="0" tIns="0" rIns="0" bIns="0" rtlCol="0" anchor="t"/>
          <a:lstStyle/>
          <a:p>
            <a:pPr algn="l" indent="0" marL="0">
              <a:buNone/>
            </a:pPr>
            <a:r>
              <a:rPr lang="en-US" sz="3200" b="1" dirty="0">
                <a:solidFill>
                  <a:srgbClr val="2B7651"/>
                </a:solidFill>
                <a:latin typeface="Cambria" pitchFamily="34" charset="0"/>
                <a:ea typeface="Cambria" pitchFamily="34" charset="-122"/>
                <a:cs typeface="Cambria" pitchFamily="34" charset="-120"/>
              </a:rPr>
              <a:t>0 / 7</a:t>
            </a:r>
            <a:endParaRPr lang="en-US" sz="3200" dirty="0"/>
          </a:p>
        </p:txBody>
      </p:sp>
      <p:sp>
        <p:nvSpPr>
          <p:cNvPr id="24" name="Text 21"/>
          <p:cNvSpPr txBox="1"/>
          <p:nvPr/>
        </p:nvSpPr>
        <p:spPr>
          <a:xfrm>
            <a:off x="8778240" y="3401568"/>
            <a:ext cx="2743200" cy="292608"/>
          </a:xfrm>
          <a:prstGeom prst="rect">
            <a:avLst/>
          </a:prstGeom>
          <a:noFill/>
          <a:ln/>
        </p:spPr>
        <p:txBody>
          <a:bodyPr wrap="square" lIns="0" tIns="0" rIns="0" bIns="0" rtlCol="0" anchor="t"/>
          <a:lstStyle/>
          <a:p>
            <a:pPr algn="l" indent="0" marL="0">
              <a:buNone/>
            </a:pPr>
            <a:r>
              <a:rPr lang="en-US" sz="1150" dirty="0">
                <a:solidFill>
                  <a:srgbClr val="5B6275"/>
                </a:solidFill>
                <a:latin typeface="Calibri" pitchFamily="34" charset="0"/>
                <a:ea typeface="Calibri" pitchFamily="34" charset="-122"/>
                <a:cs typeface="Calibri" pitchFamily="34" charset="-120"/>
              </a:rPr>
              <a:t>benign packages blocked (AC-2)</a:t>
            </a:r>
            <a:endParaRPr lang="en-US" sz="1150" dirty="0"/>
          </a:p>
        </p:txBody>
      </p:sp>
      <p:sp>
        <p:nvSpPr>
          <p:cNvPr id="25" name="Shape 22"/>
          <p:cNvSpPr/>
          <p:nvPr/>
        </p:nvSpPr>
        <p:spPr>
          <a:xfrm>
            <a:off x="8595360" y="3931920"/>
            <a:ext cx="3063240" cy="1024128"/>
          </a:xfrm>
          <a:prstGeom prst="roundRect">
            <a:avLst>
              <a:gd name="adj" fmla="val 7143"/>
            </a:avLst>
          </a:prstGeom>
          <a:solidFill>
            <a:srgbClr val="F4F5FA"/>
          </a:solidFill>
          <a:ln/>
        </p:spPr>
      </p:sp>
      <p:sp>
        <p:nvSpPr>
          <p:cNvPr id="26" name="Text 23"/>
          <p:cNvSpPr txBox="1"/>
          <p:nvPr/>
        </p:nvSpPr>
        <p:spPr>
          <a:xfrm>
            <a:off x="8778240" y="4023360"/>
            <a:ext cx="2743200" cy="548640"/>
          </a:xfrm>
          <a:prstGeom prst="rect">
            <a:avLst/>
          </a:prstGeom>
          <a:noFill/>
          <a:ln/>
        </p:spPr>
        <p:txBody>
          <a:bodyPr wrap="square" lIns="0" tIns="0" rIns="0" bIns="0" rtlCol="0" anchor="t"/>
          <a:lstStyle/>
          <a:p>
            <a:pPr algn="l" indent="0" marL="0">
              <a:buNone/>
            </a:pPr>
            <a:r>
              <a:rPr lang="en-US" sz="3200" b="1" dirty="0">
                <a:solidFill>
                  <a:srgbClr val="4455C7"/>
                </a:solidFill>
                <a:latin typeface="Cambria" pitchFamily="34" charset="0"/>
                <a:ea typeface="Cambria" pitchFamily="34" charset="-122"/>
                <a:cs typeface="Cambria" pitchFamily="34" charset="-120"/>
              </a:rPr>
              <a:t>200 / 200</a:t>
            </a:r>
            <a:endParaRPr lang="en-US" sz="3200" dirty="0"/>
          </a:p>
        </p:txBody>
      </p:sp>
      <p:sp>
        <p:nvSpPr>
          <p:cNvPr id="27" name="Text 24"/>
          <p:cNvSpPr txBox="1"/>
          <p:nvPr/>
        </p:nvSpPr>
        <p:spPr>
          <a:xfrm>
            <a:off x="8778240" y="4590288"/>
            <a:ext cx="2743200" cy="292608"/>
          </a:xfrm>
          <a:prstGeom prst="rect">
            <a:avLst/>
          </a:prstGeom>
          <a:noFill/>
          <a:ln/>
        </p:spPr>
        <p:txBody>
          <a:bodyPr wrap="square" lIns="0" tIns="0" rIns="0" bIns="0" rtlCol="0" anchor="t"/>
          <a:lstStyle/>
          <a:p>
            <a:pPr algn="l" indent="0" marL="0">
              <a:buNone/>
            </a:pPr>
            <a:r>
              <a:rPr lang="en-US" sz="1150" dirty="0">
                <a:solidFill>
                  <a:srgbClr val="5B6275"/>
                </a:solidFill>
                <a:latin typeface="Calibri" pitchFamily="34" charset="0"/>
                <a:ea typeface="Calibri" pitchFamily="34" charset="-122"/>
                <a:cs typeface="Calibri" pitchFamily="34" charset="-120"/>
              </a:rPr>
              <a:t>split-view trials detected (AC-6)</a:t>
            </a:r>
            <a:endParaRPr lang="en-US" sz="1150" dirty="0"/>
          </a:p>
        </p:txBody>
      </p:sp>
      <p:sp>
        <p:nvSpPr>
          <p:cNvPr id="28" name="Shape 25"/>
          <p:cNvSpPr/>
          <p:nvPr/>
        </p:nvSpPr>
        <p:spPr>
          <a:xfrm>
            <a:off x="8595360" y="5120640"/>
            <a:ext cx="3063240" cy="1024128"/>
          </a:xfrm>
          <a:prstGeom prst="roundRect">
            <a:avLst>
              <a:gd name="adj" fmla="val 7143"/>
            </a:avLst>
          </a:prstGeom>
          <a:solidFill>
            <a:srgbClr val="F4F5FA"/>
          </a:solidFill>
          <a:ln/>
        </p:spPr>
      </p:sp>
      <p:sp>
        <p:nvSpPr>
          <p:cNvPr id="29" name="Text 26"/>
          <p:cNvSpPr txBox="1"/>
          <p:nvPr/>
        </p:nvSpPr>
        <p:spPr>
          <a:xfrm>
            <a:off x="8778240" y="5212080"/>
            <a:ext cx="2743200" cy="548640"/>
          </a:xfrm>
          <a:prstGeom prst="rect">
            <a:avLst/>
          </a:prstGeom>
          <a:noFill/>
          <a:ln/>
        </p:spPr>
        <p:txBody>
          <a:bodyPr wrap="square" lIns="0" tIns="0" rIns="0" bIns="0" rtlCol="0" anchor="t"/>
          <a:lstStyle/>
          <a:p>
            <a:pPr algn="l" indent="0" marL="0">
              <a:buNone/>
            </a:pPr>
            <a:r>
              <a:rPr lang="en-US" sz="3200" b="1" dirty="0">
                <a:solidFill>
                  <a:srgbClr val="4455C7"/>
                </a:solidFill>
                <a:latin typeface="Cambria" pitchFamily="34" charset="0"/>
                <a:ea typeface="Cambria" pitchFamily="34" charset="-122"/>
                <a:cs typeface="Cambria" pitchFamily="34" charset="-120"/>
              </a:rPr>
              <a:t>60 µs</a:t>
            </a:r>
            <a:endParaRPr lang="en-US" sz="3200" dirty="0"/>
          </a:p>
        </p:txBody>
      </p:sp>
      <p:sp>
        <p:nvSpPr>
          <p:cNvPr id="30" name="Text 27"/>
          <p:cNvSpPr txBox="1"/>
          <p:nvPr/>
        </p:nvSpPr>
        <p:spPr>
          <a:xfrm>
            <a:off x="8778240" y="5779008"/>
            <a:ext cx="2743200" cy="292608"/>
          </a:xfrm>
          <a:prstGeom prst="rect">
            <a:avLst/>
          </a:prstGeom>
          <a:noFill/>
          <a:ln/>
        </p:spPr>
        <p:txBody>
          <a:bodyPr wrap="square" lIns="0" tIns="0" rIns="0" bIns="0" rtlCol="0" anchor="t"/>
          <a:lstStyle/>
          <a:p>
            <a:pPr algn="l" indent="0" marL="0">
              <a:buNone/>
            </a:pPr>
            <a:r>
              <a:rPr lang="en-US" sz="1150" dirty="0">
                <a:solidFill>
                  <a:srgbClr val="5B6275"/>
                </a:solidFill>
                <a:latin typeface="Calibri" pitchFamily="34" charset="0"/>
                <a:ea typeface="Calibri" pitchFamily="34" charset="-122"/>
                <a:cs typeface="Calibri" pitchFamily="34" charset="-120"/>
              </a:rPr>
              <a:t>per attestation signature check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I. INTRODUCTION</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Installing from the AUR means running a stranger's script</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3</a:t>
            </a:r>
            <a:endParaRPr lang="en-US" sz="900" dirty="0"/>
          </a:p>
        </p:txBody>
      </p:sp>
      <p:sp>
        <p:nvSpPr>
          <p:cNvPr id="17" name="Text 14"/>
          <p:cNvSpPr txBox="1"/>
          <p:nvPr/>
        </p:nvSpPr>
        <p:spPr>
          <a:xfrm>
            <a:off x="548640" y="1691640"/>
            <a:ext cx="530352" cy="530352"/>
          </a:xfrm>
          <a:prstGeom prst="ellipse">
            <a:avLst/>
          </a:prstGeom>
          <a:solidFill>
            <a:srgbClr val="2E3A8C"/>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8" name="Text 15"/>
          <p:cNvSpPr txBox="1"/>
          <p:nvPr/>
        </p:nvSpPr>
        <p:spPr>
          <a:xfrm>
            <a:off x="1280160" y="1627632"/>
            <a:ext cx="4389120" cy="347472"/>
          </a:xfrm>
          <a:prstGeom prst="rect">
            <a:avLst/>
          </a:prstGeom>
          <a:noFill/>
          <a:ln/>
        </p:spPr>
        <p:txBody>
          <a:bodyPr wrap="square" lIns="0" tIns="0" rIns="0" bIns="0" rtlCol="0" anchor="t"/>
          <a:lstStyle/>
          <a:p>
            <a:pPr algn="l" indent="0" marL="0">
              <a:buNone/>
            </a:pPr>
            <a:r>
              <a:rPr lang="en-US" sz="1600" b="1" dirty="0">
                <a:solidFill>
                  <a:srgbClr val="161B33"/>
                </a:solidFill>
                <a:latin typeface="Courier New" pitchFamily="34" charset="0"/>
                <a:ea typeface="Courier New" pitchFamily="34" charset="-122"/>
                <a:cs typeface="Courier New" pitchFamily="34" charset="-120"/>
              </a:rPr>
              <a:t>yay -S pkg</a:t>
            </a:r>
            <a:endParaRPr lang="en-US" sz="1600" dirty="0"/>
          </a:p>
        </p:txBody>
      </p:sp>
      <p:sp>
        <p:nvSpPr>
          <p:cNvPr id="19" name="Text 16"/>
          <p:cNvSpPr txBox="1"/>
          <p:nvPr/>
        </p:nvSpPr>
        <p:spPr>
          <a:xfrm>
            <a:off x="1280160" y="1993392"/>
            <a:ext cx="4480560" cy="329184"/>
          </a:xfrm>
          <a:prstGeom prst="rect">
            <a:avLst/>
          </a:prstGeom>
          <a:noFill/>
          <a:ln/>
        </p:spPr>
        <p:txBody>
          <a:bodyPr wrap="square" lIns="0" tIns="0" rIns="0" bIns="0" rtlCol="0" anchor="t"/>
          <a:lstStyle/>
          <a:p>
            <a:pPr algn="l" indent="0" marL="0">
              <a:buNone/>
            </a:pPr>
            <a:r>
              <a:rPr lang="en-US" sz="1350" dirty="0">
                <a:solidFill>
                  <a:srgbClr val="5B6275"/>
                </a:solidFill>
                <a:latin typeface="Calibri" pitchFamily="34" charset="0"/>
                <a:ea typeface="Calibri" pitchFamily="34" charset="-122"/>
                <a:cs typeface="Calibri" pitchFamily="34" charset="-120"/>
              </a:rPr>
              <a:t>helper fetches the PKGBUILD from AUR git</a:t>
            </a:r>
            <a:endParaRPr lang="en-US" sz="1350" dirty="0"/>
          </a:p>
        </p:txBody>
      </p:sp>
      <p:sp>
        <p:nvSpPr>
          <p:cNvPr id="20" name="Shape 17"/>
          <p:cNvSpPr/>
          <p:nvPr/>
        </p:nvSpPr>
        <p:spPr>
          <a:xfrm>
            <a:off x="813816" y="2240280"/>
            <a:ext cx="0" cy="457200"/>
          </a:xfrm>
          <a:prstGeom prst="line">
            <a:avLst/>
          </a:prstGeom>
          <a:noFill/>
          <a:ln w="25400">
            <a:solidFill>
              <a:srgbClr val="CDD2E3"/>
            </a:solidFill>
            <a:prstDash val="solid"/>
            <a:tailEnd type="triangle"/>
          </a:ln>
        </p:spPr>
      </p:sp>
      <p:sp>
        <p:nvSpPr>
          <p:cNvPr id="21" name="Text 18"/>
          <p:cNvSpPr txBox="1"/>
          <p:nvPr/>
        </p:nvSpPr>
        <p:spPr>
          <a:xfrm>
            <a:off x="548640" y="2715768"/>
            <a:ext cx="530352" cy="530352"/>
          </a:xfrm>
          <a:prstGeom prst="ellipse">
            <a:avLst/>
          </a:prstGeom>
          <a:solidFill>
            <a:srgbClr val="2E3A8C"/>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22" name="Text 19"/>
          <p:cNvSpPr txBox="1"/>
          <p:nvPr/>
        </p:nvSpPr>
        <p:spPr>
          <a:xfrm>
            <a:off x="1280160" y="2651760"/>
            <a:ext cx="4389120" cy="347472"/>
          </a:xfrm>
          <a:prstGeom prst="rect">
            <a:avLst/>
          </a:prstGeom>
          <a:noFill/>
          <a:ln/>
        </p:spPr>
        <p:txBody>
          <a:bodyPr wrap="square" lIns="0" tIns="0" rIns="0" bIns="0" rtlCol="0" anchor="t"/>
          <a:lstStyle/>
          <a:p>
            <a:pPr algn="l" indent="0" marL="0">
              <a:buNone/>
            </a:pPr>
            <a:r>
              <a:rPr lang="en-US" sz="1600" b="1" dirty="0">
                <a:solidFill>
                  <a:srgbClr val="161B33"/>
                </a:solidFill>
                <a:latin typeface="Courier New" pitchFamily="34" charset="0"/>
                <a:ea typeface="Courier New" pitchFamily="34" charset="-122"/>
                <a:cs typeface="Courier New" pitchFamily="34" charset="-120"/>
              </a:rPr>
              <a:t>makepkg</a:t>
            </a:r>
            <a:endParaRPr lang="en-US" sz="1600" dirty="0"/>
          </a:p>
        </p:txBody>
      </p:sp>
      <p:sp>
        <p:nvSpPr>
          <p:cNvPr id="23" name="Text 20"/>
          <p:cNvSpPr txBox="1"/>
          <p:nvPr/>
        </p:nvSpPr>
        <p:spPr>
          <a:xfrm>
            <a:off x="1280160" y="3017520"/>
            <a:ext cx="4480560" cy="329184"/>
          </a:xfrm>
          <a:prstGeom prst="rect">
            <a:avLst/>
          </a:prstGeom>
          <a:noFill/>
          <a:ln/>
        </p:spPr>
        <p:txBody>
          <a:bodyPr wrap="square" lIns="0" tIns="0" rIns="0" bIns="0" rtlCol="0" anchor="t"/>
          <a:lstStyle/>
          <a:p>
            <a:pPr algn="l" indent="0" marL="0">
              <a:buNone/>
            </a:pPr>
            <a:r>
              <a:rPr lang="en-US" sz="1350" dirty="0">
                <a:solidFill>
                  <a:srgbClr val="5B6275"/>
                </a:solidFill>
                <a:latin typeface="Calibri" pitchFamily="34" charset="0"/>
                <a:ea typeface="Calibri" pitchFamily="34" charset="-122"/>
                <a:cs typeface="Calibri" pitchFamily="34" charset="-120"/>
              </a:rPr>
              <a:t>runs the PKGBUILD shell script as YOUR user</a:t>
            </a:r>
            <a:endParaRPr lang="en-US" sz="1350" dirty="0"/>
          </a:p>
        </p:txBody>
      </p:sp>
      <p:sp>
        <p:nvSpPr>
          <p:cNvPr id="24" name="Shape 21"/>
          <p:cNvSpPr/>
          <p:nvPr/>
        </p:nvSpPr>
        <p:spPr>
          <a:xfrm>
            <a:off x="813816" y="3264408"/>
            <a:ext cx="0" cy="457200"/>
          </a:xfrm>
          <a:prstGeom prst="line">
            <a:avLst/>
          </a:prstGeom>
          <a:noFill/>
          <a:ln w="25400">
            <a:solidFill>
              <a:srgbClr val="CDD2E3"/>
            </a:solidFill>
            <a:prstDash val="solid"/>
            <a:tailEnd type="triangle"/>
          </a:ln>
        </p:spPr>
      </p:sp>
      <p:sp>
        <p:nvSpPr>
          <p:cNvPr id="25" name="Text 22"/>
          <p:cNvSpPr txBox="1"/>
          <p:nvPr/>
        </p:nvSpPr>
        <p:spPr>
          <a:xfrm>
            <a:off x="548640" y="3739896"/>
            <a:ext cx="530352" cy="530352"/>
          </a:xfrm>
          <a:prstGeom prst="ellipse">
            <a:avLst/>
          </a:prstGeom>
          <a:solidFill>
            <a:srgbClr val="B0352A"/>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6" name="Text 23"/>
          <p:cNvSpPr txBox="1"/>
          <p:nvPr/>
        </p:nvSpPr>
        <p:spPr>
          <a:xfrm>
            <a:off x="1280160" y="3675888"/>
            <a:ext cx="4389120" cy="347472"/>
          </a:xfrm>
          <a:prstGeom prst="rect">
            <a:avLst/>
          </a:prstGeom>
          <a:noFill/>
          <a:ln/>
        </p:spPr>
        <p:txBody>
          <a:bodyPr wrap="square" lIns="0" tIns="0" rIns="0" bIns="0" rtlCol="0" anchor="t"/>
          <a:lstStyle/>
          <a:p>
            <a:pPr algn="l" indent="0" marL="0">
              <a:buNone/>
            </a:pPr>
            <a:r>
              <a:rPr lang="en-US" sz="1600" b="1" dirty="0">
                <a:solidFill>
                  <a:srgbClr val="161B33"/>
                </a:solidFill>
                <a:latin typeface="Courier New" pitchFamily="34" charset="0"/>
                <a:ea typeface="Courier New" pitchFamily="34" charset="-122"/>
                <a:cs typeface="Courier New" pitchFamily="34" charset="-120"/>
              </a:rPr>
              <a:t>build()</a:t>
            </a:r>
            <a:endParaRPr lang="en-US" sz="1600" dirty="0"/>
          </a:p>
        </p:txBody>
      </p:sp>
      <p:sp>
        <p:nvSpPr>
          <p:cNvPr id="27" name="Text 24"/>
          <p:cNvSpPr txBox="1"/>
          <p:nvPr/>
        </p:nvSpPr>
        <p:spPr>
          <a:xfrm>
            <a:off x="1280160" y="4041648"/>
            <a:ext cx="4480560" cy="329184"/>
          </a:xfrm>
          <a:prstGeom prst="rect">
            <a:avLst/>
          </a:prstGeom>
          <a:noFill/>
          <a:ln/>
        </p:spPr>
        <p:txBody>
          <a:bodyPr wrap="square" lIns="0" tIns="0" rIns="0" bIns="0" rtlCol="0" anchor="t"/>
          <a:lstStyle/>
          <a:p>
            <a:pPr algn="l" indent="0" marL="0">
              <a:buNone/>
            </a:pPr>
            <a:r>
              <a:rPr lang="en-US" sz="1350" dirty="0">
                <a:solidFill>
                  <a:srgbClr val="5B6275"/>
                </a:solidFill>
                <a:latin typeface="Calibri" pitchFamily="34" charset="0"/>
                <a:ea typeface="Calibri" pitchFamily="34" charset="-122"/>
                <a:cs typeface="Calibri" pitchFamily="34" charset="-120"/>
              </a:rPr>
              <a:t>can read ~/.ssh, ~/.aws, tokens; open sockets</a:t>
            </a:r>
            <a:endParaRPr lang="en-US" sz="1350" dirty="0"/>
          </a:p>
        </p:txBody>
      </p:sp>
      <p:sp>
        <p:nvSpPr>
          <p:cNvPr id="28" name="Shape 25"/>
          <p:cNvSpPr/>
          <p:nvPr/>
        </p:nvSpPr>
        <p:spPr>
          <a:xfrm>
            <a:off x="813816" y="4288536"/>
            <a:ext cx="0" cy="457200"/>
          </a:xfrm>
          <a:prstGeom prst="line">
            <a:avLst/>
          </a:prstGeom>
          <a:noFill/>
          <a:ln w="25400">
            <a:solidFill>
              <a:srgbClr val="CDD2E3"/>
            </a:solidFill>
            <a:prstDash val="solid"/>
            <a:tailEnd type="triangle"/>
          </a:ln>
        </p:spPr>
      </p:sp>
      <p:sp>
        <p:nvSpPr>
          <p:cNvPr id="29" name="Text 26"/>
          <p:cNvSpPr txBox="1"/>
          <p:nvPr/>
        </p:nvSpPr>
        <p:spPr>
          <a:xfrm>
            <a:off x="548640" y="4764024"/>
            <a:ext cx="530352" cy="530352"/>
          </a:xfrm>
          <a:prstGeom prst="ellipse">
            <a:avLst/>
          </a:prstGeom>
          <a:solidFill>
            <a:srgbClr val="B0352A"/>
          </a:solid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0" name="Text 27"/>
          <p:cNvSpPr txBox="1"/>
          <p:nvPr/>
        </p:nvSpPr>
        <p:spPr>
          <a:xfrm>
            <a:off x="1280160" y="4700016"/>
            <a:ext cx="4389120" cy="347472"/>
          </a:xfrm>
          <a:prstGeom prst="rect">
            <a:avLst/>
          </a:prstGeom>
          <a:noFill/>
          <a:ln/>
        </p:spPr>
        <p:txBody>
          <a:bodyPr wrap="square" lIns="0" tIns="0" rIns="0" bIns="0" rtlCol="0" anchor="t"/>
          <a:lstStyle/>
          <a:p>
            <a:pPr algn="l" indent="0" marL="0">
              <a:buNone/>
            </a:pPr>
            <a:r>
              <a:rPr lang="en-US" sz="1600" b="1" dirty="0">
                <a:solidFill>
                  <a:srgbClr val="161B33"/>
                </a:solidFill>
                <a:latin typeface="Courier New" pitchFamily="34" charset="0"/>
                <a:ea typeface="Courier New" pitchFamily="34" charset="-122"/>
                <a:cs typeface="Courier New" pitchFamily="34" charset="-120"/>
              </a:rPr>
              <a:t>pacman -U</a:t>
            </a:r>
            <a:endParaRPr lang="en-US" sz="1600" dirty="0"/>
          </a:p>
        </p:txBody>
      </p:sp>
      <p:sp>
        <p:nvSpPr>
          <p:cNvPr id="31" name="Text 28"/>
          <p:cNvSpPr txBox="1"/>
          <p:nvPr/>
        </p:nvSpPr>
        <p:spPr>
          <a:xfrm>
            <a:off x="1280160" y="5065776"/>
            <a:ext cx="4480560" cy="329184"/>
          </a:xfrm>
          <a:prstGeom prst="rect">
            <a:avLst/>
          </a:prstGeom>
          <a:noFill/>
          <a:ln/>
        </p:spPr>
        <p:txBody>
          <a:bodyPr wrap="square" lIns="0" tIns="0" rIns="0" bIns="0" rtlCol="0" anchor="t"/>
          <a:lstStyle/>
          <a:p>
            <a:pPr algn="l" indent="0" marL="0">
              <a:buNone/>
            </a:pPr>
            <a:r>
              <a:rPr lang="en-US" sz="1350" dirty="0">
                <a:solidFill>
                  <a:srgbClr val="5B6275"/>
                </a:solidFill>
                <a:latin typeface="Calibri" pitchFamily="34" charset="0"/>
                <a:ea typeface="Calibri" pitchFamily="34" charset="-122"/>
                <a:cs typeface="Calibri" pitchFamily="34" charset="-120"/>
              </a:rPr>
              <a:t>installs as root; .INSTALL hooks run as root</a:t>
            </a:r>
            <a:endParaRPr lang="en-US" sz="1350" dirty="0"/>
          </a:p>
        </p:txBody>
      </p:sp>
      <p:sp>
        <p:nvSpPr>
          <p:cNvPr id="32" name="Shape 29"/>
          <p:cNvSpPr/>
          <p:nvPr/>
        </p:nvSpPr>
        <p:spPr>
          <a:xfrm>
            <a:off x="548640" y="5715000"/>
            <a:ext cx="5349240" cy="502920"/>
          </a:xfrm>
          <a:prstGeom prst="roundRect">
            <a:avLst>
              <a:gd name="adj" fmla="val 14545"/>
            </a:avLst>
          </a:prstGeom>
          <a:solidFill>
            <a:srgbClr val="F6DFDB"/>
          </a:solidFill>
          <a:ln/>
        </p:spPr>
      </p:sp>
      <p:sp>
        <p:nvSpPr>
          <p:cNvPr id="33" name="Text 30"/>
          <p:cNvSpPr txBox="1"/>
          <p:nvPr/>
        </p:nvSpPr>
        <p:spPr>
          <a:xfrm>
            <a:off x="731520" y="5760720"/>
            <a:ext cx="5029200" cy="411480"/>
          </a:xfrm>
          <a:prstGeom prst="rect">
            <a:avLst/>
          </a:prstGeom>
          <a:noFill/>
          <a:ln/>
        </p:spPr>
        <p:txBody>
          <a:bodyPr wrap="square" lIns="0" tIns="0" rIns="0" bIns="0" rtlCol="0" anchor="ctr"/>
          <a:lstStyle/>
          <a:p>
            <a:pPr algn="l" indent="0" marL="0">
              <a:buNone/>
            </a:pPr>
            <a:r>
              <a:rPr lang="en-US" sz="1300" b="1" dirty="0">
                <a:solidFill>
                  <a:srgbClr val="B0352A"/>
                </a:solidFill>
                <a:latin typeface="Calibri" pitchFamily="34" charset="0"/>
                <a:ea typeface="Calibri" pitchFamily="34" charset="-122"/>
                <a:cs typeface="Calibri" pitchFamily="34" charset="-120"/>
              </a:rPr>
              <a:t>No review · no signing · orphans can be adopted by anyone</a:t>
            </a:r>
            <a:endParaRPr lang="en-US" sz="1300" dirty="0"/>
          </a:p>
        </p:txBody>
      </p:sp>
      <p:sp>
        <p:nvSpPr>
          <p:cNvPr id="34" name="Shape 31"/>
          <p:cNvSpPr/>
          <p:nvPr/>
        </p:nvSpPr>
        <p:spPr>
          <a:xfrm>
            <a:off x="6263640" y="1554480"/>
            <a:ext cx="2606040" cy="2194560"/>
          </a:xfrm>
          <a:prstGeom prst="roundRect">
            <a:avLst>
              <a:gd name="adj" fmla="val 3333"/>
            </a:avLst>
          </a:prstGeom>
          <a:solidFill>
            <a:srgbClr val="F4F5FA"/>
          </a:solidFill>
          <a:ln/>
        </p:spPr>
      </p:sp>
      <p:sp>
        <p:nvSpPr>
          <p:cNvPr id="35" name="Text 32"/>
          <p:cNvSpPr txBox="1"/>
          <p:nvPr/>
        </p:nvSpPr>
        <p:spPr>
          <a:xfrm>
            <a:off x="6464808" y="1737360"/>
            <a:ext cx="2286000" cy="685800"/>
          </a:xfrm>
          <a:prstGeom prst="rect">
            <a:avLst/>
          </a:prstGeom>
          <a:noFill/>
          <a:ln/>
        </p:spPr>
        <p:txBody>
          <a:bodyPr wrap="square" lIns="0" tIns="0" rIns="0" bIns="0" rtlCol="0" anchor="t"/>
          <a:lstStyle/>
          <a:p>
            <a:pPr algn="l" indent="0" marL="0">
              <a:buNone/>
            </a:pPr>
            <a:r>
              <a:rPr lang="en-US" sz="3600" b="1" dirty="0">
                <a:solidFill>
                  <a:srgbClr val="2E3A8C"/>
                </a:solidFill>
                <a:latin typeface="Cambria" pitchFamily="34" charset="0"/>
                <a:ea typeface="Cambria" pitchFamily="34" charset="-122"/>
                <a:cs typeface="Cambria" pitchFamily="34" charset="-120"/>
              </a:rPr>
              <a:t>107</a:t>
            </a:r>
            <a:endParaRPr lang="en-US" sz="3600" dirty="0"/>
          </a:p>
        </p:txBody>
      </p:sp>
      <p:sp>
        <p:nvSpPr>
          <p:cNvPr id="36" name="Text 33"/>
          <p:cNvSpPr txBox="1"/>
          <p:nvPr/>
        </p:nvSpPr>
        <p:spPr>
          <a:xfrm>
            <a:off x="6464808" y="2450592"/>
            <a:ext cx="2240280" cy="868680"/>
          </a:xfrm>
          <a:prstGeom prst="rect">
            <a:avLst/>
          </a:prstGeom>
          <a:noFill/>
          <a:ln/>
        </p:spPr>
        <p:txBody>
          <a:bodyPr wrap="square" lIns="0" tIns="0" rIns="0" bIns="0" rtlCol="0" anchor="t"/>
          <a:lstStyle/>
          <a:p>
            <a:pPr algn="l" indent="0" marL="0">
              <a:buNone/>
            </a:pPr>
            <a:r>
              <a:rPr lang="en-US" sz="1250" dirty="0">
                <a:solidFill>
                  <a:srgbClr val="1B2030"/>
                </a:solidFill>
                <a:latin typeface="Calibri" pitchFamily="34" charset="0"/>
                <a:ea typeface="Calibri" pitchFamily="34" charset="-122"/>
                <a:cs typeface="Calibri" pitchFamily="34" charset="-120"/>
              </a:rPr>
              <a:t>attack vectors on OSS supply chains, mapped to 94 incidents</a:t>
            </a:r>
            <a:endParaRPr lang="en-US" sz="1250" dirty="0"/>
          </a:p>
        </p:txBody>
      </p:sp>
      <p:sp>
        <p:nvSpPr>
          <p:cNvPr id="37" name="Text 34"/>
          <p:cNvSpPr txBox="1"/>
          <p:nvPr/>
        </p:nvSpPr>
        <p:spPr>
          <a:xfrm>
            <a:off x="6464808" y="3364992"/>
            <a:ext cx="2240280" cy="274320"/>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[1] IEEE S&amp;P 2023</a:t>
            </a:r>
            <a:endParaRPr lang="en-US" sz="1050" dirty="0"/>
          </a:p>
        </p:txBody>
      </p:sp>
      <p:sp>
        <p:nvSpPr>
          <p:cNvPr id="38" name="Shape 35"/>
          <p:cNvSpPr/>
          <p:nvPr/>
        </p:nvSpPr>
        <p:spPr>
          <a:xfrm>
            <a:off x="9006840" y="1554480"/>
            <a:ext cx="2606040" cy="2194560"/>
          </a:xfrm>
          <a:prstGeom prst="roundRect">
            <a:avLst>
              <a:gd name="adj" fmla="val 3333"/>
            </a:avLst>
          </a:prstGeom>
          <a:solidFill>
            <a:srgbClr val="F4F5FA"/>
          </a:solidFill>
          <a:ln/>
        </p:spPr>
      </p:sp>
      <p:sp>
        <p:nvSpPr>
          <p:cNvPr id="39" name="Text 36"/>
          <p:cNvSpPr txBox="1"/>
          <p:nvPr/>
        </p:nvSpPr>
        <p:spPr>
          <a:xfrm>
            <a:off x="9208008" y="1737360"/>
            <a:ext cx="2286000" cy="685800"/>
          </a:xfrm>
          <a:prstGeom prst="rect">
            <a:avLst/>
          </a:prstGeom>
          <a:noFill/>
          <a:ln/>
        </p:spPr>
        <p:txBody>
          <a:bodyPr wrap="square" lIns="0" tIns="0" rIns="0" bIns="0" rtlCol="0" anchor="t"/>
          <a:lstStyle/>
          <a:p>
            <a:pPr algn="l" indent="0" marL="0">
              <a:buNone/>
            </a:pPr>
            <a:r>
              <a:rPr lang="en-US" sz="3600" b="1" dirty="0">
                <a:solidFill>
                  <a:srgbClr val="2E3A8C"/>
                </a:solidFill>
                <a:latin typeface="Cambria" pitchFamily="34" charset="0"/>
                <a:ea typeface="Cambria" pitchFamily="34" charset="-122"/>
                <a:cs typeface="Cambria" pitchFamily="34" charset="-120"/>
              </a:rPr>
              <a:t>24,356</a:t>
            </a:r>
            <a:endParaRPr lang="en-US" sz="3600" dirty="0"/>
          </a:p>
        </p:txBody>
      </p:sp>
      <p:sp>
        <p:nvSpPr>
          <p:cNvPr id="40" name="Text 37"/>
          <p:cNvSpPr txBox="1"/>
          <p:nvPr/>
        </p:nvSpPr>
        <p:spPr>
          <a:xfrm>
            <a:off x="9208008" y="2450592"/>
            <a:ext cx="2240280" cy="868680"/>
          </a:xfrm>
          <a:prstGeom prst="rect">
            <a:avLst/>
          </a:prstGeom>
          <a:noFill/>
          <a:ln/>
        </p:spPr>
        <p:txBody>
          <a:bodyPr wrap="square" lIns="0" tIns="0" rIns="0" bIns="0" rtlCol="0" anchor="t"/>
          <a:lstStyle/>
          <a:p>
            <a:pPr algn="l" indent="0" marL="0">
              <a:buNone/>
            </a:pPr>
            <a:r>
              <a:rPr lang="en-US" sz="1250" dirty="0">
                <a:solidFill>
                  <a:srgbClr val="1B2030"/>
                </a:solidFill>
                <a:latin typeface="Calibri" pitchFamily="34" charset="0"/>
                <a:ea typeface="Calibri" pitchFamily="34" charset="-122"/>
                <a:cs typeface="Calibri" pitchFamily="34" charset="-120"/>
              </a:rPr>
              <a:t>malicious packages in the largest in-the-wild dataset</a:t>
            </a:r>
            <a:endParaRPr lang="en-US" sz="1250" dirty="0"/>
          </a:p>
        </p:txBody>
      </p:sp>
      <p:sp>
        <p:nvSpPr>
          <p:cNvPr id="41" name="Text 38"/>
          <p:cNvSpPr txBox="1"/>
          <p:nvPr/>
        </p:nvSpPr>
        <p:spPr>
          <a:xfrm>
            <a:off x="9208008" y="3364992"/>
            <a:ext cx="2240280" cy="274320"/>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[4] DSN 2025</a:t>
            </a:r>
            <a:endParaRPr lang="en-US" sz="1050" dirty="0"/>
          </a:p>
        </p:txBody>
      </p:sp>
      <p:sp>
        <p:nvSpPr>
          <p:cNvPr id="42" name="Shape 39"/>
          <p:cNvSpPr/>
          <p:nvPr/>
        </p:nvSpPr>
        <p:spPr>
          <a:xfrm>
            <a:off x="6263640" y="3931920"/>
            <a:ext cx="2606040" cy="2194560"/>
          </a:xfrm>
          <a:prstGeom prst="roundRect">
            <a:avLst>
              <a:gd name="adj" fmla="val 3333"/>
            </a:avLst>
          </a:prstGeom>
          <a:solidFill>
            <a:srgbClr val="FBF1D8"/>
          </a:solidFill>
          <a:ln/>
        </p:spPr>
      </p:sp>
      <p:sp>
        <p:nvSpPr>
          <p:cNvPr id="43" name="Text 40"/>
          <p:cNvSpPr txBox="1"/>
          <p:nvPr/>
        </p:nvSpPr>
        <p:spPr>
          <a:xfrm>
            <a:off x="6464808" y="4114800"/>
            <a:ext cx="2286000" cy="685800"/>
          </a:xfrm>
          <a:prstGeom prst="rect">
            <a:avLst/>
          </a:prstGeom>
          <a:noFill/>
          <a:ln/>
        </p:spPr>
        <p:txBody>
          <a:bodyPr wrap="square" lIns="0" tIns="0" rIns="0" bIns="0" rtlCol="0" anchor="t"/>
          <a:lstStyle/>
          <a:p>
            <a:pPr algn="l" indent="0" marL="0">
              <a:buNone/>
            </a:pPr>
            <a:r>
              <a:rPr lang="en-US" sz="3600" b="1" dirty="0">
                <a:solidFill>
                  <a:srgbClr val="8A5A00"/>
                </a:solidFill>
                <a:latin typeface="Cambria" pitchFamily="34" charset="0"/>
                <a:ea typeface="Cambria" pitchFamily="34" charset="-122"/>
                <a:cs typeface="Cambria" pitchFamily="34" charset="-120"/>
              </a:rPr>
              <a:t>74.81%</a:t>
            </a:r>
            <a:endParaRPr lang="en-US" sz="3600" dirty="0"/>
          </a:p>
        </p:txBody>
      </p:sp>
      <p:sp>
        <p:nvSpPr>
          <p:cNvPr id="44" name="Text 41"/>
          <p:cNvSpPr txBox="1"/>
          <p:nvPr/>
        </p:nvSpPr>
        <p:spPr>
          <a:xfrm>
            <a:off x="6464808" y="4828032"/>
            <a:ext cx="2240280" cy="868680"/>
          </a:xfrm>
          <a:prstGeom prst="rect">
            <a:avLst/>
          </a:prstGeom>
          <a:noFill/>
          <a:ln/>
        </p:spPr>
        <p:txBody>
          <a:bodyPr wrap="square" lIns="0" tIns="0" rIns="0" bIns="0" rtlCol="0" anchor="t"/>
          <a:lstStyle/>
          <a:p>
            <a:pPr algn="l" indent="0" marL="0">
              <a:buNone/>
            </a:pPr>
            <a:r>
              <a:rPr lang="en-US" sz="1250" dirty="0">
                <a:solidFill>
                  <a:srgbClr val="1B2030"/>
                </a:solidFill>
                <a:latin typeface="Calibri" pitchFamily="34" charset="0"/>
                <a:ea typeface="Calibri" pitchFamily="34" charset="-122"/>
                <a:cs typeface="Calibri" pitchFamily="34" charset="-120"/>
              </a:rPr>
              <a:t>of malicious PyPI packages reached users via source installation</a:t>
            </a:r>
            <a:endParaRPr lang="en-US" sz="1250" dirty="0"/>
          </a:p>
        </p:txBody>
      </p:sp>
      <p:sp>
        <p:nvSpPr>
          <p:cNvPr id="45" name="Text 42"/>
          <p:cNvSpPr txBox="1"/>
          <p:nvPr/>
        </p:nvSpPr>
        <p:spPr>
          <a:xfrm>
            <a:off x="6464808" y="5742432"/>
            <a:ext cx="2240280" cy="274320"/>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[3] ASE 2023</a:t>
            </a:r>
            <a:endParaRPr lang="en-US" sz="1050" dirty="0"/>
          </a:p>
        </p:txBody>
      </p:sp>
      <p:sp>
        <p:nvSpPr>
          <p:cNvPr id="46" name="Shape 43"/>
          <p:cNvSpPr/>
          <p:nvPr/>
        </p:nvSpPr>
        <p:spPr>
          <a:xfrm>
            <a:off x="9006840" y="3931920"/>
            <a:ext cx="2606040" cy="2194560"/>
          </a:xfrm>
          <a:prstGeom prst="roundRect">
            <a:avLst>
              <a:gd name="adj" fmla="val 3333"/>
            </a:avLst>
          </a:prstGeom>
          <a:solidFill>
            <a:srgbClr val="F4F5FA"/>
          </a:solidFill>
          <a:ln/>
        </p:spPr>
      </p:sp>
      <p:sp>
        <p:nvSpPr>
          <p:cNvPr id="47" name="Text 44"/>
          <p:cNvSpPr txBox="1"/>
          <p:nvPr/>
        </p:nvSpPr>
        <p:spPr>
          <a:xfrm>
            <a:off x="9208008" y="4114800"/>
            <a:ext cx="2286000" cy="685800"/>
          </a:xfrm>
          <a:prstGeom prst="rect">
            <a:avLst/>
          </a:prstGeom>
          <a:noFill/>
          <a:ln/>
        </p:spPr>
        <p:txBody>
          <a:bodyPr wrap="square" lIns="0" tIns="0" rIns="0" bIns="0" rtlCol="0" anchor="t"/>
          <a:lstStyle/>
          <a:p>
            <a:pPr algn="l" indent="0" marL="0">
              <a:buNone/>
            </a:pPr>
            <a:r>
              <a:rPr lang="en-US" sz="3600" b="1" dirty="0">
                <a:solidFill>
                  <a:srgbClr val="2E3A8C"/>
                </a:solidFill>
                <a:latin typeface="Cambria" pitchFamily="34" charset="0"/>
                <a:ea typeface="Cambria" pitchFamily="34" charset="-122"/>
                <a:cs typeface="Cambria" pitchFamily="34" charset="-120"/>
              </a:rPr>
              <a:t>&lt; 1%</a:t>
            </a:r>
            <a:endParaRPr lang="en-US" sz="3600" dirty="0"/>
          </a:p>
        </p:txBody>
      </p:sp>
      <p:sp>
        <p:nvSpPr>
          <p:cNvPr id="48" name="Text 45"/>
          <p:cNvSpPr txBox="1"/>
          <p:nvPr/>
        </p:nvSpPr>
        <p:spPr>
          <a:xfrm>
            <a:off x="9208008" y="4828032"/>
            <a:ext cx="2240280" cy="868680"/>
          </a:xfrm>
          <a:prstGeom prst="rect">
            <a:avLst/>
          </a:prstGeom>
          <a:noFill/>
          <a:ln/>
        </p:spPr>
        <p:txBody>
          <a:bodyPr wrap="square" lIns="0" tIns="0" rIns="0" bIns="0" rtlCol="0" anchor="t"/>
          <a:lstStyle/>
          <a:p>
            <a:pPr algn="l" indent="0" marL="0">
              <a:buNone/>
            </a:pPr>
            <a:r>
              <a:rPr lang="en-US" sz="1250" dirty="0">
                <a:solidFill>
                  <a:srgbClr val="1B2030"/>
                </a:solidFill>
                <a:latin typeface="Calibri" pitchFamily="34" charset="0"/>
                <a:ea typeface="Calibri" pitchFamily="34" charset="-122"/>
                <a:cs typeface="Calibri" pitchFamily="34" charset="-120"/>
              </a:rPr>
              <a:t>of packages directly use seccomp, Landlock or similar</a:t>
            </a:r>
            <a:endParaRPr lang="en-US" sz="1250" dirty="0"/>
          </a:p>
        </p:txBody>
      </p:sp>
      <p:sp>
        <p:nvSpPr>
          <p:cNvPr id="49" name="Text 46"/>
          <p:cNvSpPr txBox="1"/>
          <p:nvPr/>
        </p:nvSpPr>
        <p:spPr>
          <a:xfrm>
            <a:off x="9208008" y="5742432"/>
            <a:ext cx="2240280" cy="274320"/>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[15] SESoS 2024</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II. PROBLEM STATEMENT &amp; III. OBJECTIVES</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Problem, objectives and the five defences</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4</a:t>
            </a:r>
            <a:endParaRPr lang="en-US" sz="900" dirty="0"/>
          </a:p>
        </p:txBody>
      </p:sp>
      <p:sp>
        <p:nvSpPr>
          <p:cNvPr id="17" name="Shape 14"/>
          <p:cNvSpPr/>
          <p:nvPr/>
        </p:nvSpPr>
        <p:spPr>
          <a:xfrm>
            <a:off x="548640" y="1481328"/>
            <a:ext cx="11109960" cy="868680"/>
          </a:xfrm>
          <a:prstGeom prst="roundRect">
            <a:avLst>
              <a:gd name="adj" fmla="val 8421"/>
            </a:avLst>
          </a:prstGeom>
          <a:solidFill>
            <a:srgbClr val="161B33"/>
          </a:solidFill>
          <a:ln/>
        </p:spPr>
      </p:sp>
      <p:sp>
        <p:nvSpPr>
          <p:cNvPr id="18" name="Text 15"/>
          <p:cNvSpPr txBox="1"/>
          <p:nvPr/>
        </p:nvSpPr>
        <p:spPr>
          <a:xfrm>
            <a:off x="777240" y="1536192"/>
            <a:ext cx="10698480" cy="777240"/>
          </a:xfrm>
          <a:prstGeom prst="rect">
            <a:avLst/>
          </a:prstGeom>
          <a:noFill/>
          <a:ln/>
        </p:spPr>
        <p:txBody>
          <a:bodyPr wrap="square" lIns="0" tIns="0" rIns="0" bIns="0" rtlCol="0" anchor="ctr"/>
          <a:lstStyle/>
          <a:p>
            <a:pPr algn="l" indent="0" marL="0">
              <a:buNone/>
            </a:pPr>
            <a:r>
              <a:rPr lang="en-US" sz="1400" i="1" dirty="0">
                <a:solidFill>
                  <a:srgbClr val="FFFFFF"/>
                </a:solidFill>
                <a:latin typeface="Cambria" pitchFamily="34" charset="0"/>
                <a:ea typeface="Cambria" pitchFamily="34" charset="-122"/>
                <a:cs typeface="Cambria" pitchFamily="34" charset="-120"/>
              </a:rPr>
              <a:t>Problem: install AUR packages only when there is independent, publicly verifiable evidence that the artifact matches its source, contain every build under least privilege, and detect changes of publishing authority — with no cooperation from the AUR, its maintainers or upstream.</a:t>
            </a:r>
            <a:endParaRPr lang="en-US" sz="1400" dirty="0"/>
          </a:p>
        </p:txBody>
      </p:sp>
      <p:sp>
        <p:nvSpPr>
          <p:cNvPr id="19" name="Shape 16"/>
          <p:cNvSpPr/>
          <p:nvPr/>
        </p:nvSpPr>
        <p:spPr>
          <a:xfrm>
            <a:off x="548640" y="2560320"/>
            <a:ext cx="2084832" cy="3429000"/>
          </a:xfrm>
          <a:prstGeom prst="roundRect">
            <a:avLst>
              <a:gd name="adj" fmla="val 3509"/>
            </a:avLst>
          </a:prstGeom>
          <a:solidFill>
            <a:srgbClr val="E9ECF8"/>
          </a:solidFill>
          <a:ln/>
        </p:spPr>
      </p:sp>
      <p:sp>
        <p:nvSpPr>
          <p:cNvPr id="20" name="Text 17"/>
          <p:cNvSpPr txBox="1"/>
          <p:nvPr/>
        </p:nvSpPr>
        <p:spPr>
          <a:xfrm>
            <a:off x="731520" y="2743200"/>
            <a:ext cx="384048" cy="384048"/>
          </a:xfrm>
          <a:prstGeom prst="ellipse">
            <a:avLst/>
          </a:prstGeom>
          <a:solidFill>
            <a:srgbClr val="2E3A8C"/>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1" name="Text 18"/>
          <p:cNvSpPr txBox="1"/>
          <p:nvPr/>
        </p:nvSpPr>
        <p:spPr>
          <a:xfrm>
            <a:off x="1207008" y="2706624"/>
            <a:ext cx="1371600" cy="457200"/>
          </a:xfrm>
          <a:prstGeom prst="rect">
            <a:avLst/>
          </a:prstGeom>
          <a:noFill/>
          <a:ln/>
        </p:spPr>
        <p:txBody>
          <a:bodyPr wrap="square" lIns="0" tIns="0" rIns="0" bIns="0" rtlCol="0" anchor="ctr"/>
          <a:lstStyle/>
          <a:p>
            <a:pPr algn="l" indent="0" marL="0">
              <a:buNone/>
            </a:pPr>
            <a:r>
              <a:rPr lang="en-US" sz="1150" b="1" dirty="0">
                <a:solidFill>
                  <a:srgbClr val="2E3A8C"/>
                </a:solidFill>
                <a:latin typeface="Calibri" pitchFamily="34" charset="0"/>
                <a:ea typeface="Calibri" pitchFamily="34" charset="-122"/>
                <a:cs typeface="Calibri" pitchFamily="34" charset="-120"/>
              </a:rPr>
              <a:t>Contain every build</a:t>
            </a:r>
            <a:endParaRPr lang="en-US" sz="1150" dirty="0"/>
          </a:p>
        </p:txBody>
      </p:sp>
      <p:sp>
        <p:nvSpPr>
          <p:cNvPr id="22" name="Text 19"/>
          <p:cNvSpPr txBox="1"/>
          <p:nvPr/>
        </p:nvSpPr>
        <p:spPr>
          <a:xfrm>
            <a:off x="731520" y="3273552"/>
            <a:ext cx="1783080" cy="365760"/>
          </a:xfrm>
          <a:prstGeom prst="rect">
            <a:avLst/>
          </a:prstGeom>
          <a:noFill/>
          <a:ln/>
        </p:spPr>
        <p:txBody>
          <a:bodyPr wrap="square" lIns="0" tIns="0" rIns="0" bIns="0" rtlCol="0" anchor="t"/>
          <a:lstStyle/>
          <a:p>
            <a:pPr algn="l" indent="0" marL="0">
              <a:buNone/>
            </a:pPr>
            <a:r>
              <a:rPr lang="en-US" sz="1700" b="1" dirty="0">
                <a:solidFill>
                  <a:srgbClr val="161B33"/>
                </a:solidFill>
                <a:latin typeface="Cambria" pitchFamily="34" charset="0"/>
                <a:ea typeface="Cambria" pitchFamily="34" charset="-122"/>
                <a:cs typeface="Cambria" pitchFamily="34" charset="-120"/>
              </a:rPr>
              <a:t>Heddle</a:t>
            </a:r>
            <a:endParaRPr lang="en-US" sz="1700" dirty="0"/>
          </a:p>
        </p:txBody>
      </p:sp>
      <p:sp>
        <p:nvSpPr>
          <p:cNvPr id="23" name="Text 20"/>
          <p:cNvSpPr txBox="1"/>
          <p:nvPr/>
        </p:nvSpPr>
        <p:spPr>
          <a:xfrm>
            <a:off x="731520" y="3630168"/>
            <a:ext cx="1783080" cy="228600"/>
          </a:xfrm>
          <a:prstGeom prst="rect">
            <a:avLst/>
          </a:prstGeom>
          <a:noFill/>
          <a:ln/>
        </p:spPr>
        <p:txBody>
          <a:bodyPr wrap="square" lIns="0" tIns="0" rIns="0" bIns="0" rtlCol="0" anchor="t"/>
          <a:lstStyle/>
          <a:p>
            <a:pPr algn="l" indent="0" marL="0">
              <a:buNone/>
            </a:pPr>
            <a:r>
              <a:rPr lang="en-US" sz="950" b="1" spc="100" kern="0" dirty="0">
                <a:solidFill>
                  <a:srgbClr val="4455C7"/>
                </a:solidFill>
                <a:latin typeface="Calibri" pitchFamily="34" charset="0"/>
                <a:ea typeface="Calibri" pitchFamily="34" charset="-122"/>
                <a:cs typeface="Calibri" pitchFamily="34" charset="-120"/>
              </a:rPr>
              <a:t>BUILD SANDBOX</a:t>
            </a:r>
            <a:endParaRPr lang="en-US" sz="950" dirty="0"/>
          </a:p>
        </p:txBody>
      </p:sp>
      <p:sp>
        <p:nvSpPr>
          <p:cNvPr id="24" name="Text 21"/>
          <p:cNvSpPr txBox="1"/>
          <p:nvPr/>
        </p:nvSpPr>
        <p:spPr>
          <a:xfrm>
            <a:off x="731520" y="3931920"/>
            <a:ext cx="1755648" cy="1234440"/>
          </a:xfrm>
          <a:prstGeom prst="rect">
            <a:avLst/>
          </a:prstGeom>
          <a:noFill/>
          <a:ln/>
        </p:spPr>
        <p:txBody>
          <a:bodyPr wrap="square" lIns="0" tIns="0" rIns="0" bIns="0" rtlCol="0" anchor="t"/>
          <a:lstStyle/>
          <a:p>
            <a:pPr algn="l" indent="0" marL="0">
              <a:buNone/>
            </a:pPr>
            <a:r>
              <a:rPr lang="en-US" sz="1150" dirty="0">
                <a:solidFill>
                  <a:srgbClr val="1B2030"/>
                </a:solidFill>
                <a:latin typeface="Calibri" pitchFamily="34" charset="0"/>
                <a:ea typeface="Calibri" pitchFamily="34" charset="-122"/>
                <a:cs typeface="Calibri" pitchFamily="34" charset="-120"/>
              </a:rPr>
              <a:t>Namespaces + Landlock + seccomp-BPF: no $HOME, credentials, network or writes outside the build dir.</a:t>
            </a:r>
            <a:endParaRPr lang="en-US" sz="1150" dirty="0"/>
          </a:p>
        </p:txBody>
      </p:sp>
      <p:sp>
        <p:nvSpPr>
          <p:cNvPr id="25" name="Text 22"/>
          <p:cNvSpPr txBox="1"/>
          <p:nvPr/>
        </p:nvSpPr>
        <p:spPr>
          <a:xfrm>
            <a:off x="731520" y="5212080"/>
            <a:ext cx="1783080" cy="201168"/>
          </a:xfrm>
          <a:prstGeom prst="rect">
            <a:avLst/>
          </a:prstGeom>
          <a:noFill/>
          <a:ln/>
        </p:spPr>
        <p:txBody>
          <a:bodyPr wrap="square" lIns="0" tIns="0" rIns="0" bIns="0" rtlCol="0" anchor="t"/>
          <a:lstStyle/>
          <a:p>
            <a:pPr algn="l" indent="0" marL="0">
              <a:buNone/>
            </a:pPr>
            <a:r>
              <a:rPr lang="en-US" sz="900" b="1" spc="100" kern="0" dirty="0">
                <a:solidFill>
                  <a:srgbClr val="B0352A"/>
                </a:solidFill>
                <a:latin typeface="Calibri" pitchFamily="34" charset="0"/>
                <a:ea typeface="Calibri" pitchFamily="34" charset="-122"/>
                <a:cs typeface="Calibri" pitchFamily="34" charset="-120"/>
              </a:rPr>
              <a:t>COUNTERS</a:t>
            </a:r>
            <a:endParaRPr lang="en-US" sz="900" dirty="0"/>
          </a:p>
        </p:txBody>
      </p:sp>
      <p:sp>
        <p:nvSpPr>
          <p:cNvPr id="26" name="Text 23"/>
          <p:cNvSpPr txBox="1"/>
          <p:nvPr/>
        </p:nvSpPr>
        <p:spPr>
          <a:xfrm>
            <a:off x="731520" y="5413248"/>
            <a:ext cx="1755648" cy="502920"/>
          </a:xfrm>
          <a:prstGeom prst="rect">
            <a:avLst/>
          </a:prstGeom>
          <a:noFill/>
          <a:ln/>
        </p:spPr>
        <p:txBody>
          <a:bodyPr wrap="square" lIns="0" tIns="0" rIns="0" bIns="0" rtlCol="0" anchor="t"/>
          <a:lstStyle/>
          <a:p>
            <a:pPr algn="l" indent="0" marL="0">
              <a:buNone/>
            </a:pPr>
            <a:r>
              <a:rPr lang="en-US" sz="1100" i="1" dirty="0">
                <a:solidFill>
                  <a:srgbClr val="1B2030"/>
                </a:solidFill>
                <a:latin typeface="Calibri" pitchFamily="34" charset="0"/>
                <a:ea typeface="Calibri" pitchFamily="34" charset="-122"/>
                <a:cs typeface="Calibri" pitchFamily="34" charset="-120"/>
              </a:rPr>
              <a:t>credential theft, build injection</a:t>
            </a:r>
            <a:endParaRPr lang="en-US" sz="1100" dirty="0"/>
          </a:p>
        </p:txBody>
      </p:sp>
      <p:sp>
        <p:nvSpPr>
          <p:cNvPr id="27" name="Shape 24"/>
          <p:cNvSpPr/>
          <p:nvPr/>
        </p:nvSpPr>
        <p:spPr>
          <a:xfrm>
            <a:off x="2798064" y="2560320"/>
            <a:ext cx="2084832" cy="3429000"/>
          </a:xfrm>
          <a:prstGeom prst="roundRect">
            <a:avLst>
              <a:gd name="adj" fmla="val 3509"/>
            </a:avLst>
          </a:prstGeom>
          <a:solidFill>
            <a:srgbClr val="F4F5FA"/>
          </a:solidFill>
          <a:ln/>
        </p:spPr>
      </p:sp>
      <p:sp>
        <p:nvSpPr>
          <p:cNvPr id="28" name="Text 25"/>
          <p:cNvSpPr txBox="1"/>
          <p:nvPr/>
        </p:nvSpPr>
        <p:spPr>
          <a:xfrm>
            <a:off x="2980944" y="2743200"/>
            <a:ext cx="384048" cy="384048"/>
          </a:xfrm>
          <a:prstGeom prst="ellipse">
            <a:avLst/>
          </a:prstGeom>
          <a:solidFill>
            <a:srgbClr val="2E3A8C"/>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9" name="Text 26"/>
          <p:cNvSpPr txBox="1"/>
          <p:nvPr/>
        </p:nvSpPr>
        <p:spPr>
          <a:xfrm>
            <a:off x="3456432" y="2706624"/>
            <a:ext cx="1371600" cy="457200"/>
          </a:xfrm>
          <a:prstGeom prst="rect">
            <a:avLst/>
          </a:prstGeom>
          <a:noFill/>
          <a:ln/>
        </p:spPr>
        <p:txBody>
          <a:bodyPr wrap="square" lIns="0" tIns="0" rIns="0" bIns="0" rtlCol="0" anchor="ctr"/>
          <a:lstStyle/>
          <a:p>
            <a:pPr algn="l" indent="0" marL="0">
              <a:buNone/>
            </a:pPr>
            <a:r>
              <a:rPr lang="en-US" sz="1150" b="1" dirty="0">
                <a:solidFill>
                  <a:srgbClr val="2E3A8C"/>
                </a:solidFill>
                <a:latin typeface="Calibri" pitchFamily="34" charset="0"/>
                <a:ea typeface="Calibri" pitchFamily="34" charset="-122"/>
                <a:cs typeface="Calibri" pitchFamily="34" charset="-120"/>
              </a:rPr>
              <a:t>Verify, don't trust</a:t>
            </a:r>
            <a:endParaRPr lang="en-US" sz="1150" dirty="0"/>
          </a:p>
        </p:txBody>
      </p:sp>
      <p:sp>
        <p:nvSpPr>
          <p:cNvPr id="30" name="Text 27"/>
          <p:cNvSpPr txBox="1"/>
          <p:nvPr/>
        </p:nvSpPr>
        <p:spPr>
          <a:xfrm>
            <a:off x="2980944" y="3273552"/>
            <a:ext cx="1783080" cy="365760"/>
          </a:xfrm>
          <a:prstGeom prst="rect">
            <a:avLst/>
          </a:prstGeom>
          <a:noFill/>
          <a:ln/>
        </p:spPr>
        <p:txBody>
          <a:bodyPr wrap="square" lIns="0" tIns="0" rIns="0" bIns="0" rtlCol="0" anchor="t"/>
          <a:lstStyle/>
          <a:p>
            <a:pPr algn="l" indent="0" marL="0">
              <a:buNone/>
            </a:pPr>
            <a:r>
              <a:rPr lang="en-US" sz="1700" b="1" dirty="0">
                <a:solidFill>
                  <a:srgbClr val="161B33"/>
                </a:solidFill>
                <a:latin typeface="Cambria" pitchFamily="34" charset="0"/>
                <a:ea typeface="Cambria" pitchFamily="34" charset="-122"/>
                <a:cs typeface="Cambria" pitchFamily="34" charset="-120"/>
              </a:rPr>
              <a:t>Thread + Weave</a:t>
            </a:r>
            <a:endParaRPr lang="en-US" sz="1700" dirty="0"/>
          </a:p>
        </p:txBody>
      </p:sp>
      <p:sp>
        <p:nvSpPr>
          <p:cNvPr id="31" name="Text 28"/>
          <p:cNvSpPr txBox="1"/>
          <p:nvPr/>
        </p:nvSpPr>
        <p:spPr>
          <a:xfrm>
            <a:off x="2980944" y="3630168"/>
            <a:ext cx="1783080" cy="228600"/>
          </a:xfrm>
          <a:prstGeom prst="rect">
            <a:avLst/>
          </a:prstGeom>
          <a:noFill/>
          <a:ln/>
        </p:spPr>
        <p:txBody>
          <a:bodyPr wrap="square" lIns="0" tIns="0" rIns="0" bIns="0" rtlCol="0" anchor="t"/>
          <a:lstStyle/>
          <a:p>
            <a:pPr algn="l" indent="0" marL="0">
              <a:buNone/>
            </a:pPr>
            <a:r>
              <a:rPr lang="en-US" sz="950" b="1" spc="100" kern="0" dirty="0">
                <a:solidFill>
                  <a:srgbClr val="4455C7"/>
                </a:solidFill>
                <a:latin typeface="Calibri" pitchFamily="34" charset="0"/>
                <a:ea typeface="Calibri" pitchFamily="34" charset="-122"/>
                <a:cs typeface="Calibri" pitchFamily="34" charset="-120"/>
              </a:rPr>
              <a:t>K-OF-N REBUILDS</a:t>
            </a:r>
            <a:endParaRPr lang="en-US" sz="950" dirty="0"/>
          </a:p>
        </p:txBody>
      </p:sp>
      <p:sp>
        <p:nvSpPr>
          <p:cNvPr id="32" name="Text 29"/>
          <p:cNvSpPr txBox="1"/>
          <p:nvPr/>
        </p:nvSpPr>
        <p:spPr>
          <a:xfrm>
            <a:off x="2980944" y="3931920"/>
            <a:ext cx="1755648" cy="1234440"/>
          </a:xfrm>
          <a:prstGeom prst="rect">
            <a:avLst/>
          </a:prstGeom>
          <a:noFill/>
          <a:ln/>
        </p:spPr>
        <p:txBody>
          <a:bodyPr wrap="square" lIns="0" tIns="0" rIns="0" bIns="0" rtlCol="0" anchor="t"/>
          <a:lstStyle/>
          <a:p>
            <a:pPr algn="l" indent="0" marL="0">
              <a:buNone/>
            </a:pPr>
            <a:r>
              <a:rPr lang="en-US" sz="1150" dirty="0">
                <a:solidFill>
                  <a:srgbClr val="1B2030"/>
                </a:solidFill>
                <a:latin typeface="Calibri" pitchFamily="34" charset="0"/>
                <a:ea typeface="Calibri" pitchFamily="34" charset="-122"/>
                <a:cs typeface="Calibri" pitchFamily="34" charset="-120"/>
              </a:rPr>
              <a:t>Install only if k independent rebuilders reproduce the artifact bit-for-bit.</a:t>
            </a:r>
            <a:endParaRPr lang="en-US" sz="1150" dirty="0"/>
          </a:p>
        </p:txBody>
      </p:sp>
      <p:sp>
        <p:nvSpPr>
          <p:cNvPr id="33" name="Text 30"/>
          <p:cNvSpPr txBox="1"/>
          <p:nvPr/>
        </p:nvSpPr>
        <p:spPr>
          <a:xfrm>
            <a:off x="2980944" y="5212080"/>
            <a:ext cx="1783080" cy="201168"/>
          </a:xfrm>
          <a:prstGeom prst="rect">
            <a:avLst/>
          </a:prstGeom>
          <a:noFill/>
          <a:ln/>
        </p:spPr>
        <p:txBody>
          <a:bodyPr wrap="square" lIns="0" tIns="0" rIns="0" bIns="0" rtlCol="0" anchor="t"/>
          <a:lstStyle/>
          <a:p>
            <a:pPr algn="l" indent="0" marL="0">
              <a:buNone/>
            </a:pPr>
            <a:r>
              <a:rPr lang="en-US" sz="900" b="1" spc="100" kern="0" dirty="0">
                <a:solidFill>
                  <a:srgbClr val="B0352A"/>
                </a:solidFill>
                <a:latin typeface="Calibri" pitchFamily="34" charset="0"/>
                <a:ea typeface="Calibri" pitchFamily="34" charset="-122"/>
                <a:cs typeface="Calibri" pitchFamily="34" charset="-120"/>
              </a:rPr>
              <a:t>COUNTERS</a:t>
            </a:r>
            <a:endParaRPr lang="en-US" sz="900" dirty="0"/>
          </a:p>
        </p:txBody>
      </p:sp>
      <p:sp>
        <p:nvSpPr>
          <p:cNvPr id="34" name="Text 31"/>
          <p:cNvSpPr txBox="1"/>
          <p:nvPr/>
        </p:nvSpPr>
        <p:spPr>
          <a:xfrm>
            <a:off x="2980944" y="5413248"/>
            <a:ext cx="1755648" cy="502920"/>
          </a:xfrm>
          <a:prstGeom prst="rect">
            <a:avLst/>
          </a:prstGeom>
          <a:noFill/>
          <a:ln/>
        </p:spPr>
        <p:txBody>
          <a:bodyPr wrap="square" lIns="0" tIns="0" rIns="0" bIns="0" rtlCol="0" anchor="t"/>
          <a:lstStyle/>
          <a:p>
            <a:pPr algn="l" indent="0" marL="0">
              <a:buNone/>
            </a:pPr>
            <a:r>
              <a:rPr lang="en-US" sz="1100" i="1" dirty="0">
                <a:solidFill>
                  <a:srgbClr val="1B2030"/>
                </a:solidFill>
                <a:latin typeface="Calibri" pitchFamily="34" charset="0"/>
                <a:ea typeface="Calibri" pitchFamily="34" charset="-122"/>
                <a:cs typeface="Calibri" pitchFamily="34" charset="-120"/>
              </a:rPr>
              <a:t>artifacts that don't match source</a:t>
            </a:r>
            <a:endParaRPr lang="en-US" sz="1100" dirty="0"/>
          </a:p>
        </p:txBody>
      </p:sp>
      <p:sp>
        <p:nvSpPr>
          <p:cNvPr id="35" name="Shape 32"/>
          <p:cNvSpPr/>
          <p:nvPr/>
        </p:nvSpPr>
        <p:spPr>
          <a:xfrm>
            <a:off x="5047488" y="2560320"/>
            <a:ext cx="2084832" cy="3429000"/>
          </a:xfrm>
          <a:prstGeom prst="roundRect">
            <a:avLst>
              <a:gd name="adj" fmla="val 3509"/>
            </a:avLst>
          </a:prstGeom>
          <a:solidFill>
            <a:srgbClr val="E9ECF8"/>
          </a:solidFill>
          <a:ln/>
        </p:spPr>
      </p:sp>
      <p:sp>
        <p:nvSpPr>
          <p:cNvPr id="36" name="Text 33"/>
          <p:cNvSpPr txBox="1"/>
          <p:nvPr/>
        </p:nvSpPr>
        <p:spPr>
          <a:xfrm>
            <a:off x="5230368" y="2743200"/>
            <a:ext cx="384048" cy="384048"/>
          </a:xfrm>
          <a:prstGeom prst="ellipse">
            <a:avLst/>
          </a:prstGeom>
          <a:solidFill>
            <a:srgbClr val="2E3A8C"/>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7" name="Text 34"/>
          <p:cNvSpPr txBox="1"/>
          <p:nvPr/>
        </p:nvSpPr>
        <p:spPr>
          <a:xfrm>
            <a:off x="5705856" y="2706624"/>
            <a:ext cx="1371600" cy="457200"/>
          </a:xfrm>
          <a:prstGeom prst="rect">
            <a:avLst/>
          </a:prstGeom>
          <a:noFill/>
          <a:ln/>
        </p:spPr>
        <p:txBody>
          <a:bodyPr wrap="square" lIns="0" tIns="0" rIns="0" bIns="0" rtlCol="0" anchor="ctr"/>
          <a:lstStyle/>
          <a:p>
            <a:pPr algn="l" indent="0" marL="0">
              <a:buNone/>
            </a:pPr>
            <a:r>
              <a:rPr lang="en-US" sz="1150" b="1" dirty="0">
                <a:solidFill>
                  <a:srgbClr val="2E3A8C"/>
                </a:solidFill>
                <a:latin typeface="Calibri" pitchFamily="34" charset="0"/>
                <a:ea typeface="Calibri" pitchFamily="34" charset="-122"/>
                <a:cs typeface="Calibri" pitchFamily="34" charset="-120"/>
              </a:rPr>
              <a:t>Slow down fast attacks</a:t>
            </a:r>
            <a:endParaRPr lang="en-US" sz="1150" dirty="0"/>
          </a:p>
        </p:txBody>
      </p:sp>
      <p:sp>
        <p:nvSpPr>
          <p:cNvPr id="38" name="Text 35"/>
          <p:cNvSpPr txBox="1"/>
          <p:nvPr/>
        </p:nvSpPr>
        <p:spPr>
          <a:xfrm>
            <a:off x="5230368" y="3273552"/>
            <a:ext cx="1783080" cy="365760"/>
          </a:xfrm>
          <a:prstGeom prst="rect">
            <a:avLst/>
          </a:prstGeom>
          <a:noFill/>
          <a:ln/>
        </p:spPr>
        <p:txBody>
          <a:bodyPr wrap="square" lIns="0" tIns="0" rIns="0" bIns="0" rtlCol="0" anchor="t"/>
          <a:lstStyle/>
          <a:p>
            <a:pPr algn="l" indent="0" marL="0">
              <a:buNone/>
            </a:pPr>
            <a:r>
              <a:rPr lang="en-US" sz="1700" b="1" dirty="0">
                <a:solidFill>
                  <a:srgbClr val="161B33"/>
                </a:solidFill>
                <a:latin typeface="Cambria" pitchFamily="34" charset="0"/>
                <a:ea typeface="Cambria" pitchFamily="34" charset="-122"/>
                <a:cs typeface="Cambria" pitchFamily="34" charset="-120"/>
              </a:rPr>
              <a:t>Quarantine</a:t>
            </a:r>
            <a:endParaRPr lang="en-US" sz="1700" dirty="0"/>
          </a:p>
        </p:txBody>
      </p:sp>
      <p:sp>
        <p:nvSpPr>
          <p:cNvPr id="39" name="Text 36"/>
          <p:cNvSpPr txBox="1"/>
          <p:nvPr/>
        </p:nvSpPr>
        <p:spPr>
          <a:xfrm>
            <a:off x="5230368" y="3630168"/>
            <a:ext cx="1783080" cy="228600"/>
          </a:xfrm>
          <a:prstGeom prst="rect">
            <a:avLst/>
          </a:prstGeom>
          <a:noFill/>
          <a:ln/>
        </p:spPr>
        <p:txBody>
          <a:bodyPr wrap="square" lIns="0" tIns="0" rIns="0" bIns="0" rtlCol="0" anchor="t"/>
          <a:lstStyle/>
          <a:p>
            <a:pPr algn="l" indent="0" marL="0">
              <a:buNone/>
            </a:pPr>
            <a:r>
              <a:rPr lang="en-US" sz="950" b="1" spc="100" kern="0" dirty="0">
                <a:solidFill>
                  <a:srgbClr val="4455C7"/>
                </a:solidFill>
                <a:latin typeface="Calibri" pitchFamily="34" charset="0"/>
                <a:ea typeface="Calibri" pitchFamily="34" charset="-122"/>
                <a:cs typeface="Calibri" pitchFamily="34" charset="-120"/>
              </a:rPr>
              <a:t>TEMPORAL DELAY</a:t>
            </a:r>
            <a:endParaRPr lang="en-US" sz="950" dirty="0"/>
          </a:p>
        </p:txBody>
      </p:sp>
      <p:sp>
        <p:nvSpPr>
          <p:cNvPr id="40" name="Text 37"/>
          <p:cNvSpPr txBox="1"/>
          <p:nvPr/>
        </p:nvSpPr>
        <p:spPr>
          <a:xfrm>
            <a:off x="5230368" y="3931920"/>
            <a:ext cx="1755648" cy="1234440"/>
          </a:xfrm>
          <a:prstGeom prst="rect">
            <a:avLst/>
          </a:prstGeom>
          <a:noFill/>
          <a:ln/>
        </p:spPr>
        <p:txBody>
          <a:bodyPr wrap="square" lIns="0" tIns="0" rIns="0" bIns="0" rtlCol="0" anchor="t"/>
          <a:lstStyle/>
          <a:p>
            <a:pPr algn="l" indent="0" marL="0">
              <a:buNone/>
            </a:pPr>
            <a:r>
              <a:rPr lang="en-US" sz="1150" dirty="0">
                <a:solidFill>
                  <a:srgbClr val="1B2030"/>
                </a:solidFill>
                <a:latin typeface="Calibri" pitchFamily="34" charset="0"/>
                <a:ea typeface="Calibri" pitchFamily="34" charset="-122"/>
                <a:cs typeface="Calibri" pitchFamily="34" charset="-120"/>
              </a:rPr>
              <a:t>Withhold versions younger than 72 h; advisory fast-path for security fixes.</a:t>
            </a:r>
            <a:endParaRPr lang="en-US" sz="1150" dirty="0"/>
          </a:p>
        </p:txBody>
      </p:sp>
      <p:sp>
        <p:nvSpPr>
          <p:cNvPr id="41" name="Text 38"/>
          <p:cNvSpPr txBox="1"/>
          <p:nvPr/>
        </p:nvSpPr>
        <p:spPr>
          <a:xfrm>
            <a:off x="5230368" y="5212080"/>
            <a:ext cx="1783080" cy="201168"/>
          </a:xfrm>
          <a:prstGeom prst="rect">
            <a:avLst/>
          </a:prstGeom>
          <a:noFill/>
          <a:ln/>
        </p:spPr>
        <p:txBody>
          <a:bodyPr wrap="square" lIns="0" tIns="0" rIns="0" bIns="0" rtlCol="0" anchor="t"/>
          <a:lstStyle/>
          <a:p>
            <a:pPr algn="l" indent="0" marL="0">
              <a:buNone/>
            </a:pPr>
            <a:r>
              <a:rPr lang="en-US" sz="900" b="1" spc="100" kern="0" dirty="0">
                <a:solidFill>
                  <a:srgbClr val="B0352A"/>
                </a:solidFill>
                <a:latin typeface="Calibri" pitchFamily="34" charset="0"/>
                <a:ea typeface="Calibri" pitchFamily="34" charset="-122"/>
                <a:cs typeface="Calibri" pitchFamily="34" charset="-120"/>
              </a:rPr>
              <a:t>COUNTERS</a:t>
            </a:r>
            <a:endParaRPr lang="en-US" sz="900" dirty="0"/>
          </a:p>
        </p:txBody>
      </p:sp>
      <p:sp>
        <p:nvSpPr>
          <p:cNvPr id="42" name="Text 39"/>
          <p:cNvSpPr txBox="1"/>
          <p:nvPr/>
        </p:nvSpPr>
        <p:spPr>
          <a:xfrm>
            <a:off x="5230368" y="5413248"/>
            <a:ext cx="1755648" cy="502920"/>
          </a:xfrm>
          <a:prstGeom prst="rect">
            <a:avLst/>
          </a:prstGeom>
          <a:noFill/>
          <a:ln/>
        </p:spPr>
        <p:txBody>
          <a:bodyPr wrap="square" lIns="0" tIns="0" rIns="0" bIns="0" rtlCol="0" anchor="t"/>
          <a:lstStyle/>
          <a:p>
            <a:pPr algn="l" indent="0" marL="0">
              <a:buNone/>
            </a:pPr>
            <a:r>
              <a:rPr lang="en-US" sz="1100" i="1" dirty="0">
                <a:solidFill>
                  <a:srgbClr val="1B2030"/>
                </a:solidFill>
                <a:latin typeface="Calibri" pitchFamily="34" charset="0"/>
                <a:ea typeface="Calibri" pitchFamily="34" charset="-122"/>
                <a:cs typeface="Calibri" pitchFamily="34" charset="-120"/>
              </a:rPr>
              <a:t>fast-moving worms</a:t>
            </a:r>
            <a:endParaRPr lang="en-US" sz="1100" dirty="0"/>
          </a:p>
        </p:txBody>
      </p:sp>
      <p:sp>
        <p:nvSpPr>
          <p:cNvPr id="43" name="Shape 40"/>
          <p:cNvSpPr/>
          <p:nvPr/>
        </p:nvSpPr>
        <p:spPr>
          <a:xfrm>
            <a:off x="7296912" y="2560320"/>
            <a:ext cx="2084832" cy="3429000"/>
          </a:xfrm>
          <a:prstGeom prst="roundRect">
            <a:avLst>
              <a:gd name="adj" fmla="val 3509"/>
            </a:avLst>
          </a:prstGeom>
          <a:solidFill>
            <a:srgbClr val="F4F5FA"/>
          </a:solidFill>
          <a:ln/>
        </p:spPr>
      </p:sp>
      <p:sp>
        <p:nvSpPr>
          <p:cNvPr id="44" name="Text 41"/>
          <p:cNvSpPr txBox="1"/>
          <p:nvPr/>
        </p:nvSpPr>
        <p:spPr>
          <a:xfrm>
            <a:off x="7479792" y="2743200"/>
            <a:ext cx="384048" cy="384048"/>
          </a:xfrm>
          <a:prstGeom prst="ellipse">
            <a:avLst/>
          </a:prstGeom>
          <a:solidFill>
            <a:srgbClr val="2E3A8C"/>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45" name="Text 42"/>
          <p:cNvSpPr txBox="1"/>
          <p:nvPr/>
        </p:nvSpPr>
        <p:spPr>
          <a:xfrm>
            <a:off x="7955280" y="2706624"/>
            <a:ext cx="1371600" cy="457200"/>
          </a:xfrm>
          <a:prstGeom prst="rect">
            <a:avLst/>
          </a:prstGeom>
          <a:noFill/>
          <a:ln/>
        </p:spPr>
        <p:txBody>
          <a:bodyPr wrap="square" lIns="0" tIns="0" rIns="0" bIns="0" rtlCol="0" anchor="ctr"/>
          <a:lstStyle/>
          <a:p>
            <a:pPr algn="l" indent="0" marL="0">
              <a:buNone/>
            </a:pPr>
            <a:r>
              <a:rPr lang="en-US" sz="1150" b="1" dirty="0">
                <a:solidFill>
                  <a:srgbClr val="2E3A8C"/>
                </a:solidFill>
                <a:latin typeface="Calibri" pitchFamily="34" charset="0"/>
                <a:ea typeface="Calibri" pitchFamily="34" charset="-122"/>
                <a:cs typeface="Calibri" pitchFamily="34" charset="-120"/>
              </a:rPr>
              <a:t>Notice who changed</a:t>
            </a:r>
            <a:endParaRPr lang="en-US" sz="1150" dirty="0"/>
          </a:p>
        </p:txBody>
      </p:sp>
      <p:sp>
        <p:nvSpPr>
          <p:cNvPr id="46" name="Text 43"/>
          <p:cNvSpPr txBox="1"/>
          <p:nvPr/>
        </p:nvSpPr>
        <p:spPr>
          <a:xfrm>
            <a:off x="7479792" y="3273552"/>
            <a:ext cx="1783080" cy="365760"/>
          </a:xfrm>
          <a:prstGeom prst="rect">
            <a:avLst/>
          </a:prstGeom>
          <a:noFill/>
          <a:ln/>
        </p:spPr>
        <p:txBody>
          <a:bodyPr wrap="square" lIns="0" tIns="0" rIns="0" bIns="0" rtlCol="0" anchor="t"/>
          <a:lstStyle/>
          <a:p>
            <a:pPr algn="l" indent="0" marL="0">
              <a:buNone/>
            </a:pPr>
            <a:r>
              <a:rPr lang="en-US" sz="1700" b="1" dirty="0">
                <a:solidFill>
                  <a:srgbClr val="161B33"/>
                </a:solidFill>
                <a:latin typeface="Cambria" pitchFamily="34" charset="0"/>
                <a:ea typeface="Cambria" pitchFamily="34" charset="-122"/>
                <a:cs typeface="Cambria" pitchFamily="34" charset="-120"/>
              </a:rPr>
              <a:t>Continuity</a:t>
            </a:r>
            <a:endParaRPr lang="en-US" sz="1700" dirty="0"/>
          </a:p>
        </p:txBody>
      </p:sp>
      <p:sp>
        <p:nvSpPr>
          <p:cNvPr id="47" name="Text 44"/>
          <p:cNvSpPr txBox="1"/>
          <p:nvPr/>
        </p:nvSpPr>
        <p:spPr>
          <a:xfrm>
            <a:off x="7479792" y="3630168"/>
            <a:ext cx="1783080" cy="228600"/>
          </a:xfrm>
          <a:prstGeom prst="rect">
            <a:avLst/>
          </a:prstGeom>
          <a:noFill/>
          <a:ln/>
        </p:spPr>
        <p:txBody>
          <a:bodyPr wrap="square" lIns="0" tIns="0" rIns="0" bIns="0" rtlCol="0" anchor="t"/>
          <a:lstStyle/>
          <a:p>
            <a:pPr algn="l" indent="0" marL="0">
              <a:buNone/>
            </a:pPr>
            <a:r>
              <a:rPr lang="en-US" sz="950" b="1" spc="100" kern="0" dirty="0">
                <a:solidFill>
                  <a:srgbClr val="4455C7"/>
                </a:solidFill>
                <a:latin typeface="Calibri" pitchFamily="34" charset="0"/>
                <a:ea typeface="Calibri" pitchFamily="34" charset="-122"/>
                <a:cs typeface="Calibri" pitchFamily="34" charset="-120"/>
              </a:rPr>
              <a:t>AUTHORITY TRACKING</a:t>
            </a:r>
            <a:endParaRPr lang="en-US" sz="950" dirty="0"/>
          </a:p>
        </p:txBody>
      </p:sp>
      <p:sp>
        <p:nvSpPr>
          <p:cNvPr id="48" name="Text 45"/>
          <p:cNvSpPr txBox="1"/>
          <p:nvPr/>
        </p:nvSpPr>
        <p:spPr>
          <a:xfrm>
            <a:off x="7479792" y="3931920"/>
            <a:ext cx="1755648" cy="1234440"/>
          </a:xfrm>
          <a:prstGeom prst="rect">
            <a:avLst/>
          </a:prstGeom>
          <a:noFill/>
          <a:ln/>
        </p:spPr>
        <p:txBody>
          <a:bodyPr wrap="square" lIns="0" tIns="0" rIns="0" bIns="0" rtlCol="0" anchor="t"/>
          <a:lstStyle/>
          <a:p>
            <a:pPr algn="l" indent="0" marL="0">
              <a:buNone/>
            </a:pPr>
            <a:r>
              <a:rPr lang="en-US" sz="1150" dirty="0">
                <a:solidFill>
                  <a:srgbClr val="1B2030"/>
                </a:solidFill>
                <a:latin typeface="Calibri" pitchFamily="34" charset="0"/>
                <a:ea typeface="Calibri" pitchFamily="34" charset="-122"/>
                <a:cs typeface="Calibri" pitchFamily="34" charset="-120"/>
              </a:rPr>
              <a:t>Detect maintainer, key and history changes, incl. orphan adoption and force-push.</a:t>
            </a:r>
            <a:endParaRPr lang="en-US" sz="1150" dirty="0"/>
          </a:p>
        </p:txBody>
      </p:sp>
      <p:sp>
        <p:nvSpPr>
          <p:cNvPr id="49" name="Text 46"/>
          <p:cNvSpPr txBox="1"/>
          <p:nvPr/>
        </p:nvSpPr>
        <p:spPr>
          <a:xfrm>
            <a:off x="7479792" y="5212080"/>
            <a:ext cx="1783080" cy="201168"/>
          </a:xfrm>
          <a:prstGeom prst="rect">
            <a:avLst/>
          </a:prstGeom>
          <a:noFill/>
          <a:ln/>
        </p:spPr>
        <p:txBody>
          <a:bodyPr wrap="square" lIns="0" tIns="0" rIns="0" bIns="0" rtlCol="0" anchor="t"/>
          <a:lstStyle/>
          <a:p>
            <a:pPr algn="l" indent="0" marL="0">
              <a:buNone/>
            </a:pPr>
            <a:r>
              <a:rPr lang="en-US" sz="900" b="1" spc="100" kern="0" dirty="0">
                <a:solidFill>
                  <a:srgbClr val="B0352A"/>
                </a:solidFill>
                <a:latin typeface="Calibri" pitchFamily="34" charset="0"/>
                <a:ea typeface="Calibri" pitchFamily="34" charset="-122"/>
                <a:cs typeface="Calibri" pitchFamily="34" charset="-120"/>
              </a:rPr>
              <a:t>COUNTERS</a:t>
            </a:r>
            <a:endParaRPr lang="en-US" sz="900" dirty="0"/>
          </a:p>
        </p:txBody>
      </p:sp>
      <p:sp>
        <p:nvSpPr>
          <p:cNvPr id="50" name="Text 47"/>
          <p:cNvSpPr txBox="1"/>
          <p:nvPr/>
        </p:nvSpPr>
        <p:spPr>
          <a:xfrm>
            <a:off x="7479792" y="5413248"/>
            <a:ext cx="1755648" cy="502920"/>
          </a:xfrm>
          <a:prstGeom prst="rect">
            <a:avLst/>
          </a:prstGeom>
          <a:noFill/>
          <a:ln/>
        </p:spPr>
        <p:txBody>
          <a:bodyPr wrap="square" lIns="0" tIns="0" rIns="0" bIns="0" rtlCol="0" anchor="t"/>
          <a:lstStyle/>
          <a:p>
            <a:pPr algn="l" indent="0" marL="0">
              <a:buNone/>
            </a:pPr>
            <a:r>
              <a:rPr lang="en-US" sz="1100" i="1" dirty="0">
                <a:solidFill>
                  <a:srgbClr val="1B2030"/>
                </a:solidFill>
                <a:latin typeface="Calibri" pitchFamily="34" charset="0"/>
                <a:ea typeface="Calibri" pitchFamily="34" charset="-122"/>
                <a:cs typeface="Calibri" pitchFamily="34" charset="-120"/>
              </a:rPr>
              <a:t>account takeover, orphan adoption</a:t>
            </a:r>
            <a:endParaRPr lang="en-US" sz="1100" dirty="0"/>
          </a:p>
        </p:txBody>
      </p:sp>
      <p:sp>
        <p:nvSpPr>
          <p:cNvPr id="51" name="Shape 48"/>
          <p:cNvSpPr/>
          <p:nvPr/>
        </p:nvSpPr>
        <p:spPr>
          <a:xfrm>
            <a:off x="9546336" y="2560320"/>
            <a:ext cx="2084832" cy="3429000"/>
          </a:xfrm>
          <a:prstGeom prst="roundRect">
            <a:avLst>
              <a:gd name="adj" fmla="val 3509"/>
            </a:avLst>
          </a:prstGeom>
          <a:solidFill>
            <a:srgbClr val="E9ECF8"/>
          </a:solidFill>
          <a:ln/>
        </p:spPr>
      </p:sp>
      <p:sp>
        <p:nvSpPr>
          <p:cNvPr id="52" name="Text 49"/>
          <p:cNvSpPr txBox="1"/>
          <p:nvPr/>
        </p:nvSpPr>
        <p:spPr>
          <a:xfrm>
            <a:off x="9729216" y="2743200"/>
            <a:ext cx="384048" cy="384048"/>
          </a:xfrm>
          <a:prstGeom prst="ellipse">
            <a:avLst/>
          </a:prstGeom>
          <a:solidFill>
            <a:srgbClr val="2E3A8C"/>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53" name="Text 50"/>
          <p:cNvSpPr txBox="1"/>
          <p:nvPr/>
        </p:nvSpPr>
        <p:spPr>
          <a:xfrm>
            <a:off x="10204704" y="2706624"/>
            <a:ext cx="1371600" cy="457200"/>
          </a:xfrm>
          <a:prstGeom prst="rect">
            <a:avLst/>
          </a:prstGeom>
          <a:noFill/>
          <a:ln/>
        </p:spPr>
        <p:txBody>
          <a:bodyPr wrap="square" lIns="0" tIns="0" rIns="0" bIns="0" rtlCol="0" anchor="ctr"/>
          <a:lstStyle/>
          <a:p>
            <a:pPr algn="l" indent="0" marL="0">
              <a:buNone/>
            </a:pPr>
            <a:r>
              <a:rPr lang="en-US" sz="1150" b="1" dirty="0">
                <a:solidFill>
                  <a:srgbClr val="2E3A8C"/>
                </a:solidFill>
                <a:latin typeface="Calibri" pitchFamily="34" charset="0"/>
                <a:ea typeface="Calibri" pitchFamily="34" charset="-122"/>
                <a:cs typeface="Calibri" pitchFamily="34" charset="-120"/>
              </a:rPr>
              <a:t>Make evidence public</a:t>
            </a:r>
            <a:endParaRPr lang="en-US" sz="1150" dirty="0"/>
          </a:p>
        </p:txBody>
      </p:sp>
      <p:sp>
        <p:nvSpPr>
          <p:cNvPr id="54" name="Text 51"/>
          <p:cNvSpPr txBox="1"/>
          <p:nvPr/>
        </p:nvSpPr>
        <p:spPr>
          <a:xfrm>
            <a:off x="9729216" y="3273552"/>
            <a:ext cx="1783080" cy="365760"/>
          </a:xfrm>
          <a:prstGeom prst="rect">
            <a:avLst/>
          </a:prstGeom>
          <a:noFill/>
          <a:ln/>
        </p:spPr>
        <p:txBody>
          <a:bodyPr wrap="square" lIns="0" tIns="0" rIns="0" bIns="0" rtlCol="0" anchor="t"/>
          <a:lstStyle/>
          <a:p>
            <a:pPr algn="l" indent="0" marL="0">
              <a:buNone/>
            </a:pPr>
            <a:r>
              <a:rPr lang="en-US" sz="1700" b="1" dirty="0">
                <a:solidFill>
                  <a:srgbClr val="161B33"/>
                </a:solidFill>
                <a:latin typeface="Cambria" pitchFamily="34" charset="0"/>
                <a:ea typeface="Cambria" pitchFamily="34" charset="-122"/>
                <a:cs typeface="Cambria" pitchFamily="34" charset="-120"/>
              </a:rPr>
              <a:t>Warp</a:t>
            </a:r>
            <a:endParaRPr lang="en-US" sz="1700" dirty="0"/>
          </a:p>
        </p:txBody>
      </p:sp>
      <p:sp>
        <p:nvSpPr>
          <p:cNvPr id="55" name="Text 52"/>
          <p:cNvSpPr txBox="1"/>
          <p:nvPr/>
        </p:nvSpPr>
        <p:spPr>
          <a:xfrm>
            <a:off x="9729216" y="3630168"/>
            <a:ext cx="1783080" cy="228600"/>
          </a:xfrm>
          <a:prstGeom prst="rect">
            <a:avLst/>
          </a:prstGeom>
          <a:noFill/>
          <a:ln/>
        </p:spPr>
        <p:txBody>
          <a:bodyPr wrap="square" lIns="0" tIns="0" rIns="0" bIns="0" rtlCol="0" anchor="t"/>
          <a:lstStyle/>
          <a:p>
            <a:pPr algn="l" indent="0" marL="0">
              <a:buNone/>
            </a:pPr>
            <a:r>
              <a:rPr lang="en-US" sz="950" b="1" spc="100" kern="0" dirty="0">
                <a:solidFill>
                  <a:srgbClr val="4455C7"/>
                </a:solidFill>
                <a:latin typeface="Calibri" pitchFamily="34" charset="0"/>
                <a:ea typeface="Calibri" pitchFamily="34" charset="-122"/>
                <a:cs typeface="Calibri" pitchFamily="34" charset="-120"/>
              </a:rPr>
              <a:t>TRANSPARENCY LOG</a:t>
            </a:r>
            <a:endParaRPr lang="en-US" sz="950" dirty="0"/>
          </a:p>
        </p:txBody>
      </p:sp>
      <p:sp>
        <p:nvSpPr>
          <p:cNvPr id="56" name="Text 53"/>
          <p:cNvSpPr txBox="1"/>
          <p:nvPr/>
        </p:nvSpPr>
        <p:spPr>
          <a:xfrm>
            <a:off x="9729216" y="3931920"/>
            <a:ext cx="1755648" cy="1234440"/>
          </a:xfrm>
          <a:prstGeom prst="rect">
            <a:avLst/>
          </a:prstGeom>
          <a:noFill/>
          <a:ln/>
        </p:spPr>
        <p:txBody>
          <a:bodyPr wrap="square" lIns="0" tIns="0" rIns="0" bIns="0" rtlCol="0" anchor="t"/>
          <a:lstStyle/>
          <a:p>
            <a:pPr algn="l" indent="0" marL="0">
              <a:buNone/>
            </a:pPr>
            <a:r>
              <a:rPr lang="en-US" sz="1150" dirty="0">
                <a:solidFill>
                  <a:srgbClr val="1B2030"/>
                </a:solidFill>
                <a:latin typeface="Calibri" pitchFamily="34" charset="0"/>
                <a:ea typeface="Calibri" pitchFamily="34" charset="-122"/>
                <a:cs typeface="Calibri" pitchFamily="34" charset="-120"/>
              </a:rPr>
              <a:t>Append-only Merkle log, witness-cosigned; clients detect split views.</a:t>
            </a:r>
            <a:endParaRPr lang="en-US" sz="1150" dirty="0"/>
          </a:p>
        </p:txBody>
      </p:sp>
      <p:sp>
        <p:nvSpPr>
          <p:cNvPr id="57" name="Text 54"/>
          <p:cNvSpPr txBox="1"/>
          <p:nvPr/>
        </p:nvSpPr>
        <p:spPr>
          <a:xfrm>
            <a:off x="9729216" y="5212080"/>
            <a:ext cx="1783080" cy="201168"/>
          </a:xfrm>
          <a:prstGeom prst="rect">
            <a:avLst/>
          </a:prstGeom>
          <a:noFill/>
          <a:ln/>
        </p:spPr>
        <p:txBody>
          <a:bodyPr wrap="square" lIns="0" tIns="0" rIns="0" bIns="0" rtlCol="0" anchor="t"/>
          <a:lstStyle/>
          <a:p>
            <a:pPr algn="l" indent="0" marL="0">
              <a:buNone/>
            </a:pPr>
            <a:r>
              <a:rPr lang="en-US" sz="900" b="1" spc="100" kern="0" dirty="0">
                <a:solidFill>
                  <a:srgbClr val="B0352A"/>
                </a:solidFill>
                <a:latin typeface="Calibri" pitchFamily="34" charset="0"/>
                <a:ea typeface="Calibri" pitchFamily="34" charset="-122"/>
                <a:cs typeface="Calibri" pitchFamily="34" charset="-120"/>
              </a:rPr>
              <a:t>COUNTERS</a:t>
            </a:r>
            <a:endParaRPr lang="en-US" sz="900" dirty="0"/>
          </a:p>
        </p:txBody>
      </p:sp>
      <p:sp>
        <p:nvSpPr>
          <p:cNvPr id="58" name="Text 55"/>
          <p:cNvSpPr txBox="1"/>
          <p:nvPr/>
        </p:nvSpPr>
        <p:spPr>
          <a:xfrm>
            <a:off x="9729216" y="5413248"/>
            <a:ext cx="1755648" cy="502920"/>
          </a:xfrm>
          <a:prstGeom prst="rect">
            <a:avLst/>
          </a:prstGeom>
          <a:noFill/>
          <a:ln/>
        </p:spPr>
        <p:txBody>
          <a:bodyPr wrap="square" lIns="0" tIns="0" rIns="0" bIns="0" rtlCol="0" anchor="t"/>
          <a:lstStyle/>
          <a:p>
            <a:pPr algn="l" indent="0" marL="0">
              <a:buNone/>
            </a:pPr>
            <a:r>
              <a:rPr lang="en-US" sz="1100" i="1" dirty="0">
                <a:solidFill>
                  <a:srgbClr val="1B2030"/>
                </a:solidFill>
                <a:latin typeface="Calibri" pitchFamily="34" charset="0"/>
                <a:ea typeface="Calibri" pitchFamily="34" charset="-122"/>
                <a:cs typeface="Calibri" pitchFamily="34" charset="-120"/>
              </a:rPr>
              <a:t>hiding or forking the evidence</a:t>
            </a:r>
            <a:endParaRPr lang="en-US" sz="1100" dirty="0"/>
          </a:p>
        </p:txBody>
      </p:sp>
      <p:sp>
        <p:nvSpPr>
          <p:cNvPr id="59" name="Text 56"/>
          <p:cNvSpPr txBox="1"/>
          <p:nvPr/>
        </p:nvSpPr>
        <p:spPr>
          <a:xfrm>
            <a:off x="548640" y="6053328"/>
            <a:ext cx="11109960" cy="365760"/>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Objective 6: explain every decision (FR-11). Out of scope: ≥ k colluding rebuilders, crypto breaks, kernel escapes, malicious source that all rebuilders reproduce.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IV. LITERATURE REVIEW</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Literature review (1 of 2)</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548640"/>
                <a:gridCol w="2148840"/>
                <a:gridCol w="4297680"/>
                <a:gridCol w="41148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Ref.</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Work · Venue</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contribution</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Gap addressed by Loom</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Ladisa et al., IEEE S&amp;P 2023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Attack-tree taxonomy: 107 attack vectors, 94 real incidents, 33 safeguards across the OSS supply chain.</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Catalogues safeguards but no single client-side system combines them; Loom composes five of them.</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Ladisa et al., ACSAC 2023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Language-independent ML features detect malicious npm/PyPI packages; found 58 previously unknown malicious packages.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Detection is probabilistic and evadable; Loom contains and verifies instead of classifying.</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Guo et al., ASE 2023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4,669 malicious package files; &gt;50% show multiple behaviours, with credential theft and command execution most common; 74.81% reached users via source installation.</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Source-install is the dominant infection path, which is exactly what AUR helpers do; motivates Heddle.</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Zhou et al., DSN 2025</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Largest dataset: 24,356 malicious packages; knowledge-graph analysis shows heavy code reuse and dependency-hidden malware.</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Security reports are the only reliable context source; ecosystems lack preventive, verifiable controls.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Przymus &amp; Durieux, MSR 2025</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Reconstructs the XZ Utils backdoor (CVE-2024-3094): a patient maintainer takeover plus build-script payload.</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Authority changes and build-time payloads are the attack surface; Loom's continuity + sandbox target both.</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Miller et al., ESEC/FSE 2023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Interviews with 33 developers: abandonment is common and users have no game plan for it.</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Abandoned (orphaned) packages are the entry point for adoption attacks; Loom detects the change of authority.</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Schorlemmer et al., IEEE S&amp;P 2024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Measures signing in Maven, PyPI, DockerHub and Hugging Face: adoption is low unless mandated, quality depends on tooling.</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Signing proves who published, not that the artifact matches its source; Loom adds k-of-n reproducible attestations.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Merrill et al., ACM CCS 2023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Identity-based signing with signer anonymity via zero-knowledge co-commitments; &lt;1 ms sign/verify.</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Requires registry cooperation; the AUR offers none, so Loom must work with zero cooperation (CON-1).</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IV. LITERATURE REVIEW</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Literature review (2 of 2)</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548640"/>
                <a:gridCol w="2148840"/>
                <a:gridCol w="4297680"/>
                <a:gridCol w="41148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Ref.</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Work · Venue</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contribution</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Gap addressed by Loom</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Abu Ishgair et al., 2024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Evaluates supply-chain defences by the attacks they actually stop; argues for layered, composable defences.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Supports Loom's defence-in-depth design, evaluated by ablation (E4).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Tamanna et al., 2024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1,523 SLSA issues across 233 repositories: complex implementation and unclear communication block adoption.</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Provenance frameworks need producer buy-in; Loom produces provenance itself via independent rebuilders.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Malka et al., ICSE-NIER 2024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Rebuilt 99.94% of 14k packages from a 6-year-old Nixpkgs revision; build environments can be reproduced.</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Shows independent rebuilding is feasible, which is the premise of Loom's Thread rebuilders.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Malka et al., MSR 2025</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Rebuilt 709,816 Nix packages: bitwise reproducibility is achievable at ecosystem scale.</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Reproducibility is measured but not turned into an install-time trust decision; Weave does that.</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Malvai et al., NDSS 2023</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Production-grade transparency log with witness-style consistency, without consensus.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Transparency without blockchain is practical; Loom applies it to build attestations (Warp).</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Len et al., USENIX Security 2024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Scalable transparency with smaller storage and strong consistency guarantees.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Confirms Merkle-log transparency scales; Loom adds split-view detection via witness cross-checks.</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Alhindi &amp; Hallett, SESoS 2024</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Fewer than 1% of packages directly use seccomp, Landlock, Capsicum, Pledge or Unveil.</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Sandboxing is rarely applied by developers; Loom applies it at the package manager for every build.</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530352">
                <a:tc>
                  <a:txBody>
                    <a:bodyPr/>
                    <a:lstStyle/>
                    <a:p>
                      <a:pPr algn="ctr" indent="0" marL="0">
                        <a:buNone/>
                      </a:pPr>
                      <a:r>
                        <a:rPr lang="en-US" sz="1100" b="1" dirty="0">
                          <a:solidFill>
                            <a:srgbClr val="4455C7"/>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Brandt et al., HICSS 2026</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Applies Landlock + seccomp to confine real scientific codes with low overhead.</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2B7651"/>
                          </a:solidFill>
                          <a:latin typeface="Calibri" pitchFamily="34" charset="0"/>
                          <a:ea typeface="Calibri" pitchFamily="34" charset="-122"/>
                          <a:cs typeface="Calibri" pitchFamily="34" charset="-120"/>
                        </a:rPr>
                        <a:t>Validates the unprivileged Landlock + seccomp combination that Heddle's reduced tier relies on.</a:t>
                      </a:r>
                      <a:endParaRPr lang="en-US" sz="1100" dirty="0">
                        <a:latin typeface="Calibri" charset="0"/>
                        <a:ea typeface="Calibri" charset="0"/>
                        <a:cs typeface="Calibri" charset="0"/>
                      </a:endParaRPr>
                    </a:p>
                  </a:txBody>
                  <a:tcPr marL="76200" marR="762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IV. LITERATURE REVIEW</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Research gap: no existing tool combines the defences</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3154680"/>
                <a:gridCol w="1280160"/>
                <a:gridCol w="1371600"/>
                <a:gridCol w="1463040"/>
                <a:gridCol w="1371600"/>
                <a:gridCol w="1463040"/>
                <a:gridCol w="100584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161B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yay / paru</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makepkg + chroot</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ML malware detection [2]–[4]</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Registry signing [7], [8]</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Reproducible builds [11], [12]</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Loom</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B7651"/>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Build runs without home/network access</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9C6A0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Independent k-of-n artifact verification</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9C6A0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Witnessed transparency log</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9C6A0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Detects change of publishing authority</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9C6A0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Quarantine of brand-new versions</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Blocks persistence placements (hooks, .pth)</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9C6A0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r h="457200">
                <a:tc>
                  <a:txBody>
                    <a:bodyPr/>
                    <a:lstStyle/>
                    <a:p>
                      <a:pPr indent="0" marL="0">
                        <a:buNone/>
                      </a:pPr>
                      <a:r>
                        <a:rPr lang="en-US" sz="1200" b="1" dirty="0">
                          <a:solidFill>
                            <a:srgbClr val="1B2030"/>
                          </a:solidFill>
                          <a:latin typeface="Calibri" pitchFamily="34" charset="0"/>
                          <a:ea typeface="Calibri" pitchFamily="34" charset="-122"/>
                          <a:cs typeface="Calibri" pitchFamily="34" charset="-120"/>
                        </a:rPr>
                        <a:t>Works with zero registry cooperation</a:t>
                      </a:r>
                      <a:endParaRPr lang="en-US" sz="12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035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9C6A06"/>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B765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63500" marB="635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DCEEE3"/>
                    </a:solidFill>
                  </a:tcPr>
                </a:tc>
              </a:tr>
            </a:tbl>
          </a:graphicData>
        </a:graphic>
      </p:graphicFrame>
      <p:sp>
        <p:nvSpPr>
          <p:cNvPr id="18" name="Text 14"/>
          <p:cNvSpPr txBox="1"/>
          <p:nvPr/>
        </p:nvSpPr>
        <p:spPr>
          <a:xfrm>
            <a:off x="548640" y="5989320"/>
            <a:ext cx="7315200" cy="274320"/>
          </a:xfrm>
          <a:prstGeom prst="rect">
            <a:avLst/>
          </a:prstGeom>
          <a:noFill/>
          <a:ln/>
        </p:spPr>
        <p:txBody>
          <a:bodyPr wrap="square" lIns="0" tIns="0" rIns="0" bIns="0" rtlCol="0" anchor="t"/>
          <a:lstStyle/>
          <a:p>
            <a:pPr algn="l" indent="0" marL="0">
              <a:buNone/>
            </a:pPr>
            <a:r>
              <a:rPr lang="en-US" sz="1100" i="1" dirty="0">
                <a:solidFill>
                  <a:srgbClr val="5B6275"/>
                </a:solidFill>
                <a:latin typeface="Calibri" pitchFamily="34" charset="0"/>
                <a:ea typeface="Calibri" pitchFamily="34" charset="-122"/>
                <a:cs typeface="Calibri" pitchFamily="34" charset="-120"/>
              </a:rPr>
              <a:t>✓ provided   ◐ partial / needs cooperation   ✗ not provided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 SYSTEM ARCHITECTURE</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8</a:t>
            </a:r>
            <a:endParaRPr lang="en-US" sz="900" dirty="0"/>
          </a:p>
        </p:txBody>
      </p:sp>
      <p:sp>
        <p:nvSpPr>
          <p:cNvPr id="17" name="Shape 14"/>
          <p:cNvSpPr/>
          <p:nvPr/>
        </p:nvSpPr>
        <p:spPr>
          <a:xfrm>
            <a:off x="2148840" y="1554480"/>
            <a:ext cx="3931920" cy="3886200"/>
          </a:xfrm>
          <a:prstGeom prst="roundRect">
            <a:avLst>
              <a:gd name="adj" fmla="val 2353"/>
            </a:avLst>
          </a:prstGeom>
          <a:solidFill>
            <a:srgbClr val="E9ECF8"/>
          </a:solidFill>
          <a:ln w="19050">
            <a:solidFill>
              <a:srgbClr val="2E3A8C"/>
            </a:solidFill>
            <a:prstDash val="dash"/>
          </a:ln>
        </p:spPr>
      </p:sp>
      <p:sp>
        <p:nvSpPr>
          <p:cNvPr id="18" name="Text 15"/>
          <p:cNvSpPr txBox="1"/>
          <p:nvPr/>
        </p:nvSpPr>
        <p:spPr>
          <a:xfrm>
            <a:off x="2286000" y="1627632"/>
            <a:ext cx="3657600" cy="274320"/>
          </a:xfrm>
          <a:prstGeom prst="rect">
            <a:avLst/>
          </a:prstGeom>
          <a:noFill/>
          <a:ln/>
        </p:spPr>
        <p:txBody>
          <a:bodyPr wrap="square" lIns="0" tIns="0" rIns="0" bIns="0" rtlCol="0" anchor="t"/>
          <a:lstStyle/>
          <a:p>
            <a:pPr algn="l" indent="0" marL="0">
              <a:buNone/>
            </a:pPr>
            <a:r>
              <a:rPr lang="en-US" sz="1150" b="1" dirty="0">
                <a:solidFill>
                  <a:srgbClr val="2E3A8C"/>
                </a:solidFill>
                <a:latin typeface="Calibri" pitchFamily="34" charset="0"/>
                <a:ea typeface="Calibri" pitchFamily="34" charset="-122"/>
                <a:cs typeface="Calibri" pitchFamily="34" charset="-120"/>
              </a:rPr>
              <a:t>loom client  (trusted computing base)</a:t>
            </a:r>
            <a:endParaRPr lang="en-US" sz="1150" dirty="0"/>
          </a:p>
        </p:txBody>
      </p:sp>
      <p:sp>
        <p:nvSpPr>
          <p:cNvPr id="19" name="Text 16"/>
          <p:cNvSpPr txBox="1"/>
          <p:nvPr/>
        </p:nvSpPr>
        <p:spPr>
          <a:xfrm>
            <a:off x="2377440" y="2011680"/>
            <a:ext cx="1737360" cy="685800"/>
          </a:xfrm>
          <a:prstGeom prst="roundRect">
            <a:avLst>
              <a:gd name="adj" fmla="val 8000"/>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Weave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policy engine</a:t>
            </a:r>
            <a:endParaRPr lang="en-US" sz="1300" dirty="0"/>
          </a:p>
        </p:txBody>
      </p:sp>
      <p:sp>
        <p:nvSpPr>
          <p:cNvPr id="20" name="Text 17"/>
          <p:cNvSpPr txBox="1"/>
          <p:nvPr/>
        </p:nvSpPr>
        <p:spPr>
          <a:xfrm>
            <a:off x="4160520" y="2011680"/>
            <a:ext cx="1737360" cy="685800"/>
          </a:xfrm>
          <a:prstGeom prst="roundRect">
            <a:avLst>
              <a:gd name="adj" fmla="val 8000"/>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Heddle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build sandbox</a:t>
            </a:r>
            <a:endParaRPr lang="en-US" sz="1300" dirty="0"/>
          </a:p>
        </p:txBody>
      </p:sp>
      <p:sp>
        <p:nvSpPr>
          <p:cNvPr id="21" name="Text 18"/>
          <p:cNvSpPr txBox="1"/>
          <p:nvPr/>
        </p:nvSpPr>
        <p:spPr>
          <a:xfrm>
            <a:off x="2377440" y="2834640"/>
            <a:ext cx="1737360" cy="685800"/>
          </a:xfrm>
          <a:prstGeom prst="roundRect">
            <a:avLst>
              <a:gd name="adj" fmla="val 8000"/>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Warp client</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verify log + proofs</a:t>
            </a:r>
            <a:endParaRPr lang="en-US" sz="1300" dirty="0"/>
          </a:p>
        </p:txBody>
      </p:sp>
      <p:sp>
        <p:nvSpPr>
          <p:cNvPr id="22" name="Text 19"/>
          <p:cNvSpPr txBox="1"/>
          <p:nvPr/>
        </p:nvSpPr>
        <p:spPr>
          <a:xfrm>
            <a:off x="4160520" y="2834640"/>
            <a:ext cx="1737360" cy="685800"/>
          </a:xfrm>
          <a:prstGeom prst="roundRect">
            <a:avLst>
              <a:gd name="adj" fmla="val 8000"/>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Shuttle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fetch by hash</a:t>
            </a:r>
            <a:endParaRPr lang="en-US" sz="1300" dirty="0"/>
          </a:p>
        </p:txBody>
      </p:sp>
      <p:sp>
        <p:nvSpPr>
          <p:cNvPr id="23" name="Text 20"/>
          <p:cNvSpPr txBox="1"/>
          <p:nvPr/>
        </p:nvSpPr>
        <p:spPr>
          <a:xfrm>
            <a:off x="2377440" y="3657600"/>
            <a:ext cx="3520440" cy="640080"/>
          </a:xfrm>
          <a:prstGeom prst="roundRect">
            <a:avLst>
              <a:gd name="adj" fmla="val 8571"/>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AUR backend (ecosystem seam)</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.SRCINFO parsing · git · vercmp</a:t>
            </a:r>
            <a:endParaRPr lang="en-US" sz="1300" dirty="0"/>
          </a:p>
        </p:txBody>
      </p:sp>
      <p:sp>
        <p:nvSpPr>
          <p:cNvPr id="24" name="Text 21"/>
          <p:cNvSpPr txBox="1"/>
          <p:nvPr/>
        </p:nvSpPr>
        <p:spPr>
          <a:xfrm>
            <a:off x="2377440" y="4480560"/>
            <a:ext cx="3520440" cy="731520"/>
          </a:xfrm>
          <a:prstGeom prst="roundRect">
            <a:avLst>
              <a:gd name="adj" fmla="val 7500"/>
            </a:avLst>
          </a:prstGeom>
          <a:solidFill>
            <a:srgbClr val="FFFFFF"/>
          </a:solidFill>
          <a:ln w="15875">
            <a:solidFill>
              <a:srgbClr val="5B6275"/>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State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install DB · continuity baselines · overrides · verified log head</a:t>
            </a:r>
            <a:endParaRPr lang="en-US" sz="1300" dirty="0"/>
          </a:p>
        </p:txBody>
      </p:sp>
      <p:sp>
        <p:nvSpPr>
          <p:cNvPr id="25" name="Text 22"/>
          <p:cNvSpPr txBox="1"/>
          <p:nvPr/>
        </p:nvSpPr>
        <p:spPr>
          <a:xfrm>
            <a:off x="548640" y="2834640"/>
            <a:ext cx="1188720" cy="731520"/>
          </a:xfrm>
          <a:prstGeom prst="roundRect">
            <a:avLst>
              <a:gd name="adj" fmla="val 7500"/>
            </a:avLst>
          </a:prstGeom>
          <a:solidFill>
            <a:srgbClr val="161B33"/>
          </a:solidFill>
          <a:ln w="15875">
            <a:solidFill>
              <a:srgbClr val="161B33"/>
            </a:solidFill>
            <a:prstDash val="solid"/>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a:p>
            <a:pPr algn="ctr" indent="0" marL="0">
              <a:buNone/>
            </a:pPr>
            <a:r>
              <a:rPr lang="en-US" sz="1000" dirty="0">
                <a:solidFill>
                  <a:srgbClr val="AEB6DA"/>
                </a:solidFill>
                <a:latin typeface="Calibri" pitchFamily="34" charset="0"/>
                <a:ea typeface="Calibri" pitchFamily="34" charset="-122"/>
                <a:cs typeface="Calibri" pitchFamily="34" charset="-120"/>
              </a:rPr>
              <a:t>loom CLI</a:t>
            </a:r>
            <a:endParaRPr lang="en-US" sz="1300" dirty="0"/>
          </a:p>
        </p:txBody>
      </p:sp>
      <p:sp>
        <p:nvSpPr>
          <p:cNvPr id="26" name="Shape 23"/>
          <p:cNvSpPr/>
          <p:nvPr/>
        </p:nvSpPr>
        <p:spPr>
          <a:xfrm>
            <a:off x="1737360" y="3200400"/>
            <a:ext cx="411480" cy="0"/>
          </a:xfrm>
          <a:prstGeom prst="line">
            <a:avLst/>
          </a:prstGeom>
          <a:noFill/>
          <a:ln w="19050">
            <a:solidFill>
              <a:srgbClr val="161B33"/>
            </a:solidFill>
            <a:prstDash val="solid"/>
            <a:headEnd type="triangle"/>
            <a:tailEnd type="triangle"/>
          </a:ln>
        </p:spPr>
      </p:sp>
      <p:sp>
        <p:nvSpPr>
          <p:cNvPr id="27" name="Text 24"/>
          <p:cNvSpPr txBox="1"/>
          <p:nvPr/>
        </p:nvSpPr>
        <p:spPr>
          <a:xfrm>
            <a:off x="6675120" y="1554480"/>
            <a:ext cx="1828800" cy="685800"/>
          </a:xfrm>
          <a:prstGeom prst="roundRect">
            <a:avLst>
              <a:gd name="adj" fmla="val 8000"/>
            </a:avLst>
          </a:prstGeom>
          <a:solidFill>
            <a:srgbClr val="FFFFFF"/>
          </a:solidFill>
          <a:ln w="15875">
            <a:solidFill>
              <a:srgbClr val="5B6275"/>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AUR</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RPC + git (read-only)</a:t>
            </a:r>
            <a:endParaRPr lang="en-US" sz="1300" dirty="0"/>
          </a:p>
        </p:txBody>
      </p:sp>
      <p:sp>
        <p:nvSpPr>
          <p:cNvPr id="28" name="Text 25"/>
          <p:cNvSpPr txBox="1"/>
          <p:nvPr/>
        </p:nvSpPr>
        <p:spPr>
          <a:xfrm>
            <a:off x="6675120" y="2514600"/>
            <a:ext cx="1828800" cy="1097280"/>
          </a:xfrm>
          <a:prstGeom prst="roundRect">
            <a:avLst>
              <a:gd name="adj" fmla="val 5000"/>
            </a:avLst>
          </a:prstGeom>
          <a:solidFill>
            <a:srgbClr val="FFFFFF"/>
          </a:solidFill>
          <a:ln w="15875">
            <a:solidFill>
              <a:srgbClr val="3B5BDB"/>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Thread rebuilders ×3</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3 orgs · 3 toolchains</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build twice, sign in-toto</a:t>
            </a:r>
            <a:endParaRPr lang="en-US" sz="1300" dirty="0"/>
          </a:p>
        </p:txBody>
      </p:sp>
      <p:sp>
        <p:nvSpPr>
          <p:cNvPr id="29" name="Text 26"/>
          <p:cNvSpPr txBox="1"/>
          <p:nvPr/>
        </p:nvSpPr>
        <p:spPr>
          <a:xfrm>
            <a:off x="6675120" y="3931920"/>
            <a:ext cx="1828800" cy="822960"/>
          </a:xfrm>
          <a:prstGeom prst="roundRect">
            <a:avLst>
              <a:gd name="adj" fmla="val 6667"/>
            </a:avLst>
          </a:prstGeom>
          <a:solidFill>
            <a:srgbClr val="FFFFFF"/>
          </a:solidFill>
          <a:ln w="15875">
            <a:solidFill>
              <a:srgbClr val="0B8A8E"/>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Shuttle peers</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content-addressed store</a:t>
            </a:r>
            <a:endParaRPr lang="en-US" sz="1300" dirty="0"/>
          </a:p>
        </p:txBody>
      </p:sp>
      <p:sp>
        <p:nvSpPr>
          <p:cNvPr id="30" name="Text 27"/>
          <p:cNvSpPr txBox="1"/>
          <p:nvPr/>
        </p:nvSpPr>
        <p:spPr>
          <a:xfrm>
            <a:off x="9464040" y="1417320"/>
            <a:ext cx="2194560" cy="777240"/>
          </a:xfrm>
          <a:prstGeom prst="roundRect">
            <a:avLst>
              <a:gd name="adj" fmla="val 7059"/>
            </a:avLst>
          </a:prstGeom>
          <a:solidFill>
            <a:srgbClr val="FFFFFF"/>
          </a:solidFill>
          <a:ln w="15875">
            <a:solidFill>
              <a:srgbClr val="2B7651"/>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Witnesses ×3</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verify consistency, cosign</a:t>
            </a:r>
            <a:endParaRPr lang="en-US" sz="1300" dirty="0"/>
          </a:p>
        </p:txBody>
      </p:sp>
      <p:sp>
        <p:nvSpPr>
          <p:cNvPr id="31" name="Text 28"/>
          <p:cNvSpPr txBox="1"/>
          <p:nvPr/>
        </p:nvSpPr>
        <p:spPr>
          <a:xfrm>
            <a:off x="9464040" y="2514600"/>
            <a:ext cx="2194560" cy="1097280"/>
          </a:xfrm>
          <a:prstGeom prst="roundRect">
            <a:avLst>
              <a:gd name="adj" fmla="val 5000"/>
            </a:avLst>
          </a:prstGeom>
          <a:solidFill>
            <a:srgbClr val="FFFFFF"/>
          </a:solidFill>
          <a:ln w="25400">
            <a:solidFill>
              <a:srgbClr val="2E3A8C"/>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Warp log</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append-only Merkle tree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signed checkpoints</a:t>
            </a:r>
            <a:endParaRPr lang="en-US" sz="1300" dirty="0"/>
          </a:p>
        </p:txBody>
      </p:sp>
      <p:sp>
        <p:nvSpPr>
          <p:cNvPr id="32" name="Text 29"/>
          <p:cNvSpPr txBox="1"/>
          <p:nvPr/>
        </p:nvSpPr>
        <p:spPr>
          <a:xfrm>
            <a:off x="2148840" y="5669280"/>
            <a:ext cx="1874520" cy="548640"/>
          </a:xfrm>
          <a:prstGeom prst="roundRect">
            <a:avLst>
              <a:gd name="adj" fmla="val 10000"/>
            </a:avLst>
          </a:prstGeom>
          <a:solidFill>
            <a:srgbClr val="FFFFFF"/>
          </a:solidFill>
          <a:ln w="15875">
            <a:solidFill>
              <a:srgbClr val="5B6275"/>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pacman</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final install</a:t>
            </a:r>
            <a:endParaRPr lang="en-US" sz="1300" dirty="0"/>
          </a:p>
        </p:txBody>
      </p:sp>
      <p:sp>
        <p:nvSpPr>
          <p:cNvPr id="33" name="Text 30"/>
          <p:cNvSpPr txBox="1"/>
          <p:nvPr/>
        </p:nvSpPr>
        <p:spPr>
          <a:xfrm>
            <a:off x="4206240" y="5669280"/>
            <a:ext cx="1874520" cy="548640"/>
          </a:xfrm>
          <a:prstGeom prst="roundRect">
            <a:avLst>
              <a:gd name="adj" fmla="val 10000"/>
            </a:avLst>
          </a:prstGeom>
          <a:solidFill>
            <a:srgbClr val="FFFFFF"/>
          </a:solidFill>
          <a:ln w="15875">
            <a:solidFill>
              <a:srgbClr val="5B6275"/>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Linux kernel</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ns · Landlock · seccomp</a:t>
            </a:r>
            <a:endParaRPr lang="en-US" sz="1300" dirty="0"/>
          </a:p>
        </p:txBody>
      </p:sp>
      <p:sp>
        <p:nvSpPr>
          <p:cNvPr id="34" name="Shape 31"/>
          <p:cNvSpPr/>
          <p:nvPr/>
        </p:nvSpPr>
        <p:spPr>
          <a:xfrm flipH="1">
            <a:off x="6080760" y="1892808"/>
            <a:ext cx="594360" cy="0"/>
          </a:xfrm>
          <a:prstGeom prst="line">
            <a:avLst/>
          </a:prstGeom>
          <a:noFill/>
          <a:ln w="19050">
            <a:solidFill>
              <a:srgbClr val="5B6275"/>
            </a:solidFill>
            <a:prstDash val="solid"/>
            <a:tailEnd type="triangle"/>
          </a:ln>
        </p:spPr>
      </p:sp>
      <p:sp>
        <p:nvSpPr>
          <p:cNvPr id="35" name="Text 32"/>
          <p:cNvSpPr txBox="1"/>
          <p:nvPr/>
        </p:nvSpPr>
        <p:spPr>
          <a:xfrm>
            <a:off x="6053328" y="1627632"/>
            <a:ext cx="640080" cy="228600"/>
          </a:xfrm>
          <a:prstGeom prst="rect">
            <a:avLst/>
          </a:prstGeom>
          <a:noFill/>
          <a:ln/>
        </p:spPr>
        <p:txBody>
          <a:bodyPr wrap="square" lIns="0" tIns="0" rIns="0" bIns="0" rtlCol="0" anchor="t"/>
          <a:lstStyle/>
          <a:p>
            <a:pPr algn="ctr" indent="0" marL="0">
              <a:buNone/>
            </a:pPr>
            <a:r>
              <a:rPr lang="en-US" sz="950" i="1" dirty="0">
                <a:solidFill>
                  <a:srgbClr val="5B6275"/>
                </a:solidFill>
                <a:latin typeface="Calibri" pitchFamily="34" charset="0"/>
                <a:ea typeface="Calibri" pitchFamily="34" charset="-122"/>
                <a:cs typeface="Calibri" pitchFamily="34" charset="-120"/>
              </a:rPr>
              <a:t>recipes</a:t>
            </a:r>
            <a:endParaRPr lang="en-US" sz="950" dirty="0"/>
          </a:p>
        </p:txBody>
      </p:sp>
      <p:sp>
        <p:nvSpPr>
          <p:cNvPr id="36" name="Shape 33"/>
          <p:cNvSpPr/>
          <p:nvPr/>
        </p:nvSpPr>
        <p:spPr>
          <a:xfrm>
            <a:off x="7589520" y="2240280"/>
            <a:ext cx="0" cy="274320"/>
          </a:xfrm>
          <a:prstGeom prst="line">
            <a:avLst/>
          </a:prstGeom>
          <a:noFill/>
          <a:ln w="19050">
            <a:solidFill>
              <a:srgbClr val="5B6275"/>
            </a:solidFill>
            <a:prstDash val="solid"/>
            <a:tailEnd type="triangle"/>
          </a:ln>
        </p:spPr>
      </p:sp>
      <p:sp>
        <p:nvSpPr>
          <p:cNvPr id="37" name="Shape 34"/>
          <p:cNvSpPr/>
          <p:nvPr/>
        </p:nvSpPr>
        <p:spPr>
          <a:xfrm>
            <a:off x="8503920" y="3063240"/>
            <a:ext cx="960120" cy="0"/>
          </a:xfrm>
          <a:prstGeom prst="line">
            <a:avLst/>
          </a:prstGeom>
          <a:noFill/>
          <a:ln w="25400">
            <a:solidFill>
              <a:srgbClr val="3B5BDB"/>
            </a:solidFill>
            <a:prstDash val="solid"/>
            <a:tailEnd type="triangle"/>
          </a:ln>
        </p:spPr>
      </p:sp>
      <p:sp>
        <p:nvSpPr>
          <p:cNvPr id="38" name="Text 35"/>
          <p:cNvSpPr txBox="1"/>
          <p:nvPr/>
        </p:nvSpPr>
        <p:spPr>
          <a:xfrm>
            <a:off x="8485632" y="2788920"/>
            <a:ext cx="1005840" cy="228600"/>
          </a:xfrm>
          <a:prstGeom prst="rect">
            <a:avLst/>
          </a:prstGeom>
          <a:noFill/>
          <a:ln/>
        </p:spPr>
        <p:txBody>
          <a:bodyPr wrap="square" lIns="0" tIns="0" rIns="0" bIns="0" rtlCol="0" anchor="t"/>
          <a:lstStyle/>
          <a:p>
            <a:pPr algn="ctr" indent="0" marL="0">
              <a:buNone/>
            </a:pPr>
            <a:r>
              <a:rPr lang="en-US" sz="950" i="1" dirty="0">
                <a:solidFill>
                  <a:srgbClr val="3B5BDB"/>
                </a:solidFill>
                <a:latin typeface="Calibri" pitchFamily="34" charset="0"/>
                <a:ea typeface="Calibri" pitchFamily="34" charset="-122"/>
                <a:cs typeface="Calibri" pitchFamily="34" charset="-120"/>
              </a:rPr>
              <a:t>attestations</a:t>
            </a:r>
            <a:endParaRPr lang="en-US" sz="950" dirty="0"/>
          </a:p>
        </p:txBody>
      </p:sp>
      <p:sp>
        <p:nvSpPr>
          <p:cNvPr id="39" name="Shape 36"/>
          <p:cNvSpPr/>
          <p:nvPr/>
        </p:nvSpPr>
        <p:spPr>
          <a:xfrm>
            <a:off x="10561320" y="2194560"/>
            <a:ext cx="0" cy="320040"/>
          </a:xfrm>
          <a:prstGeom prst="line">
            <a:avLst/>
          </a:prstGeom>
          <a:noFill/>
          <a:ln w="25400">
            <a:solidFill>
              <a:srgbClr val="2B7651"/>
            </a:solidFill>
            <a:prstDash val="solid"/>
            <a:headEnd type="triangle"/>
            <a:tailEnd type="triangle"/>
          </a:ln>
        </p:spPr>
      </p:sp>
      <p:sp>
        <p:nvSpPr>
          <p:cNvPr id="40" name="Text 37"/>
          <p:cNvSpPr txBox="1"/>
          <p:nvPr/>
        </p:nvSpPr>
        <p:spPr>
          <a:xfrm>
            <a:off x="10652760" y="2231136"/>
            <a:ext cx="731520" cy="228600"/>
          </a:xfrm>
          <a:prstGeom prst="rect">
            <a:avLst/>
          </a:prstGeom>
          <a:noFill/>
          <a:ln/>
        </p:spPr>
        <p:txBody>
          <a:bodyPr wrap="square" lIns="0" tIns="0" rIns="0" bIns="0" rtlCol="0" anchor="t"/>
          <a:lstStyle/>
          <a:p>
            <a:pPr algn="l" indent="0" marL="0">
              <a:buNone/>
            </a:pPr>
            <a:r>
              <a:rPr lang="en-US" sz="950" i="1" dirty="0">
                <a:solidFill>
                  <a:srgbClr val="2B7651"/>
                </a:solidFill>
                <a:latin typeface="Calibri" pitchFamily="34" charset="0"/>
                <a:ea typeface="Calibri" pitchFamily="34" charset="-122"/>
                <a:cs typeface="Calibri" pitchFamily="34" charset="-120"/>
              </a:rPr>
              <a:t>cosign</a:t>
            </a:r>
            <a:endParaRPr lang="en-US" sz="950" dirty="0"/>
          </a:p>
        </p:txBody>
      </p:sp>
      <p:sp>
        <p:nvSpPr>
          <p:cNvPr id="41" name="Shape 38"/>
          <p:cNvSpPr/>
          <p:nvPr/>
        </p:nvSpPr>
        <p:spPr>
          <a:xfrm>
            <a:off x="7589520" y="3611880"/>
            <a:ext cx="0" cy="320040"/>
          </a:xfrm>
          <a:prstGeom prst="line">
            <a:avLst/>
          </a:prstGeom>
          <a:noFill/>
          <a:ln w="19050">
            <a:solidFill>
              <a:srgbClr val="0B8A8E"/>
            </a:solidFill>
            <a:prstDash val="solid"/>
            <a:tailEnd type="triangle"/>
          </a:ln>
        </p:spPr>
      </p:sp>
      <p:sp>
        <p:nvSpPr>
          <p:cNvPr id="42" name="Shape 39"/>
          <p:cNvSpPr/>
          <p:nvPr/>
        </p:nvSpPr>
        <p:spPr>
          <a:xfrm flipH="1">
            <a:off x="6080760" y="4343400"/>
            <a:ext cx="594360" cy="0"/>
          </a:xfrm>
          <a:prstGeom prst="line">
            <a:avLst/>
          </a:prstGeom>
          <a:noFill/>
          <a:ln w="25400">
            <a:solidFill>
              <a:srgbClr val="0B8A8E"/>
            </a:solidFill>
            <a:prstDash val="solid"/>
            <a:tailEnd type="triangle"/>
          </a:ln>
        </p:spPr>
      </p:sp>
      <p:sp>
        <p:nvSpPr>
          <p:cNvPr id="43" name="Text 40"/>
          <p:cNvSpPr txBox="1"/>
          <p:nvPr/>
        </p:nvSpPr>
        <p:spPr>
          <a:xfrm>
            <a:off x="6053328" y="4389120"/>
            <a:ext cx="640080" cy="228600"/>
          </a:xfrm>
          <a:prstGeom prst="rect">
            <a:avLst/>
          </a:prstGeom>
          <a:noFill/>
          <a:ln/>
        </p:spPr>
        <p:txBody>
          <a:bodyPr wrap="square" lIns="0" tIns="0" rIns="0" bIns="0" rtlCol="0" anchor="t"/>
          <a:lstStyle/>
          <a:p>
            <a:pPr algn="ctr" indent="0" marL="0">
              <a:buNone/>
            </a:pPr>
            <a:r>
              <a:rPr lang="en-US" sz="950" i="1" dirty="0">
                <a:solidFill>
                  <a:srgbClr val="0B8A8E"/>
                </a:solidFill>
                <a:latin typeface="Calibri" pitchFamily="34" charset="0"/>
                <a:ea typeface="Calibri" pitchFamily="34" charset="-122"/>
                <a:cs typeface="Calibri" pitchFamily="34" charset="-120"/>
              </a:rPr>
              <a:t>artifacts</a:t>
            </a:r>
            <a:endParaRPr lang="en-US" sz="950" dirty="0"/>
          </a:p>
        </p:txBody>
      </p:sp>
      <p:sp>
        <p:nvSpPr>
          <p:cNvPr id="44" name="Shape 41"/>
          <p:cNvSpPr/>
          <p:nvPr/>
        </p:nvSpPr>
        <p:spPr>
          <a:xfrm>
            <a:off x="10561320" y="3611880"/>
            <a:ext cx="0" cy="1554480"/>
          </a:xfrm>
          <a:prstGeom prst="line">
            <a:avLst/>
          </a:prstGeom>
          <a:noFill/>
          <a:ln w="25400">
            <a:solidFill>
              <a:srgbClr val="2E3A8C"/>
            </a:solidFill>
            <a:prstDash val="solid"/>
          </a:ln>
        </p:spPr>
      </p:sp>
      <p:sp>
        <p:nvSpPr>
          <p:cNvPr id="45" name="Shape 42"/>
          <p:cNvSpPr/>
          <p:nvPr/>
        </p:nvSpPr>
        <p:spPr>
          <a:xfrm flipH="1">
            <a:off x="6080760" y="5166360"/>
            <a:ext cx="4480560" cy="0"/>
          </a:xfrm>
          <a:prstGeom prst="line">
            <a:avLst/>
          </a:prstGeom>
          <a:noFill/>
          <a:ln w="25400">
            <a:solidFill>
              <a:srgbClr val="2E3A8C"/>
            </a:solidFill>
            <a:prstDash val="solid"/>
            <a:tailEnd type="triangle"/>
          </a:ln>
        </p:spPr>
      </p:sp>
      <p:sp>
        <p:nvSpPr>
          <p:cNvPr id="46" name="Text 43"/>
          <p:cNvSpPr txBox="1"/>
          <p:nvPr/>
        </p:nvSpPr>
        <p:spPr>
          <a:xfrm>
            <a:off x="6400800" y="4873752"/>
            <a:ext cx="4023360" cy="228600"/>
          </a:xfrm>
          <a:prstGeom prst="rect">
            <a:avLst/>
          </a:prstGeom>
          <a:noFill/>
          <a:ln/>
        </p:spPr>
        <p:txBody>
          <a:bodyPr wrap="square" lIns="0" tIns="0" rIns="0" bIns="0" rtlCol="0" anchor="t"/>
          <a:lstStyle/>
          <a:p>
            <a:pPr algn="ctr" indent="0" marL="0">
              <a:buNone/>
            </a:pPr>
            <a:r>
              <a:rPr lang="en-US" sz="950" i="1" dirty="0">
                <a:solidFill>
                  <a:srgbClr val="2E3A8C"/>
                </a:solidFill>
                <a:latin typeface="Calibri" pitchFamily="34" charset="0"/>
                <a:ea typeface="Calibri" pitchFamily="34" charset="-122"/>
                <a:cs typeface="Calibri" pitchFamily="34" charset="-120"/>
              </a:rPr>
              <a:t>signed checkpoint + cosignatures + inclusion/consistency proofs</a:t>
            </a:r>
            <a:endParaRPr lang="en-US" sz="950" dirty="0"/>
          </a:p>
        </p:txBody>
      </p:sp>
      <p:sp>
        <p:nvSpPr>
          <p:cNvPr id="47" name="Shape 44"/>
          <p:cNvSpPr/>
          <p:nvPr/>
        </p:nvSpPr>
        <p:spPr>
          <a:xfrm>
            <a:off x="3108960" y="5440680"/>
            <a:ext cx="0" cy="228600"/>
          </a:xfrm>
          <a:prstGeom prst="line">
            <a:avLst/>
          </a:prstGeom>
          <a:noFill/>
          <a:ln w="19050">
            <a:solidFill>
              <a:srgbClr val="5B6275"/>
            </a:solidFill>
            <a:prstDash val="solid"/>
            <a:tailEnd type="triangle"/>
          </a:ln>
        </p:spPr>
      </p:sp>
      <p:sp>
        <p:nvSpPr>
          <p:cNvPr id="48" name="Shape 45"/>
          <p:cNvSpPr/>
          <p:nvPr/>
        </p:nvSpPr>
        <p:spPr>
          <a:xfrm>
            <a:off x="5120640" y="5440680"/>
            <a:ext cx="0" cy="228600"/>
          </a:xfrm>
          <a:prstGeom prst="line">
            <a:avLst/>
          </a:prstGeom>
          <a:noFill/>
          <a:ln w="19050">
            <a:solidFill>
              <a:srgbClr val="5B6275"/>
            </a:solidFill>
            <a:prstDash val="solid"/>
            <a:tailEnd type="triangle"/>
          </a:ln>
        </p:spPr>
      </p:sp>
      <p:sp>
        <p:nvSpPr>
          <p:cNvPr id="49" name="Text 46"/>
          <p:cNvSpPr txBox="1"/>
          <p:nvPr/>
        </p:nvSpPr>
        <p:spPr>
          <a:xfrm>
            <a:off x="6675120" y="5623560"/>
            <a:ext cx="4983480" cy="548640"/>
          </a:xfrm>
          <a:prstGeom prst="rect">
            <a:avLst/>
          </a:prstGeom>
          <a:noFill/>
          <a:ln/>
        </p:spPr>
        <p:txBody>
          <a:bodyPr wrap="square" lIns="0" tIns="0" rIns="0" bIns="0" rtlCol="0" anchor="t"/>
          <a:lstStyle/>
          <a:p>
            <a:pPr algn="l" indent="0" marL="0">
              <a:buNone/>
            </a:pPr>
            <a:r>
              <a:rPr lang="en-US" sz="1150" i="1" dirty="0">
                <a:solidFill>
                  <a:srgbClr val="5B6275"/>
                </a:solidFill>
                <a:latin typeface="Calibri" pitchFamily="34" charset="0"/>
                <a:ea typeface="Calibri" pitchFamily="34" charset="-122"/>
                <a:cs typeface="Calibri" pitchFamily="34" charset="-120"/>
              </a:rPr>
              <a:t>Every arrow into the client carries data that is verified by hash or signature before use (FR-2.6, NFR-SEC-1).</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VI. METHODOLOGY</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Install flow: decide before anything runs</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9</a:t>
            </a:r>
            <a:endParaRPr lang="en-US" sz="900" dirty="0"/>
          </a:p>
        </p:txBody>
      </p:sp>
      <p:sp>
        <p:nvSpPr>
          <p:cNvPr id="17" name="Text 14"/>
          <p:cNvSpPr txBox="1"/>
          <p:nvPr/>
        </p:nvSpPr>
        <p:spPr>
          <a:xfrm>
            <a:off x="548640" y="1737360"/>
            <a:ext cx="2331720" cy="1005840"/>
          </a:xfrm>
          <a:prstGeom prst="roundRect">
            <a:avLst>
              <a:gd name="adj" fmla="val 5455"/>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1. Resolve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AUR RPC; deps first</a:t>
            </a:r>
            <a:endParaRPr lang="en-US" sz="1300" dirty="0"/>
          </a:p>
        </p:txBody>
      </p:sp>
      <p:sp>
        <p:nvSpPr>
          <p:cNvPr id="18" name="Shape 15"/>
          <p:cNvSpPr/>
          <p:nvPr/>
        </p:nvSpPr>
        <p:spPr>
          <a:xfrm>
            <a:off x="2880360" y="2240280"/>
            <a:ext cx="502920" cy="0"/>
          </a:xfrm>
          <a:prstGeom prst="line">
            <a:avLst/>
          </a:prstGeom>
          <a:noFill/>
          <a:ln w="22225">
            <a:solidFill>
              <a:srgbClr val="4455C7"/>
            </a:solidFill>
            <a:prstDash val="solid"/>
            <a:tailEnd type="triangle"/>
          </a:ln>
        </p:spPr>
      </p:sp>
      <p:sp>
        <p:nvSpPr>
          <p:cNvPr id="19" name="Text 16"/>
          <p:cNvSpPr txBox="1"/>
          <p:nvPr/>
        </p:nvSpPr>
        <p:spPr>
          <a:xfrm>
            <a:off x="3383280" y="1737360"/>
            <a:ext cx="2331720" cy="1005840"/>
          </a:xfrm>
          <a:prstGeom prst="roundRect">
            <a:avLst>
              <a:gd name="adj" fmla="val 5455"/>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2. Fetch recipe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parse .SRCINFO — no code runs</a:t>
            </a:r>
            <a:endParaRPr lang="en-US" sz="1300" dirty="0"/>
          </a:p>
        </p:txBody>
      </p:sp>
      <p:sp>
        <p:nvSpPr>
          <p:cNvPr id="20" name="Shape 17"/>
          <p:cNvSpPr/>
          <p:nvPr/>
        </p:nvSpPr>
        <p:spPr>
          <a:xfrm>
            <a:off x="5715000" y="2240280"/>
            <a:ext cx="502920" cy="0"/>
          </a:xfrm>
          <a:prstGeom prst="line">
            <a:avLst/>
          </a:prstGeom>
          <a:noFill/>
          <a:ln w="22225">
            <a:solidFill>
              <a:srgbClr val="4455C7"/>
            </a:solidFill>
            <a:prstDash val="solid"/>
            <a:tailEnd type="triangle"/>
          </a:ln>
        </p:spPr>
      </p:sp>
      <p:sp>
        <p:nvSpPr>
          <p:cNvPr id="21" name="Text 18"/>
          <p:cNvSpPr txBox="1"/>
          <p:nvPr/>
        </p:nvSpPr>
        <p:spPr>
          <a:xfrm>
            <a:off x="6217920" y="1737360"/>
            <a:ext cx="2331720" cy="1005840"/>
          </a:xfrm>
          <a:prstGeom prst="roundRect">
            <a:avLst>
              <a:gd name="adj" fmla="val 5455"/>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3. Gather evidence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log · attestations · continuity · quarantine · advisories</a:t>
            </a:r>
            <a:endParaRPr lang="en-US" sz="1300" dirty="0"/>
          </a:p>
        </p:txBody>
      </p:sp>
      <p:sp>
        <p:nvSpPr>
          <p:cNvPr id="22" name="Shape 19"/>
          <p:cNvSpPr/>
          <p:nvPr/>
        </p:nvSpPr>
        <p:spPr>
          <a:xfrm>
            <a:off x="8549640" y="2240280"/>
            <a:ext cx="502920" cy="0"/>
          </a:xfrm>
          <a:prstGeom prst="line">
            <a:avLst/>
          </a:prstGeom>
          <a:noFill/>
          <a:ln w="22225">
            <a:solidFill>
              <a:srgbClr val="4455C7"/>
            </a:solidFill>
            <a:prstDash val="solid"/>
            <a:tailEnd type="triangle"/>
          </a:ln>
        </p:spPr>
      </p:sp>
      <p:sp>
        <p:nvSpPr>
          <p:cNvPr id="23" name="Text 20"/>
          <p:cNvSpPr txBox="1"/>
          <p:nvPr/>
        </p:nvSpPr>
        <p:spPr>
          <a:xfrm>
            <a:off x="9052560" y="1737360"/>
            <a:ext cx="2331720" cy="1005840"/>
          </a:xfrm>
          <a:prstGeom prst="roundRect">
            <a:avLst>
              <a:gd name="adj" fmla="val 5455"/>
            </a:avLst>
          </a:prstGeom>
          <a:solidFill>
            <a:srgbClr val="E9ECF8"/>
          </a:solidFill>
          <a:ln w="25400">
            <a:solidFill>
              <a:srgbClr val="2E3A8C"/>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4. Weave evaluate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all rules, all violations</a:t>
            </a:r>
            <a:endParaRPr lang="en-US" sz="1300" dirty="0"/>
          </a:p>
        </p:txBody>
      </p:sp>
      <p:sp>
        <p:nvSpPr>
          <p:cNvPr id="24" name="Text 21"/>
          <p:cNvSpPr txBox="1"/>
          <p:nvPr/>
        </p:nvSpPr>
        <p:spPr>
          <a:xfrm>
            <a:off x="9098280" y="3063240"/>
            <a:ext cx="1554480" cy="960120"/>
          </a:xfrm>
          <a:prstGeom prst="diamond">
            <a:avLst/>
          </a:prstGeom>
          <a:solidFill>
            <a:srgbClr val="FBF1D8"/>
          </a:solidFill>
          <a:ln w="19050">
            <a:solidFill>
              <a:srgbClr val="E0A526"/>
            </a:solidFill>
          </a:ln>
        </p:spPr>
        <p:txBody>
          <a:bodyPr wrap="square" lIns="0" tIns="0" rIns="0" bIns="0" rtlCol="0" anchor="ctr"/>
          <a:lstStyle/>
          <a:p>
            <a:pPr algn="ctr" indent="0" marL="0">
              <a:buNone/>
            </a:pPr>
            <a:r>
              <a:rPr lang="en-US" sz="1200" b="1" dirty="0">
                <a:solidFill>
                  <a:srgbClr val="1B2030"/>
                </a:solidFill>
                <a:latin typeface="Calibri" pitchFamily="34" charset="0"/>
                <a:ea typeface="Calibri" pitchFamily="34" charset="-122"/>
                <a:cs typeface="Calibri" pitchFamily="34" charset="-120"/>
              </a:rPr>
              <a:t>blocked?</a:t>
            </a:r>
            <a:endParaRPr lang="en-US" sz="1200" dirty="0"/>
          </a:p>
        </p:txBody>
      </p:sp>
      <p:sp>
        <p:nvSpPr>
          <p:cNvPr id="25" name="Shape 22"/>
          <p:cNvSpPr/>
          <p:nvPr/>
        </p:nvSpPr>
        <p:spPr>
          <a:xfrm>
            <a:off x="9875520" y="2743200"/>
            <a:ext cx="0" cy="320040"/>
          </a:xfrm>
          <a:prstGeom prst="line">
            <a:avLst/>
          </a:prstGeom>
          <a:noFill/>
          <a:ln w="22225">
            <a:solidFill>
              <a:srgbClr val="4455C7"/>
            </a:solidFill>
            <a:prstDash val="solid"/>
            <a:tailEnd type="triangle"/>
          </a:ln>
        </p:spPr>
      </p:sp>
      <p:sp>
        <p:nvSpPr>
          <p:cNvPr id="26" name="Text 23"/>
          <p:cNvSpPr txBox="1"/>
          <p:nvPr/>
        </p:nvSpPr>
        <p:spPr>
          <a:xfrm>
            <a:off x="10881360" y="3063240"/>
            <a:ext cx="777240" cy="960120"/>
          </a:xfrm>
          <a:prstGeom prst="roundRect">
            <a:avLst>
              <a:gd name="adj" fmla="val 7059"/>
            </a:avLst>
          </a:prstGeom>
          <a:solidFill>
            <a:srgbClr val="F6DFDB"/>
          </a:solidFill>
          <a:ln w="15875">
            <a:solidFill>
              <a:srgbClr val="B0352A"/>
            </a:solidFill>
            <a:prstDash val="solid"/>
          </a:ln>
        </p:spPr>
        <p:txBody>
          <a:bodyPr wrap="square" lIns="635" tIns="635" rIns="635" bIns="635" rtlCol="0" anchor="ctr"/>
          <a:lstStyle/>
          <a:p>
            <a:pPr algn="ctr" indent="0" marL="0">
              <a:buNone/>
            </a:pPr>
            <a:r>
              <a:rPr lang="en-US" sz="1200" b="1" dirty="0">
                <a:solidFill>
                  <a:srgbClr val="B0352A"/>
                </a:solidFill>
                <a:latin typeface="Calibri" pitchFamily="34" charset="0"/>
                <a:ea typeface="Calibri" pitchFamily="34" charset="-122"/>
                <a:cs typeface="Calibri" pitchFamily="34" charset="-120"/>
              </a:rPr>
              <a:t>Refuse</a:t>
            </a:r>
            <a:endParaRPr lang="en-US" sz="1200" dirty="0"/>
          </a:p>
          <a:p>
            <a:pPr algn="ctr" indent="0" marL="0">
              <a:buNone/>
            </a:pPr>
            <a:r>
              <a:rPr lang="en-US" sz="950" dirty="0">
                <a:solidFill>
                  <a:srgbClr val="5B6275"/>
                </a:solidFill>
                <a:latin typeface="Calibri" pitchFamily="34" charset="0"/>
                <a:ea typeface="Calibri" pitchFamily="34" charset="-122"/>
                <a:cs typeface="Calibri" pitchFamily="34" charset="-120"/>
              </a:rPr>
              <a:t>rule + fix</a:t>
            </a:r>
            <a:endParaRPr lang="en-US" sz="1200" dirty="0"/>
          </a:p>
        </p:txBody>
      </p:sp>
      <p:sp>
        <p:nvSpPr>
          <p:cNvPr id="27" name="Shape 24"/>
          <p:cNvSpPr/>
          <p:nvPr/>
        </p:nvSpPr>
        <p:spPr>
          <a:xfrm>
            <a:off x="10652760" y="3538728"/>
            <a:ext cx="228600" cy="0"/>
          </a:xfrm>
          <a:prstGeom prst="line">
            <a:avLst/>
          </a:prstGeom>
          <a:noFill/>
          <a:ln w="22225">
            <a:solidFill>
              <a:srgbClr val="B0352A"/>
            </a:solidFill>
            <a:prstDash val="solid"/>
            <a:tailEnd type="triangle"/>
          </a:ln>
        </p:spPr>
      </p:sp>
      <p:sp>
        <p:nvSpPr>
          <p:cNvPr id="28" name="Text 25"/>
          <p:cNvSpPr txBox="1"/>
          <p:nvPr/>
        </p:nvSpPr>
        <p:spPr>
          <a:xfrm>
            <a:off x="10561320" y="3246120"/>
            <a:ext cx="411480" cy="228600"/>
          </a:xfrm>
          <a:prstGeom prst="rect">
            <a:avLst/>
          </a:prstGeom>
          <a:noFill/>
          <a:ln/>
        </p:spPr>
        <p:txBody>
          <a:bodyPr wrap="square" lIns="0" tIns="0" rIns="0" bIns="0" rtlCol="0" anchor="t"/>
          <a:lstStyle/>
          <a:p>
            <a:pPr algn="ctr" indent="0" marL="0">
              <a:buNone/>
            </a:pPr>
            <a:r>
              <a:rPr lang="en-US" sz="950" i="1" dirty="0">
                <a:solidFill>
                  <a:srgbClr val="B0352A"/>
                </a:solidFill>
                <a:latin typeface="Calibri" pitchFamily="34" charset="0"/>
                <a:ea typeface="Calibri" pitchFamily="34" charset="-122"/>
                <a:cs typeface="Calibri" pitchFamily="34" charset="-120"/>
              </a:rPr>
              <a:t>yes</a:t>
            </a:r>
            <a:endParaRPr lang="en-US" sz="950" dirty="0"/>
          </a:p>
        </p:txBody>
      </p:sp>
      <p:sp>
        <p:nvSpPr>
          <p:cNvPr id="29" name="Text 26"/>
          <p:cNvSpPr txBox="1"/>
          <p:nvPr/>
        </p:nvSpPr>
        <p:spPr>
          <a:xfrm>
            <a:off x="9052560" y="4343400"/>
            <a:ext cx="2331720" cy="1005840"/>
          </a:xfrm>
          <a:prstGeom prst="roundRect">
            <a:avLst>
              <a:gd name="adj" fmla="val 5455"/>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5. Obtain artifact</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by SHA-256 from peers; else Heddle build</a:t>
            </a:r>
            <a:endParaRPr lang="en-US" sz="1300" dirty="0"/>
          </a:p>
        </p:txBody>
      </p:sp>
      <p:sp>
        <p:nvSpPr>
          <p:cNvPr id="30" name="Shape 27"/>
          <p:cNvSpPr/>
          <p:nvPr/>
        </p:nvSpPr>
        <p:spPr>
          <a:xfrm flipH="1">
            <a:off x="8549640" y="4846320"/>
            <a:ext cx="502920" cy="0"/>
          </a:xfrm>
          <a:prstGeom prst="line">
            <a:avLst/>
          </a:prstGeom>
          <a:noFill/>
          <a:ln w="22225">
            <a:solidFill>
              <a:srgbClr val="4455C7"/>
            </a:solidFill>
            <a:prstDash val="solid"/>
            <a:tailEnd type="triangle"/>
          </a:ln>
        </p:spPr>
      </p:sp>
      <p:sp>
        <p:nvSpPr>
          <p:cNvPr id="31" name="Text 28"/>
          <p:cNvSpPr txBox="1"/>
          <p:nvPr/>
        </p:nvSpPr>
        <p:spPr>
          <a:xfrm>
            <a:off x="6217920" y="4343400"/>
            <a:ext cx="2331720" cy="1005840"/>
          </a:xfrm>
          <a:prstGeom prst="roundRect">
            <a:avLst>
              <a:gd name="adj" fmla="val 5455"/>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6. Inspect</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placement · strip .INSTALL</a:t>
            </a:r>
            <a:endParaRPr lang="en-US" sz="1300" dirty="0"/>
          </a:p>
        </p:txBody>
      </p:sp>
      <p:sp>
        <p:nvSpPr>
          <p:cNvPr id="32" name="Shape 29"/>
          <p:cNvSpPr/>
          <p:nvPr/>
        </p:nvSpPr>
        <p:spPr>
          <a:xfrm flipH="1">
            <a:off x="5715000" y="4846320"/>
            <a:ext cx="502920" cy="0"/>
          </a:xfrm>
          <a:prstGeom prst="line">
            <a:avLst/>
          </a:prstGeom>
          <a:noFill/>
          <a:ln w="22225">
            <a:solidFill>
              <a:srgbClr val="4455C7"/>
            </a:solidFill>
            <a:prstDash val="solid"/>
            <a:tailEnd type="triangle"/>
          </a:ln>
        </p:spPr>
      </p:sp>
      <p:sp>
        <p:nvSpPr>
          <p:cNvPr id="33" name="Text 30"/>
          <p:cNvSpPr txBox="1"/>
          <p:nvPr/>
        </p:nvSpPr>
        <p:spPr>
          <a:xfrm>
            <a:off x="3383280" y="4343400"/>
            <a:ext cx="2331720" cy="1005840"/>
          </a:xfrm>
          <a:prstGeom prst="roundRect">
            <a:avLst>
              <a:gd name="adj" fmla="val 5455"/>
            </a:avLst>
          </a:prstGeom>
          <a:solidFill>
            <a:srgbClr val="FFFFFF"/>
          </a:solidFill>
          <a:ln w="15875">
            <a:solidFill>
              <a:srgbClr val="4455C7"/>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7. Re-evaluate</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may still block (e.g. placement)</a:t>
            </a:r>
            <a:endParaRPr lang="en-US" sz="1300" dirty="0"/>
          </a:p>
        </p:txBody>
      </p:sp>
      <p:sp>
        <p:nvSpPr>
          <p:cNvPr id="34" name="Shape 31"/>
          <p:cNvSpPr/>
          <p:nvPr/>
        </p:nvSpPr>
        <p:spPr>
          <a:xfrm flipH="1">
            <a:off x="2880360" y="4846320"/>
            <a:ext cx="502920" cy="0"/>
          </a:xfrm>
          <a:prstGeom prst="line">
            <a:avLst/>
          </a:prstGeom>
          <a:noFill/>
          <a:ln w="22225">
            <a:solidFill>
              <a:srgbClr val="4455C7"/>
            </a:solidFill>
            <a:prstDash val="solid"/>
            <a:tailEnd type="triangle"/>
          </a:ln>
        </p:spPr>
      </p:sp>
      <p:sp>
        <p:nvSpPr>
          <p:cNvPr id="35" name="Text 32"/>
          <p:cNvSpPr txBox="1"/>
          <p:nvPr/>
        </p:nvSpPr>
        <p:spPr>
          <a:xfrm>
            <a:off x="548640" y="4343400"/>
            <a:ext cx="2331720" cy="1005840"/>
          </a:xfrm>
          <a:prstGeom prst="roundRect">
            <a:avLst>
              <a:gd name="adj" fmla="val 5455"/>
            </a:avLst>
          </a:prstGeom>
          <a:solidFill>
            <a:srgbClr val="DCEEE3"/>
          </a:solidFill>
          <a:ln w="25400">
            <a:solidFill>
              <a:srgbClr val="2B7651"/>
            </a:solidFill>
            <a:prstDash val="solid"/>
          </a:ln>
        </p:spPr>
        <p:txBody>
          <a:bodyPr wrap="square" lIns="635" tIns="635" rIns="635" bIns="635" rtlCol="0" anchor="ctr"/>
          <a:lstStyle/>
          <a:p>
            <a:pPr algn="ctr" indent="0" marL="0">
              <a:buNone/>
            </a:pPr>
            <a:r>
              <a:rPr lang="en-US" sz="1300" b="1" dirty="0">
                <a:solidFill>
                  <a:srgbClr val="1B2030"/>
                </a:solidFill>
                <a:latin typeface="Calibri" pitchFamily="34" charset="0"/>
                <a:ea typeface="Calibri" pitchFamily="34" charset="-122"/>
                <a:cs typeface="Calibri" pitchFamily="34" charset="-120"/>
              </a:rPr>
              <a:t>8. Install</a:t>
            </a:r>
            <a:endParaRPr lang="en-US" sz="1300" dirty="0"/>
          </a:p>
          <a:p>
            <a:pPr algn="ctr" indent="0" marL="0">
              <a:buNone/>
            </a:pPr>
            <a:r>
              <a:rPr lang="en-US" sz="1000" dirty="0">
                <a:solidFill>
                  <a:srgbClr val="5B6275"/>
                </a:solidFill>
                <a:latin typeface="Calibri" pitchFamily="34" charset="0"/>
                <a:ea typeface="Calibri" pitchFamily="34" charset="-122"/>
                <a:cs typeface="Calibri" pitchFamily="34" charset="-120"/>
              </a:rPr>
              <a:t>pacman -U · scripts in Heddle · record baseline</a:t>
            </a:r>
            <a:endParaRPr lang="en-US" sz="1300" dirty="0"/>
          </a:p>
        </p:txBody>
      </p:sp>
      <p:sp>
        <p:nvSpPr>
          <p:cNvPr id="36" name="Shape 33"/>
          <p:cNvSpPr/>
          <p:nvPr/>
        </p:nvSpPr>
        <p:spPr>
          <a:xfrm>
            <a:off x="9875520" y="4023360"/>
            <a:ext cx="0" cy="320040"/>
          </a:xfrm>
          <a:prstGeom prst="line">
            <a:avLst/>
          </a:prstGeom>
          <a:noFill/>
          <a:ln w="22225">
            <a:solidFill>
              <a:srgbClr val="2B7651"/>
            </a:solidFill>
            <a:prstDash val="solid"/>
            <a:tailEnd type="triangle"/>
          </a:ln>
        </p:spPr>
      </p:sp>
      <p:sp>
        <p:nvSpPr>
          <p:cNvPr id="37" name="Text 34"/>
          <p:cNvSpPr txBox="1"/>
          <p:nvPr/>
        </p:nvSpPr>
        <p:spPr>
          <a:xfrm>
            <a:off x="9921240" y="4050792"/>
            <a:ext cx="365760" cy="228600"/>
          </a:xfrm>
          <a:prstGeom prst="rect">
            <a:avLst/>
          </a:prstGeom>
          <a:noFill/>
          <a:ln/>
        </p:spPr>
        <p:txBody>
          <a:bodyPr wrap="square" lIns="0" tIns="0" rIns="0" bIns="0" rtlCol="0" anchor="t"/>
          <a:lstStyle/>
          <a:p>
            <a:pPr algn="l" indent="0" marL="0">
              <a:buNone/>
            </a:pPr>
            <a:r>
              <a:rPr lang="en-US" sz="950" i="1" dirty="0">
                <a:solidFill>
                  <a:srgbClr val="2B7651"/>
                </a:solidFill>
                <a:latin typeface="Calibri" pitchFamily="34" charset="0"/>
                <a:ea typeface="Calibri" pitchFamily="34" charset="-122"/>
                <a:cs typeface="Calibri" pitchFamily="34" charset="-120"/>
              </a:rPr>
              <a:t>no</a:t>
            </a:r>
            <a:endParaRPr lang="en-US" sz="950" dirty="0"/>
          </a:p>
        </p:txBody>
      </p:sp>
      <p:sp>
        <p:nvSpPr>
          <p:cNvPr id="38" name="Text 35"/>
          <p:cNvSpPr txBox="1"/>
          <p:nvPr/>
        </p:nvSpPr>
        <p:spPr>
          <a:xfrm>
            <a:off x="548640" y="5669280"/>
            <a:ext cx="11064240" cy="457200"/>
          </a:xfrm>
          <a:prstGeom prst="rect">
            <a:avLst/>
          </a:prstGeom>
          <a:noFill/>
          <a:ln/>
        </p:spPr>
        <p:txBody>
          <a:bodyPr wrap="square" lIns="0" tIns="0" rIns="0" bIns="0" rtlCol="0" anchor="t"/>
          <a:lstStyle/>
          <a:p>
            <a:pPr algn="l" indent="0" marL="0">
              <a:buNone/>
            </a:pPr>
            <a:r>
              <a:rPr lang="en-US" sz="1300" b="1" i="1" dirty="0">
                <a:solidFill>
                  <a:srgbClr val="2E3A8C"/>
                </a:solidFill>
                <a:latin typeface="Calibri" pitchFamily="34" charset="0"/>
                <a:ea typeface="Calibri" pitchFamily="34" charset="-122"/>
                <a:cs typeface="Calibri" pitchFamily="34" charset="-120"/>
              </a:rPr>
              <a:t>Steps 1–4 execute no package code (FR-3.9). If k rebuilders agree, no PKGBUILD code runs on the user's machine at all.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VI. METHODOLOGY</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Attestation and logging flow (sequence)</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10</a:t>
            </a:r>
            <a:endParaRPr lang="en-US" sz="900" dirty="0"/>
          </a:p>
        </p:txBody>
      </p:sp>
      <p:sp>
        <p:nvSpPr>
          <p:cNvPr id="17" name="Text 14"/>
          <p:cNvSpPr txBox="1"/>
          <p:nvPr/>
        </p:nvSpPr>
        <p:spPr>
          <a:xfrm>
            <a:off x="548640" y="1508760"/>
            <a:ext cx="1737360" cy="457200"/>
          </a:xfrm>
          <a:prstGeom prst="roundRect">
            <a:avLst>
              <a:gd name="adj" fmla="val 12000"/>
            </a:avLst>
          </a:prstGeom>
          <a:solidFill>
            <a:srgbClr val="FFFFFF"/>
          </a:solidFill>
          <a:ln w="25400">
            <a:solidFill>
              <a:srgbClr val="5B6275"/>
            </a:solidFill>
            <a:prstDash val="solid"/>
          </a:ln>
        </p:spPr>
        <p:txBody>
          <a:bodyPr wrap="square" lIns="635" tIns="635" rIns="635" bIns="635" rtlCol="0" anchor="ctr"/>
          <a:lstStyle/>
          <a:p>
            <a:pPr algn="ctr" indent="0" marL="0">
              <a:buNone/>
            </a:pPr>
            <a:r>
              <a:rPr lang="en-US" sz="1250" b="1" dirty="0">
                <a:solidFill>
                  <a:srgbClr val="5B6275"/>
                </a:solidFill>
                <a:latin typeface="Calibri" pitchFamily="34" charset="0"/>
                <a:ea typeface="Calibri" pitchFamily="34" charset="-122"/>
                <a:cs typeface="Calibri" pitchFamily="34" charset="-120"/>
              </a:rPr>
              <a:t>AUR</a:t>
            </a:r>
            <a:endParaRPr lang="en-US" sz="1250" dirty="0"/>
          </a:p>
        </p:txBody>
      </p:sp>
      <p:sp>
        <p:nvSpPr>
          <p:cNvPr id="18" name="Shape 15"/>
          <p:cNvSpPr/>
          <p:nvPr/>
        </p:nvSpPr>
        <p:spPr>
          <a:xfrm>
            <a:off x="1417320" y="1965960"/>
            <a:ext cx="0" cy="4343400"/>
          </a:xfrm>
          <a:prstGeom prst="line">
            <a:avLst/>
          </a:prstGeom>
          <a:noFill/>
          <a:ln w="15875">
            <a:solidFill>
              <a:srgbClr val="CDD2E3"/>
            </a:solidFill>
            <a:prstDash val="dash"/>
          </a:ln>
        </p:spPr>
      </p:sp>
      <p:sp>
        <p:nvSpPr>
          <p:cNvPr id="19" name="Text 16"/>
          <p:cNvSpPr txBox="1"/>
          <p:nvPr/>
        </p:nvSpPr>
        <p:spPr>
          <a:xfrm>
            <a:off x="2880360" y="1508760"/>
            <a:ext cx="1737360" cy="457200"/>
          </a:xfrm>
          <a:prstGeom prst="roundRect">
            <a:avLst>
              <a:gd name="adj" fmla="val 12000"/>
            </a:avLst>
          </a:prstGeom>
          <a:solidFill>
            <a:srgbClr val="FFFFFF"/>
          </a:solidFill>
          <a:ln w="25400">
            <a:solidFill>
              <a:srgbClr val="3B5BDB"/>
            </a:solidFill>
            <a:prstDash val="solid"/>
          </a:ln>
        </p:spPr>
        <p:txBody>
          <a:bodyPr wrap="square" lIns="635" tIns="635" rIns="635" bIns="635" rtlCol="0" anchor="ctr"/>
          <a:lstStyle/>
          <a:p>
            <a:pPr algn="ctr" indent="0" marL="0">
              <a:buNone/>
            </a:pPr>
            <a:r>
              <a:rPr lang="en-US" sz="1250" b="1" dirty="0">
                <a:solidFill>
                  <a:srgbClr val="3B5BDB"/>
                </a:solidFill>
                <a:latin typeface="Calibri" pitchFamily="34" charset="0"/>
                <a:ea typeface="Calibri" pitchFamily="34" charset="-122"/>
                <a:cs typeface="Calibri" pitchFamily="34" charset="-120"/>
              </a:rPr>
              <a:t>Thread rebuilder</a:t>
            </a:r>
            <a:endParaRPr lang="en-US" sz="1250" dirty="0"/>
          </a:p>
        </p:txBody>
      </p:sp>
      <p:sp>
        <p:nvSpPr>
          <p:cNvPr id="20" name="Shape 17"/>
          <p:cNvSpPr/>
          <p:nvPr/>
        </p:nvSpPr>
        <p:spPr>
          <a:xfrm>
            <a:off x="3749040" y="1965960"/>
            <a:ext cx="0" cy="4343400"/>
          </a:xfrm>
          <a:prstGeom prst="line">
            <a:avLst/>
          </a:prstGeom>
          <a:noFill/>
          <a:ln w="15875">
            <a:solidFill>
              <a:srgbClr val="CDD2E3"/>
            </a:solidFill>
            <a:prstDash val="dash"/>
          </a:ln>
        </p:spPr>
      </p:sp>
      <p:sp>
        <p:nvSpPr>
          <p:cNvPr id="21" name="Text 18"/>
          <p:cNvSpPr txBox="1"/>
          <p:nvPr/>
        </p:nvSpPr>
        <p:spPr>
          <a:xfrm>
            <a:off x="5212080" y="1508760"/>
            <a:ext cx="1737360" cy="457200"/>
          </a:xfrm>
          <a:prstGeom prst="roundRect">
            <a:avLst>
              <a:gd name="adj" fmla="val 12000"/>
            </a:avLst>
          </a:prstGeom>
          <a:solidFill>
            <a:srgbClr val="FFFFFF"/>
          </a:solidFill>
          <a:ln w="25400">
            <a:solidFill>
              <a:srgbClr val="2E3A8C"/>
            </a:solidFill>
            <a:prstDash val="solid"/>
          </a:ln>
        </p:spPr>
        <p:txBody>
          <a:bodyPr wrap="square" lIns="635" tIns="635" rIns="635" bIns="635" rtlCol="0" anchor="ctr"/>
          <a:lstStyle/>
          <a:p>
            <a:pPr algn="ctr" indent="0" marL="0">
              <a:buNone/>
            </a:pPr>
            <a:r>
              <a:rPr lang="en-US" sz="1250" b="1" dirty="0">
                <a:solidFill>
                  <a:srgbClr val="2E3A8C"/>
                </a:solidFill>
                <a:latin typeface="Calibri" pitchFamily="34" charset="0"/>
                <a:ea typeface="Calibri" pitchFamily="34" charset="-122"/>
                <a:cs typeface="Calibri" pitchFamily="34" charset="-120"/>
              </a:rPr>
              <a:t>Warp log</a:t>
            </a:r>
            <a:endParaRPr lang="en-US" sz="1250" dirty="0"/>
          </a:p>
        </p:txBody>
      </p:sp>
      <p:sp>
        <p:nvSpPr>
          <p:cNvPr id="22" name="Shape 19"/>
          <p:cNvSpPr/>
          <p:nvPr/>
        </p:nvSpPr>
        <p:spPr>
          <a:xfrm>
            <a:off x="6080760" y="1965960"/>
            <a:ext cx="0" cy="4343400"/>
          </a:xfrm>
          <a:prstGeom prst="line">
            <a:avLst/>
          </a:prstGeom>
          <a:noFill/>
          <a:ln w="15875">
            <a:solidFill>
              <a:srgbClr val="CDD2E3"/>
            </a:solidFill>
            <a:prstDash val="dash"/>
          </a:ln>
        </p:spPr>
      </p:sp>
      <p:sp>
        <p:nvSpPr>
          <p:cNvPr id="23" name="Text 20"/>
          <p:cNvSpPr txBox="1"/>
          <p:nvPr/>
        </p:nvSpPr>
        <p:spPr>
          <a:xfrm>
            <a:off x="7543800" y="1508760"/>
            <a:ext cx="1737360" cy="457200"/>
          </a:xfrm>
          <a:prstGeom prst="roundRect">
            <a:avLst>
              <a:gd name="adj" fmla="val 12000"/>
            </a:avLst>
          </a:prstGeom>
          <a:solidFill>
            <a:srgbClr val="FFFFFF"/>
          </a:solidFill>
          <a:ln w="25400">
            <a:solidFill>
              <a:srgbClr val="2B7651"/>
            </a:solidFill>
            <a:prstDash val="solid"/>
          </a:ln>
        </p:spPr>
        <p:txBody>
          <a:bodyPr wrap="square" lIns="635" tIns="635" rIns="635" bIns="635" rtlCol="0" anchor="ctr"/>
          <a:lstStyle/>
          <a:p>
            <a:pPr algn="ctr" indent="0" marL="0">
              <a:buNone/>
            </a:pPr>
            <a:r>
              <a:rPr lang="en-US" sz="1250" b="1" dirty="0">
                <a:solidFill>
                  <a:srgbClr val="2B7651"/>
                </a:solidFill>
                <a:latin typeface="Calibri" pitchFamily="34" charset="0"/>
                <a:ea typeface="Calibri" pitchFamily="34" charset="-122"/>
                <a:cs typeface="Calibri" pitchFamily="34" charset="-120"/>
              </a:rPr>
              <a:t>Witness</a:t>
            </a:r>
            <a:endParaRPr lang="en-US" sz="1250" dirty="0"/>
          </a:p>
        </p:txBody>
      </p:sp>
      <p:sp>
        <p:nvSpPr>
          <p:cNvPr id="24" name="Shape 21"/>
          <p:cNvSpPr/>
          <p:nvPr/>
        </p:nvSpPr>
        <p:spPr>
          <a:xfrm>
            <a:off x="8412480" y="1965960"/>
            <a:ext cx="0" cy="4343400"/>
          </a:xfrm>
          <a:prstGeom prst="line">
            <a:avLst/>
          </a:prstGeom>
          <a:noFill/>
          <a:ln w="15875">
            <a:solidFill>
              <a:srgbClr val="CDD2E3"/>
            </a:solidFill>
            <a:prstDash val="dash"/>
          </a:ln>
        </p:spPr>
      </p:sp>
      <p:sp>
        <p:nvSpPr>
          <p:cNvPr id="25" name="Text 22"/>
          <p:cNvSpPr txBox="1"/>
          <p:nvPr/>
        </p:nvSpPr>
        <p:spPr>
          <a:xfrm>
            <a:off x="9875520" y="1508760"/>
            <a:ext cx="1737360" cy="457200"/>
          </a:xfrm>
          <a:prstGeom prst="roundRect">
            <a:avLst>
              <a:gd name="adj" fmla="val 12000"/>
            </a:avLst>
          </a:prstGeom>
          <a:solidFill>
            <a:srgbClr val="FFFFFF"/>
          </a:solidFill>
          <a:ln w="25400">
            <a:solidFill>
              <a:srgbClr val="161B33"/>
            </a:solidFill>
            <a:prstDash val="solid"/>
          </a:ln>
        </p:spPr>
        <p:txBody>
          <a:bodyPr wrap="square" lIns="635" tIns="635" rIns="635" bIns="635" rtlCol="0" anchor="ctr"/>
          <a:lstStyle/>
          <a:p>
            <a:pPr algn="ctr" indent="0" marL="0">
              <a:buNone/>
            </a:pPr>
            <a:r>
              <a:rPr lang="en-US" sz="1250" b="1" dirty="0">
                <a:solidFill>
                  <a:srgbClr val="161B33"/>
                </a:solidFill>
                <a:latin typeface="Calibri" pitchFamily="34" charset="0"/>
                <a:ea typeface="Calibri" pitchFamily="34" charset="-122"/>
                <a:cs typeface="Calibri" pitchFamily="34" charset="-120"/>
              </a:rPr>
              <a:t>loom client</a:t>
            </a:r>
            <a:endParaRPr lang="en-US" sz="1250" dirty="0"/>
          </a:p>
        </p:txBody>
      </p:sp>
      <p:sp>
        <p:nvSpPr>
          <p:cNvPr id="26" name="Shape 23"/>
          <p:cNvSpPr/>
          <p:nvPr/>
        </p:nvSpPr>
        <p:spPr>
          <a:xfrm>
            <a:off x="10744200" y="1965960"/>
            <a:ext cx="0" cy="4343400"/>
          </a:xfrm>
          <a:prstGeom prst="line">
            <a:avLst/>
          </a:prstGeom>
          <a:noFill/>
          <a:ln w="15875">
            <a:solidFill>
              <a:srgbClr val="CDD2E3"/>
            </a:solidFill>
            <a:prstDash val="dash"/>
          </a:ln>
        </p:spPr>
      </p:sp>
      <p:sp>
        <p:nvSpPr>
          <p:cNvPr id="27" name="Shape 24"/>
          <p:cNvSpPr/>
          <p:nvPr/>
        </p:nvSpPr>
        <p:spPr>
          <a:xfrm flipH="1">
            <a:off x="1417320" y="2331720"/>
            <a:ext cx="2331720" cy="0"/>
          </a:xfrm>
          <a:prstGeom prst="line">
            <a:avLst/>
          </a:prstGeom>
          <a:noFill/>
          <a:ln w="20320">
            <a:solidFill>
              <a:srgbClr val="3B5BDB"/>
            </a:solidFill>
            <a:prstDash val="solid"/>
            <a:tailEnd type="triangle"/>
          </a:ln>
        </p:spPr>
      </p:sp>
      <p:sp>
        <p:nvSpPr>
          <p:cNvPr id="28" name="Text 25"/>
          <p:cNvSpPr txBox="1"/>
          <p:nvPr/>
        </p:nvSpPr>
        <p:spPr>
          <a:xfrm>
            <a:off x="1508760" y="2057400"/>
            <a:ext cx="2148840" cy="246888"/>
          </a:xfrm>
          <a:prstGeom prst="rect">
            <a:avLst/>
          </a:prstGeom>
          <a:noFill/>
          <a:ln/>
        </p:spPr>
        <p:txBody>
          <a:bodyPr wrap="square" lIns="0" tIns="0" rIns="0" bIns="0" rtlCol="0" anchor="t"/>
          <a:lstStyle/>
          <a:p>
            <a:pPr algn="ctr" indent="0" marL="0">
              <a:buNone/>
            </a:pPr>
            <a:r>
              <a:rPr lang="en-US" sz="1050" dirty="0">
                <a:solidFill>
                  <a:srgbClr val="1B2030"/>
                </a:solidFill>
                <a:latin typeface="Calibri" pitchFamily="34" charset="0"/>
                <a:ea typeface="Calibri" pitchFamily="34" charset="-122"/>
                <a:cs typeface="Calibri" pitchFamily="34" charset="-120"/>
              </a:rPr>
              <a:t>1. fetch recipe (git, pinned sources)</a:t>
            </a:r>
            <a:endParaRPr lang="en-US" sz="1050" dirty="0"/>
          </a:p>
        </p:txBody>
      </p:sp>
      <p:sp>
        <p:nvSpPr>
          <p:cNvPr id="29" name="Text 26"/>
          <p:cNvSpPr txBox="1"/>
          <p:nvPr/>
        </p:nvSpPr>
        <p:spPr>
          <a:xfrm>
            <a:off x="3840480" y="2542032"/>
            <a:ext cx="2103120" cy="329184"/>
          </a:xfrm>
          <a:prstGeom prst="roundRect">
            <a:avLst>
              <a:gd name="adj" fmla="val 11111"/>
            </a:avLst>
          </a:prstGeom>
          <a:solidFill>
            <a:srgbClr val="F4F5FA"/>
          </a:solidFill>
          <a:ln w="12700">
            <a:solidFill>
              <a:srgbClr val="3B5BDB"/>
            </a:solidFill>
          </a:ln>
        </p:spPr>
        <p:txBody>
          <a:bodyPr wrap="square" lIns="0" tIns="0" rIns="0" bIns="0" rtlCol="0" anchor="ctr"/>
          <a:lstStyle/>
          <a:p>
            <a:pPr algn="ctr" indent="0" marL="0">
              <a:buNone/>
            </a:pPr>
            <a:r>
              <a:rPr lang="en-US" sz="1050" dirty="0">
                <a:solidFill>
                  <a:srgbClr val="1B2030"/>
                </a:solidFill>
                <a:latin typeface="Calibri" pitchFamily="34" charset="0"/>
                <a:ea typeface="Calibri" pitchFamily="34" charset="-122"/>
                <a:cs typeface="Calibri" pitchFamily="34" charset="-120"/>
              </a:rPr>
              <a:t>2. build ×2 (TZ, locale, umask, path)</a:t>
            </a:r>
            <a:endParaRPr lang="en-US" sz="1050" dirty="0"/>
          </a:p>
        </p:txBody>
      </p:sp>
      <p:sp>
        <p:nvSpPr>
          <p:cNvPr id="30" name="Text 27"/>
          <p:cNvSpPr txBox="1"/>
          <p:nvPr/>
        </p:nvSpPr>
        <p:spPr>
          <a:xfrm>
            <a:off x="3840480" y="2953512"/>
            <a:ext cx="2103120" cy="329184"/>
          </a:xfrm>
          <a:prstGeom prst="roundRect">
            <a:avLst>
              <a:gd name="adj" fmla="val 11111"/>
            </a:avLst>
          </a:prstGeom>
          <a:solidFill>
            <a:srgbClr val="F4F5FA"/>
          </a:solidFill>
          <a:ln w="12700">
            <a:solidFill>
              <a:srgbClr val="3B5BDB"/>
            </a:solidFill>
          </a:ln>
        </p:spPr>
        <p:txBody>
          <a:bodyPr wrap="square" lIns="0" tIns="0" rIns="0" bIns="0" rtlCol="0" anchor="ctr"/>
          <a:lstStyle/>
          <a:p>
            <a:pPr algn="ctr" indent="0" marL="0">
              <a:buNone/>
            </a:pPr>
            <a:r>
              <a:rPr lang="en-US" sz="1050" dirty="0">
                <a:solidFill>
                  <a:srgbClr val="1B2030"/>
                </a:solidFill>
                <a:latin typeface="Calibri" pitchFamily="34" charset="0"/>
                <a:ea typeface="Calibri" pitchFamily="34" charset="-122"/>
                <a:cs typeface="Calibri" pitchFamily="34" charset="-120"/>
              </a:rPr>
              <a:t>3. SHA-256 equal? sign DSSE</a:t>
            </a:r>
            <a:endParaRPr lang="en-US" sz="1050" dirty="0"/>
          </a:p>
        </p:txBody>
      </p:sp>
      <p:sp>
        <p:nvSpPr>
          <p:cNvPr id="31" name="Shape 28"/>
          <p:cNvSpPr/>
          <p:nvPr/>
        </p:nvSpPr>
        <p:spPr>
          <a:xfrm>
            <a:off x="3749040" y="3566160"/>
            <a:ext cx="2331720" cy="0"/>
          </a:xfrm>
          <a:prstGeom prst="line">
            <a:avLst/>
          </a:prstGeom>
          <a:noFill/>
          <a:ln w="20320">
            <a:solidFill>
              <a:srgbClr val="3B5BDB"/>
            </a:solidFill>
            <a:prstDash val="solid"/>
            <a:tailEnd type="triangle"/>
          </a:ln>
        </p:spPr>
      </p:sp>
      <p:sp>
        <p:nvSpPr>
          <p:cNvPr id="32" name="Text 29"/>
          <p:cNvSpPr txBox="1"/>
          <p:nvPr/>
        </p:nvSpPr>
        <p:spPr>
          <a:xfrm>
            <a:off x="3840480" y="3291840"/>
            <a:ext cx="2148840" cy="246888"/>
          </a:xfrm>
          <a:prstGeom prst="rect">
            <a:avLst/>
          </a:prstGeom>
          <a:noFill/>
          <a:ln/>
        </p:spPr>
        <p:txBody>
          <a:bodyPr wrap="square" lIns="0" tIns="0" rIns="0" bIns="0" rtlCol="0" anchor="t"/>
          <a:lstStyle/>
          <a:p>
            <a:pPr algn="ctr" indent="0" marL="0">
              <a:buNone/>
            </a:pPr>
            <a:r>
              <a:rPr lang="en-US" sz="1050" dirty="0">
                <a:solidFill>
                  <a:srgbClr val="1B2030"/>
                </a:solidFill>
                <a:latin typeface="Calibri" pitchFamily="34" charset="0"/>
                <a:ea typeface="Calibri" pitchFamily="34" charset="-122"/>
                <a:cs typeface="Calibri" pitchFamily="34" charset="-120"/>
              </a:rPr>
              <a:t>4. POST /add  in-toto statement</a:t>
            </a:r>
            <a:endParaRPr lang="en-US" sz="1050" dirty="0"/>
          </a:p>
        </p:txBody>
      </p:sp>
      <p:sp>
        <p:nvSpPr>
          <p:cNvPr id="33" name="Text 30"/>
          <p:cNvSpPr txBox="1"/>
          <p:nvPr/>
        </p:nvSpPr>
        <p:spPr>
          <a:xfrm>
            <a:off x="6172200" y="3776472"/>
            <a:ext cx="2103120" cy="329184"/>
          </a:xfrm>
          <a:prstGeom prst="roundRect">
            <a:avLst>
              <a:gd name="adj" fmla="val 11111"/>
            </a:avLst>
          </a:prstGeom>
          <a:solidFill>
            <a:srgbClr val="F4F5FA"/>
          </a:solidFill>
          <a:ln w="12700">
            <a:solidFill>
              <a:srgbClr val="2E3A8C"/>
            </a:solidFill>
          </a:ln>
        </p:spPr>
        <p:txBody>
          <a:bodyPr wrap="square" lIns="0" tIns="0" rIns="0" bIns="0" rtlCol="0" anchor="ctr"/>
          <a:lstStyle/>
          <a:p>
            <a:pPr algn="ctr" indent="0" marL="0">
              <a:buNone/>
            </a:pPr>
            <a:r>
              <a:rPr lang="en-US" sz="1050" dirty="0">
                <a:solidFill>
                  <a:srgbClr val="1B2030"/>
                </a:solidFill>
                <a:latin typeface="Calibri" pitchFamily="34" charset="0"/>
                <a:ea typeface="Calibri" pitchFamily="34" charset="-122"/>
                <a:cs typeface="Calibri" pitchFamily="34" charset="-120"/>
              </a:rPr>
              <a:t>5. admit · append leaf · sign</a:t>
            </a:r>
            <a:endParaRPr lang="en-US" sz="1050" dirty="0"/>
          </a:p>
        </p:txBody>
      </p:sp>
      <p:sp>
        <p:nvSpPr>
          <p:cNvPr id="34" name="Shape 31"/>
          <p:cNvSpPr/>
          <p:nvPr/>
        </p:nvSpPr>
        <p:spPr>
          <a:xfrm>
            <a:off x="6080760" y="4389120"/>
            <a:ext cx="2331720" cy="0"/>
          </a:xfrm>
          <a:prstGeom prst="line">
            <a:avLst/>
          </a:prstGeom>
          <a:noFill/>
          <a:ln w="20320">
            <a:solidFill>
              <a:srgbClr val="2E3A8C"/>
            </a:solidFill>
            <a:prstDash val="solid"/>
            <a:tailEnd type="triangle"/>
          </a:ln>
        </p:spPr>
      </p:sp>
      <p:sp>
        <p:nvSpPr>
          <p:cNvPr id="35" name="Text 32"/>
          <p:cNvSpPr txBox="1"/>
          <p:nvPr/>
        </p:nvSpPr>
        <p:spPr>
          <a:xfrm>
            <a:off x="6172200" y="4114800"/>
            <a:ext cx="2148840" cy="246888"/>
          </a:xfrm>
          <a:prstGeom prst="rect">
            <a:avLst/>
          </a:prstGeom>
          <a:noFill/>
          <a:ln/>
        </p:spPr>
        <p:txBody>
          <a:bodyPr wrap="square" lIns="0" tIns="0" rIns="0" bIns="0" rtlCol="0" anchor="t"/>
          <a:lstStyle/>
          <a:p>
            <a:pPr algn="ctr" indent="0" marL="0">
              <a:buNone/>
            </a:pPr>
            <a:r>
              <a:rPr lang="en-US" sz="1050" dirty="0">
                <a:solidFill>
                  <a:srgbClr val="1B2030"/>
                </a:solidFill>
                <a:latin typeface="Calibri" pitchFamily="34" charset="0"/>
                <a:ea typeface="Calibri" pitchFamily="34" charset="-122"/>
                <a:cs typeface="Calibri" pitchFamily="34" charset="-120"/>
              </a:rPr>
              <a:t>6. checkpoint + consistency proof</a:t>
            </a:r>
            <a:endParaRPr lang="en-US" sz="1050" dirty="0"/>
          </a:p>
        </p:txBody>
      </p:sp>
      <p:sp>
        <p:nvSpPr>
          <p:cNvPr id="36" name="Text 33"/>
          <p:cNvSpPr txBox="1"/>
          <p:nvPr/>
        </p:nvSpPr>
        <p:spPr>
          <a:xfrm>
            <a:off x="8503920" y="4599432"/>
            <a:ext cx="2103120" cy="329184"/>
          </a:xfrm>
          <a:prstGeom prst="roundRect">
            <a:avLst>
              <a:gd name="adj" fmla="val 11111"/>
            </a:avLst>
          </a:prstGeom>
          <a:solidFill>
            <a:srgbClr val="F4F5FA"/>
          </a:solidFill>
          <a:ln w="12700">
            <a:solidFill>
              <a:srgbClr val="2B7651"/>
            </a:solidFill>
          </a:ln>
        </p:spPr>
        <p:txBody>
          <a:bodyPr wrap="square" lIns="0" tIns="0" rIns="0" bIns="0" rtlCol="0" anchor="ctr"/>
          <a:lstStyle/>
          <a:p>
            <a:pPr algn="ctr" indent="0" marL="0">
              <a:buNone/>
            </a:pPr>
            <a:r>
              <a:rPr lang="en-US" sz="1050" dirty="0">
                <a:solidFill>
                  <a:srgbClr val="1B2030"/>
                </a:solidFill>
                <a:latin typeface="Calibri" pitchFamily="34" charset="0"/>
                <a:ea typeface="Calibri" pitchFamily="34" charset="-122"/>
                <a:cs typeface="Calibri" pitchFamily="34" charset="-120"/>
              </a:rPr>
              <a:t>7. verify proof vs last size</a:t>
            </a:r>
            <a:endParaRPr lang="en-US" sz="1050" dirty="0"/>
          </a:p>
        </p:txBody>
      </p:sp>
      <p:sp>
        <p:nvSpPr>
          <p:cNvPr id="37" name="Shape 34"/>
          <p:cNvSpPr/>
          <p:nvPr/>
        </p:nvSpPr>
        <p:spPr>
          <a:xfrm flipH="1">
            <a:off x="6080760" y="5212080"/>
            <a:ext cx="2331720" cy="0"/>
          </a:xfrm>
          <a:prstGeom prst="line">
            <a:avLst/>
          </a:prstGeom>
          <a:noFill/>
          <a:ln w="20320">
            <a:solidFill>
              <a:srgbClr val="2B7651"/>
            </a:solidFill>
            <a:prstDash val="solid"/>
            <a:tailEnd type="triangle"/>
          </a:ln>
        </p:spPr>
      </p:sp>
      <p:sp>
        <p:nvSpPr>
          <p:cNvPr id="38" name="Text 35"/>
          <p:cNvSpPr txBox="1"/>
          <p:nvPr/>
        </p:nvSpPr>
        <p:spPr>
          <a:xfrm>
            <a:off x="6172200" y="4937760"/>
            <a:ext cx="2148840" cy="246888"/>
          </a:xfrm>
          <a:prstGeom prst="rect">
            <a:avLst/>
          </a:prstGeom>
          <a:noFill/>
          <a:ln/>
        </p:spPr>
        <p:txBody>
          <a:bodyPr wrap="square" lIns="0" tIns="0" rIns="0" bIns="0" rtlCol="0" anchor="t"/>
          <a:lstStyle/>
          <a:p>
            <a:pPr algn="ctr" indent="0" marL="0">
              <a:buNone/>
            </a:pPr>
            <a:r>
              <a:rPr lang="en-US" sz="1050" dirty="0">
                <a:solidFill>
                  <a:srgbClr val="1B2030"/>
                </a:solidFill>
                <a:latin typeface="Calibri" pitchFamily="34" charset="0"/>
                <a:ea typeface="Calibri" pitchFamily="34" charset="-122"/>
                <a:cs typeface="Calibri" pitchFamily="34" charset="-120"/>
              </a:rPr>
              <a:t>8. cosignature/v1</a:t>
            </a:r>
            <a:endParaRPr lang="en-US" sz="1050" dirty="0"/>
          </a:p>
        </p:txBody>
      </p:sp>
      <p:sp>
        <p:nvSpPr>
          <p:cNvPr id="39" name="Shape 36"/>
          <p:cNvSpPr/>
          <p:nvPr/>
        </p:nvSpPr>
        <p:spPr>
          <a:xfrm>
            <a:off x="6080760" y="5715000"/>
            <a:ext cx="4663440" cy="0"/>
          </a:xfrm>
          <a:prstGeom prst="line">
            <a:avLst/>
          </a:prstGeom>
          <a:noFill/>
          <a:ln w="20320">
            <a:solidFill>
              <a:srgbClr val="2E3A8C"/>
            </a:solidFill>
            <a:prstDash val="solid"/>
            <a:tailEnd type="triangle"/>
          </a:ln>
        </p:spPr>
      </p:sp>
      <p:sp>
        <p:nvSpPr>
          <p:cNvPr id="40" name="Text 37"/>
          <p:cNvSpPr txBox="1"/>
          <p:nvPr/>
        </p:nvSpPr>
        <p:spPr>
          <a:xfrm>
            <a:off x="6172200" y="5440680"/>
            <a:ext cx="4480560" cy="246888"/>
          </a:xfrm>
          <a:prstGeom prst="rect">
            <a:avLst/>
          </a:prstGeom>
          <a:noFill/>
          <a:ln/>
        </p:spPr>
        <p:txBody>
          <a:bodyPr wrap="square" lIns="0" tIns="0" rIns="0" bIns="0" rtlCol="0" anchor="t"/>
          <a:lstStyle/>
          <a:p>
            <a:pPr algn="ctr" indent="0" marL="0">
              <a:buNone/>
            </a:pPr>
            <a:r>
              <a:rPr lang="en-US" sz="1050" dirty="0">
                <a:solidFill>
                  <a:srgbClr val="1B2030"/>
                </a:solidFill>
                <a:latin typeface="Calibri" pitchFamily="34" charset="0"/>
                <a:ea typeface="Calibri" pitchFamily="34" charset="-122"/>
                <a:cs typeface="Calibri" pitchFamily="34" charset="-120"/>
              </a:rPr>
              <a:t>9. checkpoint, cosigs, proofs</a:t>
            </a:r>
            <a:endParaRPr lang="en-US" sz="1050" dirty="0"/>
          </a:p>
        </p:txBody>
      </p:sp>
      <p:sp>
        <p:nvSpPr>
          <p:cNvPr id="41" name="Text 38"/>
          <p:cNvSpPr txBox="1"/>
          <p:nvPr/>
        </p:nvSpPr>
        <p:spPr>
          <a:xfrm>
            <a:off x="8549640" y="5925312"/>
            <a:ext cx="2103120" cy="329184"/>
          </a:xfrm>
          <a:prstGeom prst="roundRect">
            <a:avLst>
              <a:gd name="adj" fmla="val 11111"/>
            </a:avLst>
          </a:prstGeom>
          <a:solidFill>
            <a:srgbClr val="F4F5FA"/>
          </a:solidFill>
          <a:ln w="12700">
            <a:solidFill>
              <a:srgbClr val="161B33"/>
            </a:solidFill>
          </a:ln>
        </p:spPr>
        <p:txBody>
          <a:bodyPr wrap="square" lIns="0" tIns="0" rIns="0" bIns="0" rtlCol="0" anchor="ctr"/>
          <a:lstStyle/>
          <a:p>
            <a:pPr algn="ctr" indent="0" marL="0">
              <a:buNone/>
            </a:pPr>
            <a:r>
              <a:rPr lang="en-US" sz="1050" dirty="0">
                <a:solidFill>
                  <a:srgbClr val="1B2030"/>
                </a:solidFill>
                <a:latin typeface="Calibri" pitchFamily="34" charset="0"/>
                <a:ea typeface="Calibri" pitchFamily="34" charset="-122"/>
                <a:cs typeface="Calibri" pitchFamily="34" charset="-120"/>
              </a:rPr>
              <a:t>10. ≥2 cosigs · consistent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VI. METHODOLOGY</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Cryptography and the Warp transparency log</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5806440" cy="914400"/>
        </p:xfrm>
        <a:graphic>
          <a:graphicData uri="http://schemas.openxmlformats.org/drawingml/2006/table">
            <a:tbl>
              <a:tblPr/>
              <a:tblGrid>
                <a:gridCol w="1691640"/>
                <a:gridCol w="1234440"/>
                <a:gridCol w="28803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Primitive</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Standard</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 for</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r>
              <a:tr h="0">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SHA-256</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950" dirty="0">
                          <a:solidFill>
                            <a:srgbClr val="1B2030"/>
                          </a:solidFill>
                          <a:latin typeface="Courier New" pitchFamily="34" charset="0"/>
                          <a:ea typeface="Courier New" pitchFamily="34" charset="-122"/>
                          <a:cs typeface="Courier New" pitchFamily="34" charset="-120"/>
                        </a:rPr>
                        <a:t>FIPS 180-4</a:t>
                      </a:r>
                      <a:endParaRPr lang="en-US" sz="950" dirty="0">
                        <a:latin typeface="Courier New" charset="0"/>
                        <a:ea typeface="Courier New" charset="0"/>
                        <a:cs typeface="Courier New"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artifact/source digests, Merkle hashing, key &amp; toolchain IDs</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0">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Ed25519 (verify_strict)</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950" dirty="0">
                          <a:solidFill>
                            <a:srgbClr val="1B2030"/>
                          </a:solidFill>
                          <a:latin typeface="Courier New" pitchFamily="34" charset="0"/>
                          <a:ea typeface="Courier New" pitchFamily="34" charset="-122"/>
                          <a:cs typeface="Courier New" pitchFamily="34" charset="-120"/>
                        </a:rPr>
                        <a:t>RFC 8032</a:t>
                      </a:r>
                      <a:endParaRPr lang="en-US" sz="950" dirty="0">
                        <a:latin typeface="Courier New" charset="0"/>
                        <a:ea typeface="Courier New" charset="0"/>
                        <a:cs typeface="Courier New"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attestations, checkpoints, witness cosignatures</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DSSE PAE + in-toto</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950" dirty="0">
                          <a:solidFill>
                            <a:srgbClr val="1B2030"/>
                          </a:solidFill>
                          <a:latin typeface="Courier New" pitchFamily="34" charset="0"/>
                          <a:ea typeface="Courier New" pitchFamily="34" charset="-122"/>
                          <a:cs typeface="Courier New" pitchFamily="34" charset="-120"/>
                        </a:rPr>
                        <a:t>DSSE v1</a:t>
                      </a:r>
                      <a:endParaRPr lang="en-US" sz="950" dirty="0">
                        <a:latin typeface="Courier New" charset="0"/>
                        <a:ea typeface="Courier New" charset="0"/>
                        <a:cs typeface="Courier New"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length-prefixed, type-bound signing; signed predicateType</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0">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Canonical JSON</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950" dirty="0">
                          <a:solidFill>
                            <a:srgbClr val="1B2030"/>
                          </a:solidFill>
                          <a:latin typeface="Courier New" pitchFamily="34" charset="0"/>
                          <a:ea typeface="Courier New" pitchFamily="34" charset="-122"/>
                          <a:cs typeface="Courier New" pitchFamily="34" charset="-120"/>
                        </a:rPr>
                        <a:t>RFC 8785 subset</a:t>
                      </a:r>
                      <a:endParaRPr lang="en-US" sz="950" dirty="0">
                        <a:latin typeface="Courier New" charset="0"/>
                        <a:ea typeface="Courier New" charset="0"/>
                        <a:cs typeface="Courier New"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deterministic signed bytes (sorted keys, no floats)</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Merkle tree</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950" dirty="0">
                          <a:solidFill>
                            <a:srgbClr val="1B2030"/>
                          </a:solidFill>
                          <a:latin typeface="Courier New" pitchFamily="34" charset="0"/>
                          <a:ea typeface="Courier New" pitchFamily="34" charset="-122"/>
                          <a:cs typeface="Courier New" pitchFamily="34" charset="-120"/>
                        </a:rPr>
                        <a:t>RFC 6962 / 9162</a:t>
                      </a:r>
                      <a:endParaRPr lang="en-US" sz="950" dirty="0">
                        <a:latin typeface="Courier New" charset="0"/>
                        <a:ea typeface="Courier New" charset="0"/>
                        <a:cs typeface="Courier New"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inclusion &amp; consistency proofs, O(log n)</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0">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Signed note, cosignature/v1</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950" dirty="0">
                          <a:solidFill>
                            <a:srgbClr val="1B2030"/>
                          </a:solidFill>
                          <a:latin typeface="Courier New" pitchFamily="34" charset="0"/>
                          <a:ea typeface="Courier New" pitchFamily="34" charset="-122"/>
                          <a:cs typeface="Courier New" pitchFamily="34" charset="-120"/>
                        </a:rPr>
                        <a:t>C2SP</a:t>
                      </a:r>
                      <a:endParaRPr lang="en-US" sz="950" dirty="0">
                        <a:latin typeface="Courier New" charset="0"/>
                        <a:ea typeface="Courier New" charset="0"/>
                        <a:cs typeface="Courier New"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indent="0" marL="0">
                        <a:buNone/>
                      </a:pPr>
                      <a:r>
                        <a:rPr lang="en-US" sz="1100" dirty="0">
                          <a:solidFill>
                            <a:srgbClr val="1B2030"/>
                          </a:solidFill>
                          <a:latin typeface="Calibri" pitchFamily="34" charset="0"/>
                          <a:ea typeface="Calibri" pitchFamily="34" charset="-122"/>
                          <a:cs typeface="Calibri" pitchFamily="34" charset="-120"/>
                        </a:rPr>
                        <a:t>checkpoint (alg 0x01), witness cosig (alg 0x04)</a:t>
                      </a:r>
                      <a:endParaRPr lang="en-US" sz="1100" dirty="0">
                        <a:latin typeface="Calibri" charset="0"/>
                        <a:ea typeface="Calibri" charset="0"/>
                        <a:cs typeface="Calibri" charset="0"/>
                      </a:endParaRPr>
                    </a:p>
                  </a:txBody>
                  <a:tcPr marL="63500" marR="635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bl>
          </a:graphicData>
        </a:graphic>
      </p:graphicFrame>
      <p:sp>
        <p:nvSpPr>
          <p:cNvPr id="18" name="Shape 14"/>
          <p:cNvSpPr/>
          <p:nvPr/>
        </p:nvSpPr>
        <p:spPr>
          <a:xfrm>
            <a:off x="548640" y="4754880"/>
            <a:ext cx="5806440" cy="1463040"/>
          </a:xfrm>
          <a:prstGeom prst="roundRect">
            <a:avLst>
              <a:gd name="adj" fmla="val 5000"/>
            </a:avLst>
          </a:prstGeom>
          <a:solidFill>
            <a:srgbClr val="161B33"/>
          </a:solidFill>
          <a:ln/>
        </p:spPr>
      </p:sp>
      <p:sp>
        <p:nvSpPr>
          <p:cNvPr id="19" name="Text 15"/>
          <p:cNvSpPr txBox="1"/>
          <p:nvPr/>
        </p:nvSpPr>
        <p:spPr>
          <a:xfrm>
            <a:off x="731520" y="4828032"/>
            <a:ext cx="5486400" cy="256032"/>
          </a:xfrm>
          <a:prstGeom prst="rect">
            <a:avLst/>
          </a:prstGeom>
          <a:noFill/>
          <a:ln/>
        </p:spPr>
        <p:txBody>
          <a:bodyPr wrap="square" lIns="0" tIns="0" rIns="0" bIns="0" rtlCol="0" anchor="t"/>
          <a:lstStyle/>
          <a:p>
            <a:pPr algn="l" indent="0" marL="0">
              <a:buNone/>
            </a:pPr>
            <a:r>
              <a:rPr lang="en-US" sz="1050" b="1" dirty="0">
                <a:solidFill>
                  <a:srgbClr val="E0A526"/>
                </a:solidFill>
                <a:latin typeface="Calibri" pitchFamily="34" charset="0"/>
                <a:ea typeface="Calibri" pitchFamily="34" charset="-122"/>
                <a:cs typeface="Calibri" pitchFamily="34" charset="-120"/>
              </a:rPr>
              <a:t>What is actually signed and hashed</a:t>
            </a:r>
            <a:endParaRPr lang="en-US" sz="1050" dirty="0"/>
          </a:p>
        </p:txBody>
      </p:sp>
      <p:sp>
        <p:nvSpPr>
          <p:cNvPr id="20" name="Text 16"/>
          <p:cNvSpPr txBox="1"/>
          <p:nvPr/>
        </p:nvSpPr>
        <p:spPr>
          <a:xfrm>
            <a:off x="731520" y="5120640"/>
            <a:ext cx="5577840" cy="1005840"/>
          </a:xfrm>
          <a:prstGeom prst="rect">
            <a:avLst/>
          </a:prstGeom>
          <a:noFill/>
          <a:ln/>
        </p:spPr>
        <p:txBody>
          <a:bodyPr wrap="square" lIns="0" tIns="0" rIns="0" bIns="0" rtlCol="0" anchor="t"/>
          <a:lstStyle/>
          <a:p>
            <a:pPr algn="l" indent="0" marL="0">
              <a:buNone/>
            </a:pPr>
            <a:r>
              <a:rPr lang="en-US" sz="1050" dirty="0">
                <a:solidFill>
                  <a:srgbClr val="FFFFFF"/>
                </a:solidFill>
                <a:latin typeface="Courier New" pitchFamily="34" charset="0"/>
                <a:ea typeface="Courier New" pitchFamily="34" charset="-122"/>
                <a:cs typeface="Courier New" pitchFamily="34" charset="-120"/>
              </a:rPr>
              <a:t>PAE  = "DSSEv1" SP len(type) SP type SP len(body) SP body</a:t>
            </a:r>
            <a:endParaRPr lang="en-US" sz="1050" dirty="0"/>
          </a:p>
          <a:p>
            <a:pPr algn="l" indent="0" marL="0">
              <a:buNone/>
            </a:pPr>
            <a:r>
              <a:rPr lang="en-US" sz="1050" dirty="0">
                <a:solidFill>
                  <a:srgbClr val="FFFFFF"/>
                </a:solidFill>
                <a:latin typeface="Courier New" pitchFamily="34" charset="0"/>
                <a:ea typeface="Courier New" pitchFamily="34" charset="-122"/>
                <a:cs typeface="Courier New" pitchFamily="34" charset="-120"/>
              </a:rPr>
              <a:t>sig  = Ed25519.Sign(sk_rebuilder, PAE)</a:t>
            </a:r>
            <a:endParaRPr lang="en-US" sz="1050" dirty="0"/>
          </a:p>
          <a:p>
            <a:pPr algn="l" indent="0" marL="0">
              <a:buNone/>
            </a:pPr>
            <a:r>
              <a:rPr lang="en-US" sz="1050" dirty="0">
                <a:solidFill>
                  <a:srgbClr val="FFFFFF"/>
                </a:solidFill>
                <a:latin typeface="Courier New" pitchFamily="34" charset="0"/>
                <a:ea typeface="Courier New" pitchFamily="34" charset="-122"/>
                <a:cs typeface="Courier New" pitchFamily="34" charset="-120"/>
              </a:rPr>
              <a:t>leaf = SHA-256(0x00 ‖ record)   node = SHA-256(0x01 ‖ L ‖ R)</a:t>
            </a:r>
            <a:endParaRPr lang="en-US" sz="1050" dirty="0"/>
          </a:p>
        </p:txBody>
      </p:sp>
      <p:sp>
        <p:nvSpPr>
          <p:cNvPr id="21" name="Text 17"/>
          <p:cNvSpPr txBox="1"/>
          <p:nvPr/>
        </p:nvSpPr>
        <p:spPr>
          <a:xfrm>
            <a:off x="6629400" y="3749040"/>
            <a:ext cx="4572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d0</a:t>
            </a:r>
            <a:endParaRPr lang="en-US" sz="900" dirty="0"/>
          </a:p>
        </p:txBody>
      </p:sp>
      <p:sp>
        <p:nvSpPr>
          <p:cNvPr id="22" name="Text 18"/>
          <p:cNvSpPr txBox="1"/>
          <p:nvPr/>
        </p:nvSpPr>
        <p:spPr>
          <a:xfrm>
            <a:off x="7242048" y="3749040"/>
            <a:ext cx="4572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d1</a:t>
            </a:r>
            <a:endParaRPr lang="en-US" sz="900" dirty="0"/>
          </a:p>
        </p:txBody>
      </p:sp>
      <p:sp>
        <p:nvSpPr>
          <p:cNvPr id="23" name="Text 19"/>
          <p:cNvSpPr txBox="1"/>
          <p:nvPr/>
        </p:nvSpPr>
        <p:spPr>
          <a:xfrm>
            <a:off x="7854696" y="3749040"/>
            <a:ext cx="457200" cy="329184"/>
          </a:xfrm>
          <a:prstGeom prst="roundRect">
            <a:avLst>
              <a:gd name="adj" fmla="val 11111"/>
            </a:avLst>
          </a:prstGeom>
          <a:solidFill>
            <a:srgbClr val="E9ECF8"/>
          </a:solidFill>
          <a:ln w="22225">
            <a:solidFill>
              <a:srgbClr val="2E3A8C"/>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d2</a:t>
            </a:r>
            <a:endParaRPr lang="en-US" sz="900" dirty="0"/>
          </a:p>
        </p:txBody>
      </p:sp>
      <p:sp>
        <p:nvSpPr>
          <p:cNvPr id="24" name="Text 20"/>
          <p:cNvSpPr txBox="1"/>
          <p:nvPr/>
        </p:nvSpPr>
        <p:spPr>
          <a:xfrm>
            <a:off x="8467344" y="3749040"/>
            <a:ext cx="457200" cy="329184"/>
          </a:xfrm>
          <a:prstGeom prst="roundRect">
            <a:avLst>
              <a:gd name="adj" fmla="val 11111"/>
            </a:avLst>
          </a:prstGeom>
          <a:solidFill>
            <a:srgbClr val="FBF1D8"/>
          </a:solidFill>
          <a:ln w="22225">
            <a:solidFill>
              <a:srgbClr val="E0A526"/>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d3</a:t>
            </a:r>
            <a:endParaRPr lang="en-US" sz="900" dirty="0"/>
          </a:p>
        </p:txBody>
      </p:sp>
      <p:sp>
        <p:nvSpPr>
          <p:cNvPr id="25" name="Text 21"/>
          <p:cNvSpPr txBox="1"/>
          <p:nvPr/>
        </p:nvSpPr>
        <p:spPr>
          <a:xfrm>
            <a:off x="9079992" y="3749040"/>
            <a:ext cx="4572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d4</a:t>
            </a:r>
            <a:endParaRPr lang="en-US" sz="900" dirty="0"/>
          </a:p>
        </p:txBody>
      </p:sp>
      <p:sp>
        <p:nvSpPr>
          <p:cNvPr id="26" name="Text 22"/>
          <p:cNvSpPr txBox="1"/>
          <p:nvPr/>
        </p:nvSpPr>
        <p:spPr>
          <a:xfrm>
            <a:off x="9692640" y="3749040"/>
            <a:ext cx="4572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d5</a:t>
            </a:r>
            <a:endParaRPr lang="en-US" sz="900" dirty="0"/>
          </a:p>
        </p:txBody>
      </p:sp>
      <p:sp>
        <p:nvSpPr>
          <p:cNvPr id="27" name="Text 23"/>
          <p:cNvSpPr txBox="1"/>
          <p:nvPr/>
        </p:nvSpPr>
        <p:spPr>
          <a:xfrm>
            <a:off x="10305288" y="3749040"/>
            <a:ext cx="4572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d6</a:t>
            </a:r>
            <a:endParaRPr lang="en-US" sz="900" dirty="0"/>
          </a:p>
        </p:txBody>
      </p:sp>
      <p:sp>
        <p:nvSpPr>
          <p:cNvPr id="28" name="Text 24"/>
          <p:cNvSpPr txBox="1"/>
          <p:nvPr/>
        </p:nvSpPr>
        <p:spPr>
          <a:xfrm>
            <a:off x="10917936" y="3749040"/>
            <a:ext cx="4572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d7</a:t>
            </a:r>
            <a:endParaRPr lang="en-US" sz="900" dirty="0"/>
          </a:p>
        </p:txBody>
      </p:sp>
      <p:sp>
        <p:nvSpPr>
          <p:cNvPr id="29" name="Text 25"/>
          <p:cNvSpPr txBox="1"/>
          <p:nvPr/>
        </p:nvSpPr>
        <p:spPr>
          <a:xfrm>
            <a:off x="6880860" y="3017520"/>
            <a:ext cx="566928" cy="329184"/>
          </a:xfrm>
          <a:prstGeom prst="roundRect">
            <a:avLst>
              <a:gd name="adj" fmla="val 11111"/>
            </a:avLst>
          </a:prstGeom>
          <a:solidFill>
            <a:srgbClr val="FBF1D8"/>
          </a:solidFill>
          <a:ln w="22225">
            <a:solidFill>
              <a:srgbClr val="E0A526"/>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h1.0</a:t>
            </a:r>
            <a:endParaRPr lang="en-US" sz="900" dirty="0"/>
          </a:p>
        </p:txBody>
      </p:sp>
      <p:sp>
        <p:nvSpPr>
          <p:cNvPr id="30" name="Shape 26"/>
          <p:cNvSpPr/>
          <p:nvPr/>
        </p:nvSpPr>
        <p:spPr>
          <a:xfrm flipH="1">
            <a:off x="6858000" y="3346704"/>
            <a:ext cx="306324" cy="402336"/>
          </a:xfrm>
          <a:prstGeom prst="line">
            <a:avLst/>
          </a:prstGeom>
          <a:noFill/>
          <a:ln w="12700">
            <a:solidFill>
              <a:srgbClr val="5B6275"/>
            </a:solidFill>
            <a:prstDash val="solid"/>
          </a:ln>
        </p:spPr>
      </p:sp>
      <p:sp>
        <p:nvSpPr>
          <p:cNvPr id="31" name="Shape 27"/>
          <p:cNvSpPr/>
          <p:nvPr/>
        </p:nvSpPr>
        <p:spPr>
          <a:xfrm>
            <a:off x="7164324" y="3346704"/>
            <a:ext cx="306324" cy="402336"/>
          </a:xfrm>
          <a:prstGeom prst="line">
            <a:avLst/>
          </a:prstGeom>
          <a:noFill/>
          <a:ln w="12700">
            <a:solidFill>
              <a:srgbClr val="5B6275"/>
            </a:solidFill>
            <a:prstDash val="solid"/>
          </a:ln>
        </p:spPr>
      </p:sp>
      <p:sp>
        <p:nvSpPr>
          <p:cNvPr id="32" name="Text 28"/>
          <p:cNvSpPr txBox="1"/>
          <p:nvPr/>
        </p:nvSpPr>
        <p:spPr>
          <a:xfrm>
            <a:off x="8106156" y="3017520"/>
            <a:ext cx="566928" cy="329184"/>
          </a:xfrm>
          <a:prstGeom prst="roundRect">
            <a:avLst>
              <a:gd name="adj" fmla="val 11111"/>
            </a:avLst>
          </a:prstGeom>
          <a:solidFill>
            <a:srgbClr val="E9ECF8"/>
          </a:solidFill>
          <a:ln w="22225">
            <a:solidFill>
              <a:srgbClr val="2E3A8C"/>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h1.1</a:t>
            </a:r>
            <a:endParaRPr lang="en-US" sz="900" dirty="0"/>
          </a:p>
        </p:txBody>
      </p:sp>
      <p:sp>
        <p:nvSpPr>
          <p:cNvPr id="33" name="Shape 29"/>
          <p:cNvSpPr/>
          <p:nvPr/>
        </p:nvSpPr>
        <p:spPr>
          <a:xfrm flipH="1">
            <a:off x="8083296" y="3346704"/>
            <a:ext cx="306324" cy="402336"/>
          </a:xfrm>
          <a:prstGeom prst="line">
            <a:avLst/>
          </a:prstGeom>
          <a:noFill/>
          <a:ln w="12700">
            <a:solidFill>
              <a:srgbClr val="5B6275"/>
            </a:solidFill>
            <a:prstDash val="solid"/>
          </a:ln>
        </p:spPr>
      </p:sp>
      <p:sp>
        <p:nvSpPr>
          <p:cNvPr id="34" name="Shape 30"/>
          <p:cNvSpPr/>
          <p:nvPr/>
        </p:nvSpPr>
        <p:spPr>
          <a:xfrm>
            <a:off x="8389620" y="3346704"/>
            <a:ext cx="306324" cy="402336"/>
          </a:xfrm>
          <a:prstGeom prst="line">
            <a:avLst/>
          </a:prstGeom>
          <a:noFill/>
          <a:ln w="12700">
            <a:solidFill>
              <a:srgbClr val="5B6275"/>
            </a:solidFill>
            <a:prstDash val="solid"/>
          </a:ln>
        </p:spPr>
      </p:sp>
      <p:sp>
        <p:nvSpPr>
          <p:cNvPr id="35" name="Text 31"/>
          <p:cNvSpPr txBox="1"/>
          <p:nvPr/>
        </p:nvSpPr>
        <p:spPr>
          <a:xfrm>
            <a:off x="9331452" y="3017520"/>
            <a:ext cx="566928"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h1.2</a:t>
            </a:r>
            <a:endParaRPr lang="en-US" sz="900" dirty="0"/>
          </a:p>
        </p:txBody>
      </p:sp>
      <p:sp>
        <p:nvSpPr>
          <p:cNvPr id="36" name="Shape 32"/>
          <p:cNvSpPr/>
          <p:nvPr/>
        </p:nvSpPr>
        <p:spPr>
          <a:xfrm flipH="1">
            <a:off x="9308592" y="3346704"/>
            <a:ext cx="306324" cy="402336"/>
          </a:xfrm>
          <a:prstGeom prst="line">
            <a:avLst/>
          </a:prstGeom>
          <a:noFill/>
          <a:ln w="12700">
            <a:solidFill>
              <a:srgbClr val="5B6275"/>
            </a:solidFill>
            <a:prstDash val="solid"/>
          </a:ln>
        </p:spPr>
      </p:sp>
      <p:sp>
        <p:nvSpPr>
          <p:cNvPr id="37" name="Shape 33"/>
          <p:cNvSpPr/>
          <p:nvPr/>
        </p:nvSpPr>
        <p:spPr>
          <a:xfrm>
            <a:off x="9614916" y="3346704"/>
            <a:ext cx="306324" cy="402336"/>
          </a:xfrm>
          <a:prstGeom prst="line">
            <a:avLst/>
          </a:prstGeom>
          <a:noFill/>
          <a:ln w="12700">
            <a:solidFill>
              <a:srgbClr val="5B6275"/>
            </a:solidFill>
            <a:prstDash val="solid"/>
          </a:ln>
        </p:spPr>
      </p:sp>
      <p:sp>
        <p:nvSpPr>
          <p:cNvPr id="38" name="Text 34"/>
          <p:cNvSpPr txBox="1"/>
          <p:nvPr/>
        </p:nvSpPr>
        <p:spPr>
          <a:xfrm>
            <a:off x="10556748" y="3017520"/>
            <a:ext cx="566928"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h1.3</a:t>
            </a:r>
            <a:endParaRPr lang="en-US" sz="900" dirty="0"/>
          </a:p>
        </p:txBody>
      </p:sp>
      <p:sp>
        <p:nvSpPr>
          <p:cNvPr id="39" name="Shape 35"/>
          <p:cNvSpPr/>
          <p:nvPr/>
        </p:nvSpPr>
        <p:spPr>
          <a:xfrm flipH="1">
            <a:off x="10533888" y="3346704"/>
            <a:ext cx="306324" cy="402336"/>
          </a:xfrm>
          <a:prstGeom prst="line">
            <a:avLst/>
          </a:prstGeom>
          <a:noFill/>
          <a:ln w="12700">
            <a:solidFill>
              <a:srgbClr val="5B6275"/>
            </a:solidFill>
            <a:prstDash val="solid"/>
          </a:ln>
        </p:spPr>
      </p:sp>
      <p:sp>
        <p:nvSpPr>
          <p:cNvPr id="40" name="Shape 36"/>
          <p:cNvSpPr/>
          <p:nvPr/>
        </p:nvSpPr>
        <p:spPr>
          <a:xfrm>
            <a:off x="10840212" y="3346704"/>
            <a:ext cx="306324" cy="402336"/>
          </a:xfrm>
          <a:prstGeom prst="line">
            <a:avLst/>
          </a:prstGeom>
          <a:noFill/>
          <a:ln w="12700">
            <a:solidFill>
              <a:srgbClr val="5B6275"/>
            </a:solidFill>
            <a:prstDash val="solid"/>
          </a:ln>
        </p:spPr>
      </p:sp>
      <p:sp>
        <p:nvSpPr>
          <p:cNvPr id="41" name="Text 37"/>
          <p:cNvSpPr txBox="1"/>
          <p:nvPr/>
        </p:nvSpPr>
        <p:spPr>
          <a:xfrm>
            <a:off x="7493508" y="2286000"/>
            <a:ext cx="566928" cy="329184"/>
          </a:xfrm>
          <a:prstGeom prst="roundRect">
            <a:avLst>
              <a:gd name="adj" fmla="val 11111"/>
            </a:avLst>
          </a:prstGeom>
          <a:solidFill>
            <a:srgbClr val="E9ECF8"/>
          </a:solidFill>
          <a:ln w="22225">
            <a:solidFill>
              <a:srgbClr val="2E3A8C"/>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h2.0</a:t>
            </a:r>
            <a:endParaRPr lang="en-US" sz="900" dirty="0"/>
          </a:p>
        </p:txBody>
      </p:sp>
      <p:sp>
        <p:nvSpPr>
          <p:cNvPr id="42" name="Shape 38"/>
          <p:cNvSpPr/>
          <p:nvPr/>
        </p:nvSpPr>
        <p:spPr>
          <a:xfrm flipH="1">
            <a:off x="7164324" y="2615184"/>
            <a:ext cx="612648" cy="402336"/>
          </a:xfrm>
          <a:prstGeom prst="line">
            <a:avLst/>
          </a:prstGeom>
          <a:noFill/>
          <a:ln w="12700">
            <a:solidFill>
              <a:srgbClr val="5B6275"/>
            </a:solidFill>
            <a:prstDash val="solid"/>
          </a:ln>
        </p:spPr>
      </p:sp>
      <p:sp>
        <p:nvSpPr>
          <p:cNvPr id="43" name="Shape 39"/>
          <p:cNvSpPr/>
          <p:nvPr/>
        </p:nvSpPr>
        <p:spPr>
          <a:xfrm>
            <a:off x="7776972" y="2615184"/>
            <a:ext cx="612648" cy="402336"/>
          </a:xfrm>
          <a:prstGeom prst="line">
            <a:avLst/>
          </a:prstGeom>
          <a:noFill/>
          <a:ln w="12700">
            <a:solidFill>
              <a:srgbClr val="5B6275"/>
            </a:solidFill>
            <a:prstDash val="solid"/>
          </a:ln>
        </p:spPr>
      </p:sp>
      <p:sp>
        <p:nvSpPr>
          <p:cNvPr id="44" name="Text 40"/>
          <p:cNvSpPr txBox="1"/>
          <p:nvPr/>
        </p:nvSpPr>
        <p:spPr>
          <a:xfrm>
            <a:off x="9944100" y="2286000"/>
            <a:ext cx="566928" cy="329184"/>
          </a:xfrm>
          <a:prstGeom prst="roundRect">
            <a:avLst>
              <a:gd name="adj" fmla="val 11111"/>
            </a:avLst>
          </a:prstGeom>
          <a:solidFill>
            <a:srgbClr val="FBF1D8"/>
          </a:solidFill>
          <a:ln w="22225">
            <a:solidFill>
              <a:srgbClr val="E0A526"/>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h2.1</a:t>
            </a:r>
            <a:endParaRPr lang="en-US" sz="900" dirty="0"/>
          </a:p>
        </p:txBody>
      </p:sp>
      <p:sp>
        <p:nvSpPr>
          <p:cNvPr id="45" name="Shape 41"/>
          <p:cNvSpPr/>
          <p:nvPr/>
        </p:nvSpPr>
        <p:spPr>
          <a:xfrm flipH="1">
            <a:off x="9614916" y="2615184"/>
            <a:ext cx="612648" cy="402336"/>
          </a:xfrm>
          <a:prstGeom prst="line">
            <a:avLst/>
          </a:prstGeom>
          <a:noFill/>
          <a:ln w="12700">
            <a:solidFill>
              <a:srgbClr val="5B6275"/>
            </a:solidFill>
            <a:prstDash val="solid"/>
          </a:ln>
        </p:spPr>
      </p:sp>
      <p:sp>
        <p:nvSpPr>
          <p:cNvPr id="46" name="Shape 42"/>
          <p:cNvSpPr/>
          <p:nvPr/>
        </p:nvSpPr>
        <p:spPr>
          <a:xfrm>
            <a:off x="10227564" y="2615184"/>
            <a:ext cx="612648" cy="402336"/>
          </a:xfrm>
          <a:prstGeom prst="line">
            <a:avLst/>
          </a:prstGeom>
          <a:noFill/>
          <a:ln w="12700">
            <a:solidFill>
              <a:srgbClr val="5B6275"/>
            </a:solidFill>
            <a:prstDash val="solid"/>
          </a:ln>
        </p:spPr>
      </p:sp>
      <p:sp>
        <p:nvSpPr>
          <p:cNvPr id="47" name="Text 43"/>
          <p:cNvSpPr txBox="1"/>
          <p:nvPr/>
        </p:nvSpPr>
        <p:spPr>
          <a:xfrm>
            <a:off x="8545068" y="1554480"/>
            <a:ext cx="914400" cy="329184"/>
          </a:xfrm>
          <a:prstGeom prst="roundRect">
            <a:avLst>
              <a:gd name="adj" fmla="val 11111"/>
            </a:avLst>
          </a:prstGeom>
          <a:solidFill>
            <a:srgbClr val="FFFFFF"/>
          </a:solidFill>
          <a:ln w="12700">
            <a:solidFill>
              <a:srgbClr val="CDD2E3"/>
            </a:solidFill>
          </a:ln>
        </p:spPr>
        <p:txBody>
          <a:bodyPr wrap="square" lIns="0" tIns="0" rIns="0" bIns="0" rtlCol="0" anchor="ctr"/>
          <a:lstStyle/>
          <a:p>
            <a:pPr algn="ctr" indent="0" marL="0">
              <a:buNone/>
            </a:pPr>
            <a:r>
              <a:rPr lang="en-US" sz="900" dirty="0">
                <a:solidFill>
                  <a:srgbClr val="1B2030"/>
                </a:solidFill>
                <a:latin typeface="Courier New" pitchFamily="34" charset="0"/>
                <a:ea typeface="Courier New" pitchFamily="34" charset="-122"/>
                <a:cs typeface="Courier New" pitchFamily="34" charset="-120"/>
              </a:rPr>
              <a:t>root</a:t>
            </a:r>
            <a:endParaRPr lang="en-US" sz="900" dirty="0"/>
          </a:p>
        </p:txBody>
      </p:sp>
      <p:sp>
        <p:nvSpPr>
          <p:cNvPr id="48" name="Shape 44"/>
          <p:cNvSpPr/>
          <p:nvPr/>
        </p:nvSpPr>
        <p:spPr>
          <a:xfrm flipH="1">
            <a:off x="7776972" y="1883664"/>
            <a:ext cx="1225296" cy="402336"/>
          </a:xfrm>
          <a:prstGeom prst="line">
            <a:avLst/>
          </a:prstGeom>
          <a:noFill/>
          <a:ln w="12700">
            <a:solidFill>
              <a:srgbClr val="5B6275"/>
            </a:solidFill>
            <a:prstDash val="solid"/>
          </a:ln>
        </p:spPr>
      </p:sp>
      <p:sp>
        <p:nvSpPr>
          <p:cNvPr id="49" name="Shape 45"/>
          <p:cNvSpPr/>
          <p:nvPr/>
        </p:nvSpPr>
        <p:spPr>
          <a:xfrm>
            <a:off x="9002268" y="1883664"/>
            <a:ext cx="1225296" cy="402336"/>
          </a:xfrm>
          <a:prstGeom prst="line">
            <a:avLst/>
          </a:prstGeom>
          <a:noFill/>
          <a:ln w="12700">
            <a:solidFill>
              <a:srgbClr val="5B6275"/>
            </a:solidFill>
            <a:prstDash val="solid"/>
          </a:ln>
        </p:spPr>
      </p:sp>
      <p:sp>
        <p:nvSpPr>
          <p:cNvPr id="50" name="Text 46"/>
          <p:cNvSpPr txBox="1"/>
          <p:nvPr/>
        </p:nvSpPr>
        <p:spPr>
          <a:xfrm>
            <a:off x="9692640" y="1481328"/>
            <a:ext cx="868680" cy="274320"/>
          </a:xfrm>
          <a:prstGeom prst="roundRect">
            <a:avLst>
              <a:gd name="adj" fmla="val 16667"/>
            </a:avLst>
          </a:prstGeom>
          <a:solidFill>
            <a:srgbClr val="E9ECF8"/>
          </a:solidFill>
          <a:ln/>
        </p:spPr>
        <p:txBody>
          <a:bodyPr wrap="square" lIns="0" tIns="0" rIns="0" bIns="0" rtlCol="0" anchor="ctr"/>
          <a:lstStyle/>
          <a:p>
            <a:pPr algn="ctr" indent="0" marL="0">
              <a:buNone/>
            </a:pPr>
            <a:r>
              <a:rPr lang="en-US" sz="1050" b="1" dirty="0">
                <a:solidFill>
                  <a:srgbClr val="2E3A8C"/>
                </a:solidFill>
                <a:latin typeface="Calibri" pitchFamily="34" charset="0"/>
                <a:ea typeface="Calibri" pitchFamily="34" charset="-122"/>
                <a:cs typeface="Calibri" pitchFamily="34" charset="-120"/>
              </a:rPr>
              <a:t>on path</a:t>
            </a:r>
            <a:endParaRPr lang="en-US" sz="1050" dirty="0"/>
          </a:p>
        </p:txBody>
      </p:sp>
      <p:sp>
        <p:nvSpPr>
          <p:cNvPr id="51" name="Text 47"/>
          <p:cNvSpPr txBox="1"/>
          <p:nvPr/>
        </p:nvSpPr>
        <p:spPr>
          <a:xfrm>
            <a:off x="10652760" y="1481328"/>
            <a:ext cx="1005840" cy="274320"/>
          </a:xfrm>
          <a:prstGeom prst="roundRect">
            <a:avLst>
              <a:gd name="adj" fmla="val 16667"/>
            </a:avLst>
          </a:prstGeom>
          <a:solidFill>
            <a:srgbClr val="FBF1D8"/>
          </a:solidFill>
          <a:ln/>
        </p:spPr>
        <p:txBody>
          <a:bodyPr wrap="square" lIns="0" tIns="0" rIns="0" bIns="0" rtlCol="0" anchor="ctr"/>
          <a:lstStyle/>
          <a:p>
            <a:pPr algn="ctr" indent="0" marL="0">
              <a:buNone/>
            </a:pPr>
            <a:r>
              <a:rPr lang="en-US" sz="1050" b="1" dirty="0">
                <a:solidFill>
                  <a:srgbClr val="8A5A00"/>
                </a:solidFill>
                <a:latin typeface="Calibri" pitchFamily="34" charset="0"/>
                <a:ea typeface="Calibri" pitchFamily="34" charset="-122"/>
                <a:cs typeface="Calibri" pitchFamily="34" charset="-120"/>
              </a:rPr>
              <a:t>proof hash</a:t>
            </a:r>
            <a:endParaRPr lang="en-US" sz="1050" dirty="0"/>
          </a:p>
        </p:txBody>
      </p:sp>
      <p:sp>
        <p:nvSpPr>
          <p:cNvPr id="52" name="Text 48"/>
          <p:cNvSpPr txBox="1"/>
          <p:nvPr/>
        </p:nvSpPr>
        <p:spPr>
          <a:xfrm>
            <a:off x="6629400" y="4160520"/>
            <a:ext cx="5029200" cy="256032"/>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Inclusion proof for d2 = 3 amber sibling hashes (log₂ 8)</a:t>
            </a:r>
            <a:endParaRPr lang="en-US" sz="1050" dirty="0"/>
          </a:p>
        </p:txBody>
      </p:sp>
      <p:sp>
        <p:nvSpPr>
          <p:cNvPr id="53" name="Shape 49"/>
          <p:cNvSpPr/>
          <p:nvPr/>
        </p:nvSpPr>
        <p:spPr>
          <a:xfrm>
            <a:off x="6629400" y="4526280"/>
            <a:ext cx="5029200" cy="1691640"/>
          </a:xfrm>
          <a:prstGeom prst="roundRect">
            <a:avLst>
              <a:gd name="adj" fmla="val 4324"/>
            </a:avLst>
          </a:prstGeom>
          <a:solidFill>
            <a:srgbClr val="E9ECF8"/>
          </a:solidFill>
          <a:ln/>
        </p:spPr>
      </p:sp>
      <p:sp>
        <p:nvSpPr>
          <p:cNvPr id="54" name="Text 50"/>
          <p:cNvSpPr txBox="1"/>
          <p:nvPr/>
        </p:nvSpPr>
        <p:spPr>
          <a:xfrm>
            <a:off x="6812280" y="4599432"/>
            <a:ext cx="4663440" cy="274320"/>
          </a:xfrm>
          <a:prstGeom prst="rect">
            <a:avLst/>
          </a:prstGeom>
          <a:noFill/>
          <a:ln/>
        </p:spPr>
        <p:txBody>
          <a:bodyPr wrap="square" lIns="0" tIns="0" rIns="0" bIns="0" rtlCol="0" anchor="t"/>
          <a:lstStyle/>
          <a:p>
            <a:pPr algn="l" indent="0" marL="0">
              <a:buNone/>
            </a:pPr>
            <a:r>
              <a:rPr lang="en-US" sz="1400" b="1" dirty="0">
                <a:solidFill>
                  <a:srgbClr val="161B33"/>
                </a:solidFill>
                <a:latin typeface="Cambria" pitchFamily="34" charset="0"/>
                <a:ea typeface="Cambria" pitchFamily="34" charset="-122"/>
                <a:cs typeface="Cambria" pitchFamily="34" charset="-120"/>
              </a:rPr>
              <a:t>Witnesses stop split views</a:t>
            </a:r>
            <a:endParaRPr lang="en-US" sz="1400" dirty="0"/>
          </a:p>
        </p:txBody>
      </p:sp>
      <p:sp>
        <p:nvSpPr>
          <p:cNvPr id="55" name="Text 51"/>
          <p:cNvSpPr txBox="1"/>
          <p:nvPr/>
        </p:nvSpPr>
        <p:spPr>
          <a:xfrm>
            <a:off x="6812280" y="4901184"/>
            <a:ext cx="4709160" cy="1280160"/>
          </a:xfrm>
          <a:prstGeom prst="rect">
            <a:avLst/>
          </a:prstGeom>
          <a:noFill/>
          <a:ln/>
        </p:spPr>
        <p:txBody>
          <a:bodyPr wrap="square" lIns="0" tIns="0" rIns="0" bIns="0" rtlCol="0" anchor="t"/>
          <a:lstStyle/>
          <a:p>
            <a:pPr algn="l" indent="0" marL="0">
              <a:buNone/>
            </a:pPr>
            <a:r>
              <a:rPr lang="en-US" sz="1100" dirty="0">
                <a:solidFill>
                  <a:srgbClr val="1B2030"/>
                </a:solidFill>
                <a:latin typeface="Calibri" pitchFamily="34" charset="0"/>
                <a:ea typeface="Calibri" pitchFamily="34" charset="-122"/>
                <a:cs typeface="Calibri" pitchFamily="34" charset="-120"/>
              </a:rPr>
              <a:t>Quorums of size t among n witnesses overlap in ≥ 2t − n. With t = 2, n = 3 they always share a witness, so a split view is prevented while ≤ 1 witness colludes. The client also checks the log signature, ≥ 2 cosignatures, consistency with its saved head, and inclusion of every record, and fails closed.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VI. METHODOLOGY</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Heddle sandbox and Weave policy engine</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12</a:t>
            </a:r>
            <a:endParaRPr lang="en-US" sz="900" dirty="0"/>
          </a:p>
        </p:txBody>
      </p:sp>
      <p:sp>
        <p:nvSpPr>
          <p:cNvPr id="17" name="Text 14"/>
          <p:cNvSpPr txBox="1"/>
          <p:nvPr/>
        </p:nvSpPr>
        <p:spPr>
          <a:xfrm>
            <a:off x="548640" y="1481328"/>
            <a:ext cx="5486400" cy="274320"/>
          </a:xfrm>
          <a:prstGeom prst="rect">
            <a:avLst/>
          </a:prstGeom>
          <a:noFill/>
          <a:ln/>
        </p:spPr>
        <p:txBody>
          <a:bodyPr wrap="square" lIns="0" tIns="0" rIns="0" bIns="0" rtlCol="0" anchor="t"/>
          <a:lstStyle/>
          <a:p>
            <a:pPr algn="l" indent="0" marL="0">
              <a:buNone/>
            </a:pPr>
            <a:r>
              <a:rPr lang="en-US" sz="1200" b="1" spc="100" kern="0" dirty="0">
                <a:solidFill>
                  <a:srgbClr val="4455C7"/>
                </a:solidFill>
                <a:latin typeface="Calibri" pitchFamily="34" charset="0"/>
                <a:ea typeface="Calibri" pitchFamily="34" charset="-122"/>
                <a:cs typeface="Calibri" pitchFamily="34" charset="-120"/>
              </a:rPr>
              <a:t>HEDDLE — least-privilege build sandbox</a:t>
            </a:r>
            <a:endParaRPr lang="en-US" sz="1200" dirty="0"/>
          </a:p>
        </p:txBody>
      </p:sp>
      <p:sp>
        <p:nvSpPr>
          <p:cNvPr id="18" name="Shape 15"/>
          <p:cNvSpPr/>
          <p:nvPr/>
        </p:nvSpPr>
        <p:spPr>
          <a:xfrm>
            <a:off x="548640" y="1828800"/>
            <a:ext cx="5440680" cy="2926080"/>
          </a:xfrm>
          <a:prstGeom prst="roundRect">
            <a:avLst>
              <a:gd name="adj" fmla="val 3125"/>
            </a:avLst>
          </a:prstGeom>
          <a:solidFill>
            <a:srgbClr val="E9ECF8"/>
          </a:solidFill>
          <a:ln w="25400">
            <a:solidFill>
              <a:srgbClr val="2E3A8C"/>
            </a:solidFill>
            <a:prstDash val="solid"/>
          </a:ln>
        </p:spPr>
      </p:sp>
      <p:sp>
        <p:nvSpPr>
          <p:cNvPr id="19" name="Text 16"/>
          <p:cNvSpPr txBox="1"/>
          <p:nvPr/>
        </p:nvSpPr>
        <p:spPr>
          <a:xfrm>
            <a:off x="713232" y="1901952"/>
            <a:ext cx="5120640" cy="274320"/>
          </a:xfrm>
          <a:prstGeom prst="rect">
            <a:avLst/>
          </a:prstGeom>
          <a:noFill/>
          <a:ln/>
        </p:spPr>
        <p:txBody>
          <a:bodyPr wrap="square" lIns="0" tIns="0" rIns="0" bIns="0" rtlCol="0" anchor="t"/>
          <a:lstStyle/>
          <a:p>
            <a:pPr algn="l" indent="0" marL="0">
              <a:buNone/>
            </a:pPr>
            <a:r>
              <a:rPr lang="en-US" sz="1050" b="1" dirty="0">
                <a:solidFill>
                  <a:srgbClr val="2E3A8C"/>
                </a:solidFill>
                <a:latin typeface="Calibri" pitchFamily="34" charset="0"/>
                <a:ea typeface="Calibri" pitchFamily="34" charset="-122"/>
                <a:cs typeface="Calibri" pitchFamily="34" charset="-120"/>
              </a:rPr>
              <a:t>Namespaces: user · mount · net · pid · ipc · uts · cgroup</a:t>
            </a:r>
            <a:endParaRPr lang="en-US" sz="1050" dirty="0"/>
          </a:p>
        </p:txBody>
      </p:sp>
      <p:sp>
        <p:nvSpPr>
          <p:cNvPr id="20" name="Shape 17"/>
          <p:cNvSpPr/>
          <p:nvPr/>
        </p:nvSpPr>
        <p:spPr>
          <a:xfrm>
            <a:off x="932688" y="2212848"/>
            <a:ext cx="4672584" cy="2157984"/>
          </a:xfrm>
          <a:prstGeom prst="roundRect">
            <a:avLst>
              <a:gd name="adj" fmla="val 4237"/>
            </a:avLst>
          </a:prstGeom>
          <a:solidFill>
            <a:srgbClr val="DDE3FA"/>
          </a:solidFill>
          <a:ln w="25400">
            <a:solidFill>
              <a:srgbClr val="4455C7"/>
            </a:solidFill>
            <a:prstDash val="solid"/>
          </a:ln>
        </p:spPr>
      </p:sp>
      <p:sp>
        <p:nvSpPr>
          <p:cNvPr id="21" name="Text 18"/>
          <p:cNvSpPr txBox="1"/>
          <p:nvPr/>
        </p:nvSpPr>
        <p:spPr>
          <a:xfrm>
            <a:off x="1097280" y="2286000"/>
            <a:ext cx="4352544" cy="274320"/>
          </a:xfrm>
          <a:prstGeom prst="rect">
            <a:avLst/>
          </a:prstGeom>
          <a:noFill/>
          <a:ln/>
        </p:spPr>
        <p:txBody>
          <a:bodyPr wrap="square" lIns="0" tIns="0" rIns="0" bIns="0" rtlCol="0" anchor="t"/>
          <a:lstStyle/>
          <a:p>
            <a:pPr algn="l" indent="0" marL="0">
              <a:buNone/>
            </a:pPr>
            <a:r>
              <a:rPr lang="en-US" sz="1050" b="1" dirty="0">
                <a:solidFill>
                  <a:srgbClr val="4455C7"/>
                </a:solidFill>
                <a:latin typeface="Calibri" pitchFamily="34" charset="0"/>
                <a:ea typeface="Calibri" pitchFamily="34" charset="-122"/>
                <a:cs typeface="Calibri" pitchFamily="34" charset="-120"/>
              </a:rPr>
              <a:t>Landlock (ABI ≤ v6): files · TCP · IPC scope</a:t>
            </a:r>
            <a:endParaRPr lang="en-US" sz="1050" dirty="0"/>
          </a:p>
        </p:txBody>
      </p:sp>
      <p:sp>
        <p:nvSpPr>
          <p:cNvPr id="22" name="Shape 19"/>
          <p:cNvSpPr/>
          <p:nvPr/>
        </p:nvSpPr>
        <p:spPr>
          <a:xfrm>
            <a:off x="1316736" y="2596896"/>
            <a:ext cx="3904488" cy="1389888"/>
          </a:xfrm>
          <a:prstGeom prst="roundRect">
            <a:avLst>
              <a:gd name="adj" fmla="val 6579"/>
            </a:avLst>
          </a:prstGeom>
          <a:solidFill>
            <a:srgbClr val="D6F0F0"/>
          </a:solidFill>
          <a:ln w="25400">
            <a:solidFill>
              <a:srgbClr val="0B8A8E"/>
            </a:solidFill>
            <a:prstDash val="solid"/>
          </a:ln>
        </p:spPr>
      </p:sp>
      <p:sp>
        <p:nvSpPr>
          <p:cNvPr id="23" name="Text 20"/>
          <p:cNvSpPr txBox="1"/>
          <p:nvPr/>
        </p:nvSpPr>
        <p:spPr>
          <a:xfrm>
            <a:off x="1481328" y="2670048"/>
            <a:ext cx="3584448" cy="274320"/>
          </a:xfrm>
          <a:prstGeom prst="rect">
            <a:avLst/>
          </a:prstGeom>
          <a:noFill/>
          <a:ln/>
        </p:spPr>
        <p:txBody>
          <a:bodyPr wrap="square" lIns="0" tIns="0" rIns="0" bIns="0" rtlCol="0" anchor="t"/>
          <a:lstStyle/>
          <a:p>
            <a:pPr algn="l" indent="0" marL="0">
              <a:buNone/>
            </a:pPr>
            <a:r>
              <a:rPr lang="en-US" sz="1050" b="1" dirty="0">
                <a:solidFill>
                  <a:srgbClr val="0B8A8E"/>
                </a:solidFill>
                <a:latin typeface="Calibri" pitchFamily="34" charset="0"/>
                <a:ea typeface="Calibri" pitchFamily="34" charset="-122"/>
                <a:cs typeface="Calibri" pitchFamily="34" charset="-120"/>
              </a:rPr>
              <a:t>seccomp-BPF + supervisor: EPERM mount, ptrace, bpf, io_uring…</a:t>
            </a:r>
            <a:endParaRPr lang="en-US" sz="1050" dirty="0"/>
          </a:p>
        </p:txBody>
      </p:sp>
      <p:sp>
        <p:nvSpPr>
          <p:cNvPr id="24" name="Text 21"/>
          <p:cNvSpPr txBox="1"/>
          <p:nvPr/>
        </p:nvSpPr>
        <p:spPr>
          <a:xfrm>
            <a:off x="1920240" y="3017520"/>
            <a:ext cx="2697480" cy="960120"/>
          </a:xfrm>
          <a:prstGeom prst="roundRect">
            <a:avLst>
              <a:gd name="adj" fmla="val 5714"/>
            </a:avLst>
          </a:prstGeom>
          <a:solidFill>
            <a:srgbClr val="FFFFFF"/>
          </a:solidFill>
          <a:ln w="25400">
            <a:solidFill>
              <a:srgbClr val="161B33"/>
            </a:solidFill>
            <a:prstDash val="solid"/>
          </a:ln>
        </p:spPr>
        <p:txBody>
          <a:bodyPr wrap="square" lIns="635" tIns="635" rIns="635" bIns="635" rtlCol="0" anchor="ctr"/>
          <a:lstStyle/>
          <a:p>
            <a:pPr algn="ctr" indent="0" marL="0">
              <a:buNone/>
            </a:pPr>
            <a:r>
              <a:rPr lang="en-US" sz="1400" b="1" dirty="0">
                <a:solidFill>
                  <a:srgbClr val="1B2030"/>
                </a:solidFill>
                <a:latin typeface="Calibri" pitchFamily="34" charset="0"/>
                <a:ea typeface="Calibri" pitchFamily="34" charset="-122"/>
                <a:cs typeface="Calibri" pitchFamily="34" charset="-120"/>
              </a:rPr>
              <a:t>build()</a:t>
            </a:r>
            <a:endParaRPr lang="en-US" sz="1400" dirty="0"/>
          </a:p>
          <a:p>
            <a:pPr algn="ctr" indent="0" marL="0">
              <a:buNone/>
            </a:pPr>
            <a:r>
              <a:rPr lang="en-US" sz="950" dirty="0">
                <a:solidFill>
                  <a:srgbClr val="5B6275"/>
                </a:solidFill>
                <a:latin typeface="Calibri" pitchFamily="34" charset="0"/>
                <a:ea typeface="Calibri" pitchFamily="34" charset="-122"/>
                <a:cs typeface="Calibri" pitchFamily="34" charset="-120"/>
              </a:rPr>
              <a:t>PKGBUILD / install script, ordinary user,</a:t>
            </a:r>
            <a:endParaRPr lang="en-US" sz="1400" dirty="0"/>
          </a:p>
          <a:p>
            <a:pPr algn="ctr" indent="0" marL="0">
              <a:buNone/>
            </a:pPr>
            <a:r>
              <a:rPr lang="en-US" sz="950" dirty="0">
                <a:solidFill>
                  <a:srgbClr val="5B6275"/>
                </a:solidFill>
                <a:latin typeface="Calibri" pitchFamily="34" charset="0"/>
                <a:ea typeface="Calibri" pitchFamily="34" charset="-122"/>
                <a:cs typeface="Calibri" pitchFamily="34" charset="-120"/>
              </a:rPr>
              <a:t>pivot_root tmpfs: $HOME does not exist</a:t>
            </a:r>
            <a:endParaRPr lang="en-US" sz="1400" dirty="0"/>
          </a:p>
        </p:txBody>
      </p:sp>
      <p:sp>
        <p:nvSpPr>
          <p:cNvPr id="25" name="Text 22"/>
          <p:cNvSpPr txBox="1"/>
          <p:nvPr/>
        </p:nvSpPr>
        <p:spPr>
          <a:xfrm>
            <a:off x="548640" y="4919472"/>
            <a:ext cx="1097280" cy="274320"/>
          </a:xfrm>
          <a:prstGeom prst="roundRect">
            <a:avLst>
              <a:gd name="adj" fmla="val 16667"/>
            </a:avLst>
          </a:prstGeom>
          <a:solidFill>
            <a:srgbClr val="DCEEE3"/>
          </a:solidFill>
          <a:ln/>
        </p:spPr>
        <p:txBody>
          <a:bodyPr wrap="square" lIns="0" tIns="0" rIns="0" bIns="0" rtlCol="0" anchor="ctr"/>
          <a:lstStyle/>
          <a:p>
            <a:pPr algn="ctr" indent="0" marL="0">
              <a:buNone/>
            </a:pPr>
            <a:r>
              <a:rPr lang="en-US" sz="1050" b="1" dirty="0">
                <a:solidFill>
                  <a:srgbClr val="2B7651"/>
                </a:solidFill>
                <a:latin typeface="Calibri" pitchFamily="34" charset="0"/>
                <a:ea typeface="Calibri" pitchFamily="34" charset="-122"/>
                <a:cs typeface="Calibri" pitchFamily="34" charset="-120"/>
              </a:rPr>
              <a:t>FULL</a:t>
            </a:r>
            <a:endParaRPr lang="en-US" sz="1050" dirty="0"/>
          </a:p>
        </p:txBody>
      </p:sp>
      <p:sp>
        <p:nvSpPr>
          <p:cNvPr id="26" name="Text 23"/>
          <p:cNvSpPr txBox="1"/>
          <p:nvPr/>
        </p:nvSpPr>
        <p:spPr>
          <a:xfrm>
            <a:off x="1737360" y="4919472"/>
            <a:ext cx="1097280" cy="274320"/>
          </a:xfrm>
          <a:prstGeom prst="roundRect">
            <a:avLst>
              <a:gd name="adj" fmla="val 16667"/>
            </a:avLst>
          </a:prstGeom>
          <a:solidFill>
            <a:srgbClr val="FBF1D8"/>
          </a:solidFill>
          <a:ln/>
        </p:spPr>
        <p:txBody>
          <a:bodyPr wrap="square" lIns="0" tIns="0" rIns="0" bIns="0" rtlCol="0" anchor="ctr"/>
          <a:lstStyle/>
          <a:p>
            <a:pPr algn="ctr" indent="0" marL="0">
              <a:buNone/>
            </a:pPr>
            <a:r>
              <a:rPr lang="en-US" sz="1050" b="1" dirty="0">
                <a:solidFill>
                  <a:srgbClr val="8A5A00"/>
                </a:solidFill>
                <a:latin typeface="Calibri" pitchFamily="34" charset="0"/>
                <a:ea typeface="Calibri" pitchFamily="34" charset="-122"/>
                <a:cs typeface="Calibri" pitchFamily="34" charset="-120"/>
              </a:rPr>
              <a:t>REDUCED</a:t>
            </a:r>
            <a:endParaRPr lang="en-US" sz="1050" dirty="0"/>
          </a:p>
        </p:txBody>
      </p:sp>
      <p:sp>
        <p:nvSpPr>
          <p:cNvPr id="27" name="Text 24"/>
          <p:cNvSpPr txBox="1"/>
          <p:nvPr/>
        </p:nvSpPr>
        <p:spPr>
          <a:xfrm>
            <a:off x="2926080" y="4919472"/>
            <a:ext cx="1097280" cy="274320"/>
          </a:xfrm>
          <a:prstGeom prst="roundRect">
            <a:avLst>
              <a:gd name="adj" fmla="val 16667"/>
            </a:avLst>
          </a:prstGeom>
          <a:solidFill>
            <a:srgbClr val="F6DFDB"/>
          </a:solidFill>
          <a:ln/>
        </p:spPr>
        <p:txBody>
          <a:bodyPr wrap="square" lIns="0" tIns="0" rIns="0" bIns="0" rtlCol="0" anchor="ctr"/>
          <a:lstStyle/>
          <a:p>
            <a:pPr algn="ctr" indent="0" marL="0">
              <a:buNone/>
            </a:pPr>
            <a:r>
              <a:rPr lang="en-US" sz="1050" b="1" dirty="0">
                <a:solidFill>
                  <a:srgbClr val="B0352A"/>
                </a:solidFill>
                <a:latin typeface="Calibri" pitchFamily="34" charset="0"/>
                <a:ea typeface="Calibri" pitchFamily="34" charset="-122"/>
                <a:cs typeface="Calibri" pitchFamily="34" charset="-120"/>
              </a:rPr>
              <a:t>REFUSED</a:t>
            </a:r>
            <a:endParaRPr lang="en-US" sz="1050" dirty="0"/>
          </a:p>
        </p:txBody>
      </p:sp>
      <p:sp>
        <p:nvSpPr>
          <p:cNvPr id="28" name="Text 25"/>
          <p:cNvSpPr txBox="1"/>
          <p:nvPr/>
        </p:nvSpPr>
        <p:spPr>
          <a:xfrm>
            <a:off x="4160520" y="4937760"/>
            <a:ext cx="1920240" cy="256032"/>
          </a:xfrm>
          <a:prstGeom prst="rect">
            <a:avLst/>
          </a:prstGeom>
          <a:noFill/>
          <a:ln/>
        </p:spPr>
        <p:txBody>
          <a:bodyPr wrap="square" lIns="0" tIns="0" rIns="0" bIns="0" rtlCol="0" anchor="t"/>
          <a:lstStyle/>
          <a:p>
            <a:pPr algn="l" indent="0" marL="0">
              <a:buNone/>
            </a:pPr>
            <a:r>
              <a:rPr lang="en-US" sz="1050" i="1" dirty="0">
                <a:solidFill>
                  <a:srgbClr val="5B6275"/>
                </a:solidFill>
                <a:latin typeface="Calibri" pitchFamily="34" charset="0"/>
                <a:ea typeface="Calibri" pitchFamily="34" charset="-122"/>
                <a:cs typeface="Calibri" pitchFamily="34" charset="-120"/>
              </a:rPr>
              <a:t>never an unconfined fallback</a:t>
            </a:r>
            <a:endParaRPr lang="en-US" sz="1050" dirty="0"/>
          </a:p>
        </p:txBody>
      </p:sp>
      <p:sp>
        <p:nvSpPr>
          <p:cNvPr id="29" name="Shape 26"/>
          <p:cNvSpPr/>
          <p:nvPr/>
        </p:nvSpPr>
        <p:spPr>
          <a:xfrm>
            <a:off x="548640" y="5349240"/>
            <a:ext cx="5440680" cy="868680"/>
          </a:xfrm>
          <a:prstGeom prst="roundRect">
            <a:avLst>
              <a:gd name="adj" fmla="val 8421"/>
            </a:avLst>
          </a:prstGeom>
          <a:solidFill>
            <a:srgbClr val="F6DFDB"/>
          </a:solidFill>
          <a:ln/>
        </p:spPr>
      </p:sp>
      <p:sp>
        <p:nvSpPr>
          <p:cNvPr id="30" name="Text 27"/>
          <p:cNvSpPr txBox="1"/>
          <p:nvPr/>
        </p:nvSpPr>
        <p:spPr>
          <a:xfrm>
            <a:off x="713232" y="5394960"/>
            <a:ext cx="5120640" cy="777240"/>
          </a:xfrm>
          <a:prstGeom prst="rect">
            <a:avLst/>
          </a:prstGeom>
          <a:noFill/>
          <a:ln/>
        </p:spPr>
        <p:txBody>
          <a:bodyPr wrap="square" lIns="0" tIns="0" rIns="0" bIns="0" rtlCol="0" anchor="ctr"/>
          <a:lstStyle/>
          <a:p>
            <a:pPr algn="l" indent="0" marL="0">
              <a:buNone/>
            </a:pPr>
            <a:r>
              <a:rPr lang="en-US" sz="1150" dirty="0">
                <a:solidFill>
                  <a:srgbClr val="1B2030"/>
                </a:solidFill>
                <a:latin typeface="Calibri" pitchFamily="34" charset="0"/>
                <a:ea typeface="Calibri" pitchFamily="34" charset="-122"/>
                <a:cs typeface="Calibri" pitchFamily="34" charset="-120"/>
              </a:rPr>
              <a:t>Hostile = any FR-3.2 credential read or FR-3.4 network socket → rebuilders refuse to attest and Weave blocks, even if the build exits 0 (|| true).</a:t>
            </a:r>
            <a:endParaRPr lang="en-US" sz="1150" dirty="0"/>
          </a:p>
        </p:txBody>
      </p:sp>
      <p:sp>
        <p:nvSpPr>
          <p:cNvPr id="31" name="Text 28"/>
          <p:cNvSpPr txBox="1"/>
          <p:nvPr/>
        </p:nvSpPr>
        <p:spPr>
          <a:xfrm>
            <a:off x="6355080" y="1481328"/>
            <a:ext cx="5303520" cy="274320"/>
          </a:xfrm>
          <a:prstGeom prst="rect">
            <a:avLst/>
          </a:prstGeom>
          <a:noFill/>
          <a:ln/>
        </p:spPr>
        <p:txBody>
          <a:bodyPr wrap="square" lIns="0" tIns="0" rIns="0" bIns="0" rtlCol="0" anchor="t"/>
          <a:lstStyle/>
          <a:p>
            <a:pPr algn="l" indent="0" marL="0">
              <a:buNone/>
            </a:pPr>
            <a:r>
              <a:rPr lang="en-US" sz="1200" b="1" spc="100" kern="0" dirty="0">
                <a:solidFill>
                  <a:srgbClr val="4455C7"/>
                </a:solidFill>
                <a:latin typeface="Calibri" pitchFamily="34" charset="0"/>
                <a:ea typeface="Calibri" pitchFamily="34" charset="-122"/>
                <a:cs typeface="Calibri" pitchFamily="34" charset="-120"/>
              </a:rPr>
              <a:t>WEAVE — explainable policy evaluation</a:t>
            </a:r>
            <a:endParaRPr lang="en-US" sz="1200" dirty="0"/>
          </a:p>
        </p:txBody>
      </p:sp>
      <p:sp>
        <p:nvSpPr>
          <p:cNvPr id="32" name="Text 29"/>
          <p:cNvSpPr txBox="1"/>
          <p:nvPr/>
        </p:nvSpPr>
        <p:spPr>
          <a:xfrm>
            <a:off x="6355080" y="1828800"/>
            <a:ext cx="1691640" cy="329184"/>
          </a:xfrm>
          <a:prstGeom prst="roundRect">
            <a:avLst>
              <a:gd name="adj" fmla="val 11111"/>
            </a:avLst>
          </a:prstGeom>
          <a:solidFill>
            <a:srgbClr val="2E3A8C"/>
          </a:solidFill>
          <a:ln w="12700">
            <a:solidFill>
              <a:srgbClr val="4455C7"/>
            </a:solid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1. continuity</a:t>
            </a:r>
            <a:endParaRPr lang="en-US" sz="950" dirty="0"/>
          </a:p>
        </p:txBody>
      </p:sp>
      <p:sp>
        <p:nvSpPr>
          <p:cNvPr id="33" name="Text 30"/>
          <p:cNvSpPr txBox="1"/>
          <p:nvPr/>
        </p:nvSpPr>
        <p:spPr>
          <a:xfrm>
            <a:off x="8138160" y="182880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2. log</a:t>
            </a:r>
            <a:endParaRPr lang="en-US" sz="950" dirty="0"/>
          </a:p>
        </p:txBody>
      </p:sp>
      <p:sp>
        <p:nvSpPr>
          <p:cNvPr id="34" name="Text 31"/>
          <p:cNvSpPr txBox="1"/>
          <p:nvPr/>
        </p:nvSpPr>
        <p:spPr>
          <a:xfrm>
            <a:off x="9921240" y="182880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3. attestations</a:t>
            </a:r>
            <a:endParaRPr lang="en-US" sz="950" dirty="0"/>
          </a:p>
        </p:txBody>
      </p:sp>
      <p:sp>
        <p:nvSpPr>
          <p:cNvPr id="35" name="Text 32"/>
          <p:cNvSpPr txBox="1"/>
          <p:nvPr/>
        </p:nvSpPr>
        <p:spPr>
          <a:xfrm>
            <a:off x="6355080" y="224028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4. contradiction</a:t>
            </a:r>
            <a:endParaRPr lang="en-US" sz="950" dirty="0"/>
          </a:p>
        </p:txBody>
      </p:sp>
      <p:sp>
        <p:nvSpPr>
          <p:cNvPr id="36" name="Text 33"/>
          <p:cNvSpPr txBox="1"/>
          <p:nvPr/>
        </p:nvSpPr>
        <p:spPr>
          <a:xfrm>
            <a:off x="8138160" y="224028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5. quarantine</a:t>
            </a:r>
            <a:endParaRPr lang="en-US" sz="950" dirty="0"/>
          </a:p>
        </p:txBody>
      </p:sp>
      <p:sp>
        <p:nvSpPr>
          <p:cNvPr id="37" name="Text 34"/>
          <p:cNvSpPr txBox="1"/>
          <p:nvPr/>
        </p:nvSpPr>
        <p:spPr>
          <a:xfrm>
            <a:off x="9921240" y="224028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6. sources</a:t>
            </a:r>
            <a:endParaRPr lang="en-US" sz="950" dirty="0"/>
          </a:p>
        </p:txBody>
      </p:sp>
      <p:sp>
        <p:nvSpPr>
          <p:cNvPr id="38" name="Text 35"/>
          <p:cNvSpPr txBox="1"/>
          <p:nvPr/>
        </p:nvSpPr>
        <p:spPr>
          <a:xfrm>
            <a:off x="6355080" y="265176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7. sandbox</a:t>
            </a:r>
            <a:endParaRPr lang="en-US" sz="950" dirty="0"/>
          </a:p>
        </p:txBody>
      </p:sp>
      <p:sp>
        <p:nvSpPr>
          <p:cNvPr id="39" name="Text 36"/>
          <p:cNvSpPr txBox="1"/>
          <p:nvPr/>
        </p:nvSpPr>
        <p:spPr>
          <a:xfrm>
            <a:off x="8138160" y="265176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8. placement</a:t>
            </a:r>
            <a:endParaRPr lang="en-US" sz="950" dirty="0"/>
          </a:p>
        </p:txBody>
      </p:sp>
      <p:sp>
        <p:nvSpPr>
          <p:cNvPr id="40" name="Text 37"/>
          <p:cNvSpPr txBox="1"/>
          <p:nvPr/>
        </p:nvSpPr>
        <p:spPr>
          <a:xfrm>
            <a:off x="9921240" y="2651760"/>
            <a:ext cx="1691640" cy="329184"/>
          </a:xfrm>
          <a:prstGeom prst="roundRect">
            <a:avLst>
              <a:gd name="adj" fmla="val 11111"/>
            </a:avLst>
          </a:prstGeom>
          <a:solidFill>
            <a:srgbClr val="E9ECF8"/>
          </a:solidFill>
          <a:ln w="12700">
            <a:solidFill>
              <a:srgbClr val="4455C7"/>
            </a:solidFill>
          </a:ln>
        </p:spPr>
        <p:txBody>
          <a:bodyPr wrap="square" lIns="0" tIns="0" rIns="0" bIns="0" rtlCol="0" anchor="ctr"/>
          <a:lstStyle/>
          <a:p>
            <a:pPr algn="ctr" indent="0" marL="0">
              <a:buNone/>
            </a:pPr>
            <a:r>
              <a:rPr lang="en-US" sz="950" b="1" dirty="0">
                <a:solidFill>
                  <a:srgbClr val="2E3A8C"/>
                </a:solidFill>
                <a:latin typeface="Courier New" pitchFamily="34" charset="0"/>
                <a:ea typeface="Courier New" pitchFamily="34" charset="-122"/>
                <a:cs typeface="Courier New" pitchFamily="34" charset="-120"/>
              </a:rPr>
              <a:t>9. install-scripts</a:t>
            </a:r>
            <a:endParaRPr lang="en-US" sz="950" dirty="0"/>
          </a:p>
        </p:txBody>
      </p:sp>
      <p:sp>
        <p:nvSpPr>
          <p:cNvPr id="41" name="Shape 38"/>
          <p:cNvSpPr/>
          <p:nvPr/>
        </p:nvSpPr>
        <p:spPr>
          <a:xfrm>
            <a:off x="6355080" y="3154680"/>
            <a:ext cx="5303520" cy="1920240"/>
          </a:xfrm>
          <a:prstGeom prst="roundRect">
            <a:avLst>
              <a:gd name="adj" fmla="val 3810"/>
            </a:avLst>
          </a:prstGeom>
          <a:solidFill>
            <a:srgbClr val="F4F5FA"/>
          </a:solidFill>
          <a:ln/>
        </p:spPr>
      </p:sp>
      <p:sp>
        <p:nvSpPr>
          <p:cNvPr id="42" name="Text 39"/>
          <p:cNvSpPr txBox="1"/>
          <p:nvPr/>
        </p:nvSpPr>
        <p:spPr>
          <a:xfrm>
            <a:off x="6492240" y="3218688"/>
            <a:ext cx="5029200" cy="274320"/>
          </a:xfrm>
          <a:prstGeom prst="rect">
            <a:avLst/>
          </a:prstGeom>
          <a:noFill/>
          <a:ln/>
        </p:spPr>
        <p:txBody>
          <a:bodyPr wrap="square" lIns="0" tIns="0" rIns="0" bIns="0" rtlCol="0" anchor="t"/>
          <a:lstStyle/>
          <a:p>
            <a:pPr algn="l" indent="0" marL="0">
              <a:buNone/>
            </a:pPr>
            <a:r>
              <a:rPr lang="en-US" sz="1300" b="1" dirty="0">
                <a:solidFill>
                  <a:srgbClr val="161B33"/>
                </a:solidFill>
                <a:latin typeface="Cambria" pitchFamily="34" charset="0"/>
                <a:ea typeface="Cambria" pitchFamily="34" charset="-122"/>
                <a:cs typeface="Cambria" pitchFamily="34" charset="-120"/>
              </a:rPr>
              <a:t>k-of-n independence = maximum independent set</a:t>
            </a:r>
            <a:endParaRPr lang="en-US" sz="1300" dirty="0"/>
          </a:p>
        </p:txBody>
      </p:sp>
      <p:sp>
        <p:nvSpPr>
          <p:cNvPr id="43" name="Text 40"/>
          <p:cNvSpPr txBox="1"/>
          <p:nvPr/>
        </p:nvSpPr>
        <p:spPr>
          <a:xfrm>
            <a:off x="6583680" y="3794760"/>
            <a:ext cx="1371600" cy="548640"/>
          </a:xfrm>
          <a:prstGeom prst="roundRect">
            <a:avLst>
              <a:gd name="adj" fmla="val 10000"/>
            </a:avLst>
          </a:prstGeom>
          <a:solidFill>
            <a:srgbClr val="FFFFFF"/>
          </a:solidFill>
          <a:ln w="25400">
            <a:solidFill>
              <a:srgbClr val="3B5BDB"/>
            </a:solidFill>
            <a:prstDash val="solid"/>
          </a:ln>
        </p:spPr>
        <p:txBody>
          <a:bodyPr wrap="square" lIns="635" tIns="635" rIns="635" bIns="635" rtlCol="0" anchor="ctr"/>
          <a:lstStyle/>
          <a:p>
            <a:pPr algn="ctr" indent="0" marL="0">
              <a:buNone/>
            </a:pPr>
            <a:r>
              <a:rPr lang="en-US" sz="1150" b="1" dirty="0">
                <a:solidFill>
                  <a:srgbClr val="1B2030"/>
                </a:solidFill>
                <a:latin typeface="Calibri" pitchFamily="34" charset="0"/>
                <a:ea typeface="Calibri" pitchFamily="34" charset="-122"/>
                <a:cs typeface="Calibri" pitchFamily="34" charset="-120"/>
              </a:rPr>
              <a:t>thread-a</a:t>
            </a:r>
            <a:endParaRPr lang="en-US" sz="1150" dirty="0"/>
          </a:p>
          <a:p>
            <a:pPr algn="ctr" indent="0" marL="0">
              <a:buNone/>
            </a:pPr>
            <a:r>
              <a:rPr lang="en-US" sz="900" dirty="0">
                <a:solidFill>
                  <a:srgbClr val="5B6275"/>
                </a:solidFill>
                <a:latin typeface="Calibri" pitchFamily="34" charset="0"/>
                <a:ea typeface="Calibri" pitchFamily="34" charset="-122"/>
                <a:cs typeface="Calibri" pitchFamily="34" charset="-120"/>
              </a:rPr>
              <a:t>org-a · tc 1</a:t>
            </a:r>
            <a:endParaRPr lang="en-US" sz="1150" dirty="0"/>
          </a:p>
        </p:txBody>
      </p:sp>
      <p:sp>
        <p:nvSpPr>
          <p:cNvPr id="44" name="Text 41"/>
          <p:cNvSpPr txBox="1"/>
          <p:nvPr/>
        </p:nvSpPr>
        <p:spPr>
          <a:xfrm>
            <a:off x="8458200" y="3566160"/>
            <a:ext cx="1371600" cy="548640"/>
          </a:xfrm>
          <a:prstGeom prst="roundRect">
            <a:avLst>
              <a:gd name="adj" fmla="val 10000"/>
            </a:avLst>
          </a:prstGeom>
          <a:solidFill>
            <a:srgbClr val="FFFFFF"/>
          </a:solidFill>
          <a:ln w="25400">
            <a:solidFill>
              <a:srgbClr val="0B8A8E"/>
            </a:solidFill>
            <a:prstDash val="solid"/>
          </a:ln>
        </p:spPr>
        <p:txBody>
          <a:bodyPr wrap="square" lIns="635" tIns="635" rIns="635" bIns="635" rtlCol="0" anchor="ctr"/>
          <a:lstStyle/>
          <a:p>
            <a:pPr algn="ctr" indent="0" marL="0">
              <a:buNone/>
            </a:pPr>
            <a:r>
              <a:rPr lang="en-US" sz="1150" b="1" dirty="0">
                <a:solidFill>
                  <a:srgbClr val="1B2030"/>
                </a:solidFill>
                <a:latin typeface="Calibri" pitchFamily="34" charset="0"/>
                <a:ea typeface="Calibri" pitchFamily="34" charset="-122"/>
                <a:cs typeface="Calibri" pitchFamily="34" charset="-120"/>
              </a:rPr>
              <a:t>thread-b</a:t>
            </a:r>
            <a:endParaRPr lang="en-US" sz="1150" dirty="0"/>
          </a:p>
          <a:p>
            <a:pPr algn="ctr" indent="0" marL="0">
              <a:buNone/>
            </a:pPr>
            <a:r>
              <a:rPr lang="en-US" sz="900" dirty="0">
                <a:solidFill>
                  <a:srgbClr val="5B6275"/>
                </a:solidFill>
                <a:latin typeface="Calibri" pitchFamily="34" charset="0"/>
                <a:ea typeface="Calibri" pitchFamily="34" charset="-122"/>
                <a:cs typeface="Calibri" pitchFamily="34" charset="-120"/>
              </a:rPr>
              <a:t>org-b · tc 2</a:t>
            </a:r>
            <a:endParaRPr lang="en-US" sz="1150" dirty="0"/>
          </a:p>
        </p:txBody>
      </p:sp>
      <p:sp>
        <p:nvSpPr>
          <p:cNvPr id="45" name="Text 42"/>
          <p:cNvSpPr txBox="1"/>
          <p:nvPr/>
        </p:nvSpPr>
        <p:spPr>
          <a:xfrm>
            <a:off x="8458200" y="4434840"/>
            <a:ext cx="1371600" cy="548640"/>
          </a:xfrm>
          <a:prstGeom prst="roundRect">
            <a:avLst>
              <a:gd name="adj" fmla="val 10000"/>
            </a:avLst>
          </a:prstGeom>
          <a:solidFill>
            <a:srgbClr val="FFFFFF"/>
          </a:solidFill>
          <a:ln w="25400">
            <a:solidFill>
              <a:srgbClr val="9A4FB8"/>
            </a:solidFill>
            <a:prstDash val="solid"/>
          </a:ln>
        </p:spPr>
        <p:txBody>
          <a:bodyPr wrap="square" lIns="635" tIns="635" rIns="635" bIns="635" rtlCol="0" anchor="ctr"/>
          <a:lstStyle/>
          <a:p>
            <a:pPr algn="ctr" indent="0" marL="0">
              <a:buNone/>
            </a:pPr>
            <a:r>
              <a:rPr lang="en-US" sz="1150" b="1" dirty="0">
                <a:solidFill>
                  <a:srgbClr val="1B2030"/>
                </a:solidFill>
                <a:latin typeface="Calibri" pitchFamily="34" charset="0"/>
                <a:ea typeface="Calibri" pitchFamily="34" charset="-122"/>
                <a:cs typeface="Calibri" pitchFamily="34" charset="-120"/>
              </a:rPr>
              <a:t>thread-c</a:t>
            </a:r>
            <a:endParaRPr lang="en-US" sz="1150" dirty="0"/>
          </a:p>
          <a:p>
            <a:pPr algn="ctr" indent="0" marL="0">
              <a:buNone/>
            </a:pPr>
            <a:r>
              <a:rPr lang="en-US" sz="900" dirty="0">
                <a:solidFill>
                  <a:srgbClr val="5B6275"/>
                </a:solidFill>
                <a:latin typeface="Calibri" pitchFamily="34" charset="0"/>
                <a:ea typeface="Calibri" pitchFamily="34" charset="-122"/>
                <a:cs typeface="Calibri" pitchFamily="34" charset="-120"/>
              </a:rPr>
              <a:t>org-c · tc 2</a:t>
            </a:r>
            <a:endParaRPr lang="en-US" sz="1150" dirty="0"/>
          </a:p>
        </p:txBody>
      </p:sp>
      <p:sp>
        <p:nvSpPr>
          <p:cNvPr id="46" name="Shape 43"/>
          <p:cNvSpPr/>
          <p:nvPr/>
        </p:nvSpPr>
        <p:spPr>
          <a:xfrm>
            <a:off x="9144000" y="4114800"/>
            <a:ext cx="0" cy="320040"/>
          </a:xfrm>
          <a:prstGeom prst="line">
            <a:avLst/>
          </a:prstGeom>
          <a:noFill/>
          <a:ln w="31750">
            <a:solidFill>
              <a:srgbClr val="B0352A"/>
            </a:solidFill>
            <a:prstDash val="dash"/>
          </a:ln>
        </p:spPr>
      </p:sp>
      <p:sp>
        <p:nvSpPr>
          <p:cNvPr id="47" name="Text 44"/>
          <p:cNvSpPr txBox="1"/>
          <p:nvPr/>
        </p:nvSpPr>
        <p:spPr>
          <a:xfrm>
            <a:off x="9966960" y="3794760"/>
            <a:ext cx="1645920" cy="914400"/>
          </a:xfrm>
          <a:prstGeom prst="rect">
            <a:avLst/>
          </a:prstGeom>
          <a:noFill/>
          <a:ln/>
        </p:spPr>
        <p:txBody>
          <a:bodyPr wrap="square" lIns="0" tIns="0" rIns="0" bIns="0" rtlCol="0" anchor="t"/>
          <a:lstStyle/>
          <a:p>
            <a:pPr algn="l" indent="0" marL="0">
              <a:buNone/>
            </a:pPr>
            <a:r>
              <a:rPr lang="en-US" sz="1050" b="1" dirty="0">
                <a:solidFill>
                  <a:srgbClr val="2B7651"/>
                </a:solidFill>
                <a:latin typeface="Calibri" pitchFamily="34" charset="0"/>
                <a:ea typeface="Calibri" pitchFamily="34" charset="-122"/>
                <a:cs typeface="Calibri" pitchFamily="34" charset="-120"/>
              </a:rPr>
              <a:t>same toolchain → correlated</a:t>
            </a:r>
            <a:endParaRPr lang="en-US" sz="1050" dirty="0"/>
          </a:p>
          <a:p>
            <a:pPr algn="l" indent="0" marL="0">
              <a:buNone/>
            </a:pPr>
            <a:r>
              <a:rPr lang="en-US" sz="1050" b="1" dirty="0">
                <a:solidFill>
                  <a:srgbClr val="2B7651"/>
                </a:solidFill>
                <a:latin typeface="Calibri" pitchFamily="34" charset="0"/>
                <a:ea typeface="Calibri" pitchFamily="34" charset="-122"/>
                <a:cs typeface="Calibri" pitchFamily="34" charset="-120"/>
              </a:rPr>
              <a:t>3 agree → count 2 ≥ k = 2 → PASS</a:t>
            </a:r>
            <a:endParaRPr lang="en-US" sz="1050" dirty="0"/>
          </a:p>
        </p:txBody>
      </p:sp>
      <p:sp>
        <p:nvSpPr>
          <p:cNvPr id="48" name="Text 45"/>
          <p:cNvSpPr txBox="1"/>
          <p:nvPr/>
        </p:nvSpPr>
        <p:spPr>
          <a:xfrm>
            <a:off x="6355080" y="5193792"/>
            <a:ext cx="5303520" cy="1051560"/>
          </a:xfrm>
          <a:prstGeom prst="rect">
            <a:avLst/>
          </a:prstGeom>
          <a:noFill/>
          <a:ln/>
        </p:spPr>
        <p:txBody>
          <a:bodyPr wrap="square" lIns="0" tIns="0" rIns="0" bIns="0" rtlCol="0" anchor="t"/>
          <a:lstStyle/>
          <a:p>
            <a:pPr marL="203200" indent="-203200">
              <a:spcAft>
                <a:spcPts val="300"/>
              </a:spcAft>
              <a:buSzPct val="100000"/>
              <a:buChar char="•"/>
            </a:pPr>
            <a:r>
              <a:rPr lang="en-US" sz="1100" b="1" dirty="0">
                <a:solidFill>
                  <a:srgbClr val="1B2030"/>
                </a:solidFill>
                <a:latin typeface="Calibri" pitchFamily="34" charset="0"/>
                <a:ea typeface="Calibri" pitchFamily="34" charset="-122"/>
                <a:cs typeface="Calibri" pitchFamily="34" charset="-120"/>
              </a:rPr>
              <a:t>Contradiction: </a:t>
            </a:r>
            <a:pPr indent="0" marL="0">
              <a:spcAft>
                <a:spcPts val="300"/>
              </a:spcAft>
              <a:buNone/>
            </a:pPr>
            <a:r>
              <a:rPr lang="en-US" sz="1100" dirty="0">
                <a:solidFill>
                  <a:srgbClr val="1B2030"/>
                </a:solidFill>
                <a:latin typeface="Calibri" pitchFamily="34" charset="0"/>
                <a:ea typeface="Calibri" pitchFamily="34" charset="-122"/>
                <a:cs typeface="Calibri" pitchFamily="34" charset="-120"/>
              </a:rPr>
              <a:t>any self-verified rebuilder with a different digest blocks.</a:t>
            </a:r>
            <a:endParaRPr lang="en-US" sz="1100" dirty="0"/>
          </a:p>
          <a:p>
            <a:pPr marL="203200" indent="-203200">
              <a:spcAft>
                <a:spcPts val="300"/>
              </a:spcAft>
              <a:buSzPct val="100000"/>
              <a:buChar char="•"/>
            </a:pPr>
            <a:r>
              <a:rPr lang="en-US" sz="1100" b="1" dirty="0">
                <a:solidFill>
                  <a:srgbClr val="1B2030"/>
                </a:solidFill>
                <a:latin typeface="Calibri" pitchFamily="34" charset="0"/>
                <a:ea typeface="Calibri" pitchFamily="34" charset="-122"/>
                <a:cs typeface="Calibri" pitchFamily="34" charset="-120"/>
              </a:rPr>
              <a:t>Quarantine: </a:t>
            </a:r>
            <a:pPr indent="0" marL="0">
              <a:spcAft>
                <a:spcPts val="300"/>
              </a:spcAft>
              <a:buNone/>
            </a:pPr>
            <a:r>
              <a:rPr lang="en-US" sz="1100" dirty="0">
                <a:solidFill>
                  <a:srgbClr val="1B2030"/>
                </a:solidFill>
                <a:latin typeface="Calibri" pitchFamily="34" charset="0"/>
                <a:ea typeface="Calibri" pitchFamily="34" charset="-122"/>
                <a:cs typeface="Calibri" pitchFamily="34" charset="-120"/>
              </a:rPr>
              <a:t>&lt; 72 h old → withhold; advisory fast-path for CVE fixes.</a:t>
            </a:r>
            <a:endParaRPr lang="en-US" sz="1100" dirty="0"/>
          </a:p>
          <a:p>
            <a:pPr marL="203200" indent="-203200">
              <a:spcAft>
                <a:spcPts val="300"/>
              </a:spcAft>
              <a:buSzPct val="100000"/>
              <a:buChar char="•"/>
            </a:pPr>
            <a:r>
              <a:rPr lang="en-US" sz="1100" b="1" dirty="0">
                <a:solidFill>
                  <a:srgbClr val="1B2030"/>
                </a:solidFill>
                <a:latin typeface="Calibri" pitchFamily="34" charset="0"/>
                <a:ea typeface="Calibri" pitchFamily="34" charset="-122"/>
                <a:cs typeface="Calibri" pitchFamily="34" charset="-120"/>
              </a:rPr>
              <a:t>Placement: </a:t>
            </a:r>
            <a:pPr indent="0" marL="0">
              <a:spcAft>
                <a:spcPts val="300"/>
              </a:spcAft>
              <a:buNone/>
            </a:pPr>
            <a:r>
              <a:rPr lang="en-US" sz="1100" dirty="0">
                <a:solidFill>
                  <a:srgbClr val="1B2030"/>
                </a:solidFill>
                <a:latin typeface="Calibri" pitchFamily="34" charset="0"/>
                <a:ea typeface="Calibri" pitchFamily="34" charset="-122"/>
                <a:cs typeface="Calibri" pitchFamily="34" charset="-120"/>
              </a:rPr>
              <a:t>pacman hooks, ld.so.preload, .pth, PAM, setuid → block.</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VII. RESULTS &amp; EVALUATION</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Results: every checked acceptance criterion passes</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035040" cy="914400"/>
        </p:xfrm>
        <a:graphic>
          <a:graphicData uri="http://schemas.openxmlformats.org/drawingml/2006/table">
            <a:tbl>
              <a:tblPr/>
              <a:tblGrid>
                <a:gridCol w="502920"/>
                <a:gridCol w="2011680"/>
                <a:gridCol w="1463040"/>
                <a:gridCol w="1463040"/>
                <a:gridCol w="59436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Exp.</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Criterion</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indent="0" marL="0">
                        <a:buNone/>
                      </a:pP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r>
              <a:tr h="402336">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E1</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Attack replay (AC-1)</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 90% blocked</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9 / 9 = 100%</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50" b="1" dirty="0">
                          <a:solidFill>
                            <a:srgbClr val="2B7651"/>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02336">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E2</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False positives (AC-2)</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 5% blocked</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0 / 7 = 0%</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B7651"/>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402336">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E3</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Build compatibility (AC-3)</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measured</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measured in live demo</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50" b="1" dirty="0">
                          <a:solidFill>
                            <a:srgbClr val="9C6A06"/>
                          </a:solidFill>
                          <a:latin typeface="Calibri" pitchFamily="34" charset="0"/>
                          <a:ea typeface="Calibri" pitchFamily="34" charset="-122"/>
                          <a:cs typeface="Calibri" pitchFamily="34" charset="-120"/>
                        </a:rPr>
                        <a:t>N/A*</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02336">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E4</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Ablation (AC-4)</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no single mechanism</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best single: 3 / 9</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B7651"/>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402336">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E5</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Overhead (AC-5)</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&lt; 500 ms · &lt; 100 ms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8.3 µs · 60 µs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50" b="1" dirty="0">
                          <a:solidFill>
                            <a:srgbClr val="2B7651"/>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02336">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E6</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Split view (AC-6)</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030"/>
                          </a:solidFill>
                          <a:latin typeface="Calibri" pitchFamily="34" charset="0"/>
                          <a:ea typeface="Calibri" pitchFamily="34" charset="-122"/>
                          <a:cs typeface="Calibri" pitchFamily="34" charset="-120"/>
                        </a:rPr>
                        <a:t>100% detected</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B2030"/>
                          </a:solidFill>
                          <a:latin typeface="Calibri" pitchFamily="34" charset="0"/>
                          <a:ea typeface="Calibri" pitchFamily="34" charset="-122"/>
                          <a:cs typeface="Calibri" pitchFamily="34" charset="-120"/>
                        </a:rPr>
                        <a:t>200 / 200</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B7651"/>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63500" marR="63500" marT="50800" marB="508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548640" y="4370832"/>
            <a:ext cx="6035040" cy="237744"/>
          </a:xfrm>
          <a:prstGeom prst="rect">
            <a:avLst/>
          </a:prstGeom>
          <a:noFill/>
          <a:ln/>
        </p:spPr>
        <p:txBody>
          <a:bodyPr wrap="square" lIns="0" tIns="0" rIns="0" bIns="0" rtlCol="0" anchor="t"/>
          <a:lstStyle/>
          <a:p>
            <a:pPr algn="l" indent="0" marL="0">
              <a:buNone/>
            </a:pPr>
            <a:r>
              <a:rPr lang="en-US" sz="1000" i="1" dirty="0">
                <a:solidFill>
                  <a:srgbClr val="5B6275"/>
                </a:solidFill>
                <a:latin typeface="Calibri" pitchFamily="34" charset="0"/>
                <a:ea typeface="Calibri" pitchFamily="34" charset="-122"/>
                <a:cs typeface="Calibri" pitchFamily="34" charset="-120"/>
              </a:rPr>
              <a:t>* AC-3 is a measurement, not a pass/fail gate (SRS §8).</a:t>
            </a:r>
            <a:endParaRPr lang="en-US" sz="1000" dirty="0"/>
          </a:p>
        </p:txBody>
      </p:sp>
      <p:graphicFrame>
        <p:nvGraphicFramePr>
          <p:cNvPr id="19" name="Chart 0" descr=""/>
          <p:cNvGraphicFramePr/>
          <p:nvPr/>
        </p:nvGraphicFramePr>
        <p:xfrm>
          <a:off x="6812280" y="1417320"/>
          <a:ext cx="4846320" cy="3200400"/>
        </p:xfrm>
        <a:graphic xmlns:a="http://schemas.openxmlformats.org/drawingml/2006/main">
          <a:graphicData uri="http://schemas.openxmlformats.org/drawingml/2006/chart">
            <c:chart xmlns:c="http://schemas.openxmlformats.org/drawingml/2006/chart" r:id="rId1"/>
          </a:graphicData>
        </a:graphic>
      </p:graphicFrame>
      <p:sp>
        <p:nvSpPr>
          <p:cNvPr id="20" name="Shape 15"/>
          <p:cNvSpPr/>
          <p:nvPr/>
        </p:nvSpPr>
        <p:spPr>
          <a:xfrm>
            <a:off x="548640" y="4754880"/>
            <a:ext cx="2651760" cy="1463040"/>
          </a:xfrm>
          <a:prstGeom prst="roundRect">
            <a:avLst>
              <a:gd name="adj" fmla="val 5000"/>
            </a:avLst>
          </a:prstGeom>
          <a:solidFill>
            <a:srgbClr val="F4F5FA"/>
          </a:solidFill>
          <a:ln/>
        </p:spPr>
      </p:sp>
      <p:sp>
        <p:nvSpPr>
          <p:cNvPr id="21" name="Text 16"/>
          <p:cNvSpPr txBox="1"/>
          <p:nvPr/>
        </p:nvSpPr>
        <p:spPr>
          <a:xfrm>
            <a:off x="749808" y="4828032"/>
            <a:ext cx="2286000" cy="685800"/>
          </a:xfrm>
          <a:prstGeom prst="rect">
            <a:avLst/>
          </a:prstGeom>
          <a:noFill/>
          <a:ln/>
        </p:spPr>
        <p:txBody>
          <a:bodyPr wrap="square" lIns="0" tIns="0" rIns="0" bIns="0" rtlCol="0" anchor="t"/>
          <a:lstStyle/>
          <a:p>
            <a:pPr algn="l" indent="0" marL="0">
              <a:buNone/>
            </a:pPr>
            <a:r>
              <a:rPr lang="en-US" sz="3400" b="1" dirty="0">
                <a:solidFill>
                  <a:srgbClr val="2E3A8C"/>
                </a:solidFill>
                <a:latin typeface="Cambria" pitchFamily="34" charset="0"/>
                <a:ea typeface="Cambria" pitchFamily="34" charset="-122"/>
                <a:cs typeface="Cambria" pitchFamily="34" charset="-120"/>
              </a:rPr>
              <a:t>8.3 µs</a:t>
            </a:r>
            <a:endParaRPr lang="en-US" sz="3400" dirty="0"/>
          </a:p>
        </p:txBody>
      </p:sp>
      <p:sp>
        <p:nvSpPr>
          <p:cNvPr id="22" name="Text 17"/>
          <p:cNvSpPr txBox="1"/>
          <p:nvPr/>
        </p:nvSpPr>
        <p:spPr>
          <a:xfrm>
            <a:off x="749808" y="5532120"/>
            <a:ext cx="2331720" cy="594360"/>
          </a:xfrm>
          <a:prstGeom prst="rect">
            <a:avLst/>
          </a:prstGeom>
          <a:noFill/>
          <a:ln/>
        </p:spPr>
        <p:txBody>
          <a:bodyPr wrap="square" lIns="0" tIns="0" rIns="0" bIns="0" rtlCol="0" anchor="t"/>
          <a:lstStyle/>
          <a:p>
            <a:pPr algn="l" indent="0" marL="0">
              <a:buNone/>
            </a:pPr>
            <a:r>
              <a:rPr lang="en-US" sz="1200" dirty="0">
                <a:solidFill>
                  <a:srgbClr val="1B2030"/>
                </a:solidFill>
                <a:latin typeface="Calibri" pitchFamily="34" charset="0"/>
                <a:ea typeface="Calibri" pitchFamily="34" charset="-122"/>
                <a:cs typeface="Calibri" pitchFamily="34" charset="-120"/>
              </a:rPr>
              <a:t>policy decision (target &lt; 500 ms)</a:t>
            </a:r>
            <a:endParaRPr lang="en-US" sz="1200" dirty="0"/>
          </a:p>
        </p:txBody>
      </p:sp>
      <p:sp>
        <p:nvSpPr>
          <p:cNvPr id="23" name="Shape 18"/>
          <p:cNvSpPr/>
          <p:nvPr/>
        </p:nvSpPr>
        <p:spPr>
          <a:xfrm>
            <a:off x="3364992" y="4754880"/>
            <a:ext cx="2651760" cy="1463040"/>
          </a:xfrm>
          <a:prstGeom prst="roundRect">
            <a:avLst>
              <a:gd name="adj" fmla="val 5000"/>
            </a:avLst>
          </a:prstGeom>
          <a:solidFill>
            <a:srgbClr val="F4F5FA"/>
          </a:solidFill>
          <a:ln/>
        </p:spPr>
      </p:sp>
      <p:sp>
        <p:nvSpPr>
          <p:cNvPr id="24" name="Text 19"/>
          <p:cNvSpPr txBox="1"/>
          <p:nvPr/>
        </p:nvSpPr>
        <p:spPr>
          <a:xfrm>
            <a:off x="3566160" y="4828032"/>
            <a:ext cx="2286000" cy="685800"/>
          </a:xfrm>
          <a:prstGeom prst="rect">
            <a:avLst/>
          </a:prstGeom>
          <a:noFill/>
          <a:ln/>
        </p:spPr>
        <p:txBody>
          <a:bodyPr wrap="square" lIns="0" tIns="0" rIns="0" bIns="0" rtlCol="0" anchor="t"/>
          <a:lstStyle/>
          <a:p>
            <a:pPr algn="l" indent="0" marL="0">
              <a:buNone/>
            </a:pPr>
            <a:r>
              <a:rPr lang="en-US" sz="3400" b="1" dirty="0">
                <a:solidFill>
                  <a:srgbClr val="2E3A8C"/>
                </a:solidFill>
                <a:latin typeface="Cambria" pitchFamily="34" charset="0"/>
                <a:ea typeface="Cambria" pitchFamily="34" charset="-122"/>
                <a:cs typeface="Cambria" pitchFamily="34" charset="-120"/>
              </a:rPr>
              <a:t>60 µs</a:t>
            </a:r>
            <a:endParaRPr lang="en-US" sz="3400" dirty="0"/>
          </a:p>
        </p:txBody>
      </p:sp>
      <p:sp>
        <p:nvSpPr>
          <p:cNvPr id="25" name="Text 20"/>
          <p:cNvSpPr txBox="1"/>
          <p:nvPr/>
        </p:nvSpPr>
        <p:spPr>
          <a:xfrm>
            <a:off x="3566160" y="5532120"/>
            <a:ext cx="2331720" cy="594360"/>
          </a:xfrm>
          <a:prstGeom prst="rect">
            <a:avLst/>
          </a:prstGeom>
          <a:noFill/>
          <a:ln/>
        </p:spPr>
        <p:txBody>
          <a:bodyPr wrap="square" lIns="0" tIns="0" rIns="0" bIns="0" rtlCol="0" anchor="t"/>
          <a:lstStyle/>
          <a:p>
            <a:pPr algn="l" indent="0" marL="0">
              <a:buNone/>
            </a:pPr>
            <a:r>
              <a:rPr lang="en-US" sz="1200" dirty="0">
                <a:solidFill>
                  <a:srgbClr val="1B2030"/>
                </a:solidFill>
                <a:latin typeface="Calibri" pitchFamily="34" charset="0"/>
                <a:ea typeface="Calibri" pitchFamily="34" charset="-122"/>
                <a:cs typeface="Calibri" pitchFamily="34" charset="-120"/>
              </a:rPr>
              <a:t>Ed25519 verification (target &lt; 100 ms)</a:t>
            </a:r>
            <a:endParaRPr lang="en-US" sz="1200" dirty="0"/>
          </a:p>
        </p:txBody>
      </p:sp>
      <p:sp>
        <p:nvSpPr>
          <p:cNvPr id="26" name="Shape 21"/>
          <p:cNvSpPr/>
          <p:nvPr/>
        </p:nvSpPr>
        <p:spPr>
          <a:xfrm>
            <a:off x="6181344" y="4754880"/>
            <a:ext cx="2651760" cy="1463040"/>
          </a:xfrm>
          <a:prstGeom prst="roundRect">
            <a:avLst>
              <a:gd name="adj" fmla="val 5000"/>
            </a:avLst>
          </a:prstGeom>
          <a:solidFill>
            <a:srgbClr val="DCEEE3"/>
          </a:solidFill>
          <a:ln/>
        </p:spPr>
      </p:sp>
      <p:sp>
        <p:nvSpPr>
          <p:cNvPr id="27" name="Text 22"/>
          <p:cNvSpPr txBox="1"/>
          <p:nvPr/>
        </p:nvSpPr>
        <p:spPr>
          <a:xfrm>
            <a:off x="6382512" y="4828032"/>
            <a:ext cx="2286000" cy="685800"/>
          </a:xfrm>
          <a:prstGeom prst="rect">
            <a:avLst/>
          </a:prstGeom>
          <a:noFill/>
          <a:ln/>
        </p:spPr>
        <p:txBody>
          <a:bodyPr wrap="square" lIns="0" tIns="0" rIns="0" bIns="0" rtlCol="0" anchor="t"/>
          <a:lstStyle/>
          <a:p>
            <a:pPr algn="l" indent="0" marL="0">
              <a:buNone/>
            </a:pPr>
            <a:r>
              <a:rPr lang="en-US" sz="3400" b="1" dirty="0">
                <a:solidFill>
                  <a:srgbClr val="2B7651"/>
                </a:solidFill>
                <a:latin typeface="Cambria" pitchFamily="34" charset="0"/>
                <a:ea typeface="Cambria" pitchFamily="34" charset="-122"/>
                <a:cs typeface="Cambria" pitchFamily="34" charset="-120"/>
              </a:rPr>
              <a:t>0</a:t>
            </a:r>
            <a:endParaRPr lang="en-US" sz="3400" dirty="0"/>
          </a:p>
        </p:txBody>
      </p:sp>
      <p:sp>
        <p:nvSpPr>
          <p:cNvPr id="28" name="Text 23"/>
          <p:cNvSpPr txBox="1"/>
          <p:nvPr/>
        </p:nvSpPr>
        <p:spPr>
          <a:xfrm>
            <a:off x="6382512" y="5532120"/>
            <a:ext cx="2331720" cy="594360"/>
          </a:xfrm>
          <a:prstGeom prst="rect">
            <a:avLst/>
          </a:prstGeom>
          <a:noFill/>
          <a:ln/>
        </p:spPr>
        <p:txBody>
          <a:bodyPr wrap="square" lIns="0" tIns="0" rIns="0" bIns="0" rtlCol="0" anchor="t"/>
          <a:lstStyle/>
          <a:p>
            <a:pPr algn="l" indent="0" marL="0">
              <a:buNone/>
            </a:pPr>
            <a:r>
              <a:rPr lang="en-US" sz="1200" dirty="0">
                <a:solidFill>
                  <a:srgbClr val="1B2030"/>
                </a:solidFill>
                <a:latin typeface="Calibri" pitchFamily="34" charset="0"/>
                <a:ea typeface="Calibri" pitchFamily="34" charset="-122"/>
                <a:cs typeface="Calibri" pitchFamily="34" charset="-120"/>
              </a:rPr>
              <a:t>sink hits — malicious build under Heddle</a:t>
            </a:r>
            <a:endParaRPr lang="en-US" sz="1200" dirty="0"/>
          </a:p>
        </p:txBody>
      </p:sp>
      <p:sp>
        <p:nvSpPr>
          <p:cNvPr id="29" name="Shape 24"/>
          <p:cNvSpPr/>
          <p:nvPr/>
        </p:nvSpPr>
        <p:spPr>
          <a:xfrm>
            <a:off x="8997696" y="4754880"/>
            <a:ext cx="2651760" cy="1463040"/>
          </a:xfrm>
          <a:prstGeom prst="roundRect">
            <a:avLst>
              <a:gd name="adj" fmla="val 5000"/>
            </a:avLst>
          </a:prstGeom>
          <a:solidFill>
            <a:srgbClr val="F6DFDB"/>
          </a:solidFill>
          <a:ln/>
        </p:spPr>
      </p:sp>
      <p:sp>
        <p:nvSpPr>
          <p:cNvPr id="30" name="Text 25"/>
          <p:cNvSpPr txBox="1"/>
          <p:nvPr/>
        </p:nvSpPr>
        <p:spPr>
          <a:xfrm>
            <a:off x="9198864" y="4828032"/>
            <a:ext cx="2286000" cy="685800"/>
          </a:xfrm>
          <a:prstGeom prst="rect">
            <a:avLst/>
          </a:prstGeom>
          <a:noFill/>
          <a:ln/>
        </p:spPr>
        <p:txBody>
          <a:bodyPr wrap="square" lIns="0" tIns="0" rIns="0" bIns="0" rtlCol="0" anchor="t"/>
          <a:lstStyle/>
          <a:p>
            <a:pPr algn="l" indent="0" marL="0">
              <a:buNone/>
            </a:pPr>
            <a:r>
              <a:rPr lang="en-US" sz="3400" b="1" dirty="0">
                <a:solidFill>
                  <a:srgbClr val="B0352A"/>
                </a:solidFill>
                <a:latin typeface="Cambria" pitchFamily="34" charset="0"/>
                <a:ea typeface="Cambria" pitchFamily="34" charset="-122"/>
                <a:cs typeface="Cambria" pitchFamily="34" charset="-120"/>
              </a:rPr>
              <a:t>1</a:t>
            </a:r>
            <a:endParaRPr lang="en-US" sz="3400" dirty="0"/>
          </a:p>
        </p:txBody>
      </p:sp>
      <p:sp>
        <p:nvSpPr>
          <p:cNvPr id="31" name="Text 26"/>
          <p:cNvSpPr txBox="1"/>
          <p:nvPr/>
        </p:nvSpPr>
        <p:spPr>
          <a:xfrm>
            <a:off x="9198864" y="5532120"/>
            <a:ext cx="2331720" cy="594360"/>
          </a:xfrm>
          <a:prstGeom prst="rect">
            <a:avLst/>
          </a:prstGeom>
          <a:noFill/>
          <a:ln/>
        </p:spPr>
        <p:txBody>
          <a:bodyPr wrap="square" lIns="0" tIns="0" rIns="0" bIns="0" rtlCol="0" anchor="t"/>
          <a:lstStyle/>
          <a:p>
            <a:pPr algn="l" indent="0" marL="0">
              <a:buNone/>
            </a:pPr>
            <a:r>
              <a:rPr lang="en-US" sz="1200" dirty="0">
                <a:solidFill>
                  <a:srgbClr val="1B2030"/>
                </a:solidFill>
                <a:latin typeface="Calibri" pitchFamily="34" charset="0"/>
                <a:ea typeface="Calibri" pitchFamily="34" charset="-122"/>
                <a:cs typeface="Calibri" pitchFamily="34" charset="-120"/>
              </a:rPr>
              <a:t>sink hit — same build unconfined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VIII. LIVE DEMONSTRATION</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Live demonstration: nine attacks on a real deployment</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109960" cy="914400"/>
        </p:xfrm>
        <a:graphic>
          <a:graphicData uri="http://schemas.openxmlformats.org/drawingml/2006/table">
            <a:tbl>
              <a:tblPr/>
              <a:tblGrid>
                <a:gridCol w="2423160"/>
                <a:gridCol w="1325880"/>
                <a:gridCol w="1234440"/>
                <a:gridCol w="1234440"/>
                <a:gridCol w="1371600"/>
                <a:gridCol w="1325880"/>
                <a:gridCol w="1234440"/>
                <a:gridCol w="960120"/>
              </a:tblGrid>
              <a:tr h="42976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161B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Continuity</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Quarantine</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k-of-n rebuilds</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Heddle sandbox</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Placement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Warp witnesses</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2E3A8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161B33"/>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1  Healthy package</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2 ALLOWED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2  Quarantine + fast-path</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fastmover</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1 of 2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3  Orphan adoption</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orphan-tool</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rebuilders refused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6DFDB"/>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1 of 2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4  npm install in PKGBUILD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npm-helper</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1 of 2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5  Force-push + pacman hook</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forcepush-lib</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forcepush-lib</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2 of 3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6  .pth startup hook</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pth-inject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1 of 1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7  Confined vs unconfined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npm-helper</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1 of 2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8  Split-view attack</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DD2E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DD2E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DD2E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DD2E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CDD2E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fork rejected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FORK REJECTED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1B2030"/>
                          </a:solidFill>
                          <a:latin typeface="Calibri" pitchFamily="34" charset="0"/>
                          <a:ea typeface="Calibri" pitchFamily="34" charset="-122"/>
                          <a:cs typeface="Calibri" pitchFamily="34" charset="-120"/>
                        </a:rPr>
                        <a:t>9  Provenance audit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orphan-tool</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B0352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2B7651"/>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c>
                  <a:txBody>
                    <a:bodyPr/>
                    <a:lstStyle/>
                    <a:p>
                      <a:pPr algn="ctr" indent="0" marL="0">
                        <a:buNone/>
                      </a:pPr>
                      <a:r>
                        <a:rPr lang="en-US" sz="1100" b="1" dirty="0">
                          <a:solidFill>
                            <a:srgbClr val="B0352A"/>
                          </a:solidFill>
                          <a:latin typeface="Calibri" pitchFamily="34" charset="0"/>
                          <a:ea typeface="Calibri" pitchFamily="34" charset="-122"/>
                          <a:cs typeface="Calibri" pitchFamily="34" charset="-120"/>
                        </a:rPr>
                        <a:t>1 of 3 BLOCKED</a:t>
                      </a:r>
                      <a:endParaRPr lang="en-US" sz="1100" dirty="0">
                        <a:latin typeface="Calibri" charset="0"/>
                        <a:ea typeface="Calibri" charset="0"/>
                        <a:cs typeface="Calibri" charset="0"/>
                      </a:endParaRPr>
                    </a:p>
                  </a:txBody>
                  <a:tcPr marL="50800" marR="50800" marT="38100" marB="38100" anchor="ctr">
                    <a:lnL w="6350" cap="flat" cmpd="sng" algn="ctr">
                      <a:solidFill>
                        <a:srgbClr val="CDD2E3"/>
                      </a:solidFill>
                      <a:prstDash val="solid"/>
                      <a:round/>
                      <a:headEnd type="none" w="med" len="med"/>
                      <a:tailEnd type="none" w="med" len="med"/>
                    </a:lnL>
                    <a:lnR w="6350" cap="flat" cmpd="sng" algn="ctr">
                      <a:solidFill>
                        <a:srgbClr val="CDD2E3"/>
                      </a:solidFill>
                      <a:prstDash val="solid"/>
                      <a:round/>
                      <a:headEnd type="none" w="med" len="med"/>
                      <a:tailEnd type="none" w="med" len="med"/>
                    </a:lnR>
                    <a:lnT w="6350" cap="flat" cmpd="sng" algn="ctr">
                      <a:solidFill>
                        <a:srgbClr val="CDD2E3"/>
                      </a:solidFill>
                      <a:prstDash val="solid"/>
                      <a:round/>
                      <a:headEnd type="none" w="med" len="med"/>
                      <a:tailEnd type="none" w="med" len="med"/>
                    </a:lnT>
                    <a:lnB w="6350" cap="flat" cmpd="sng" algn="ctr">
                      <a:solidFill>
                        <a:srgbClr val="CDD2E3"/>
                      </a:solidFill>
                      <a:prstDash val="solid"/>
                      <a:round/>
                      <a:headEnd type="none" w="med" len="med"/>
                      <a:tailEnd type="none" w="med" len="med"/>
                    </a:lnB>
                    <a:solidFill>
                      <a:srgbClr val="F4F5FA"/>
                    </a:solidFill>
                  </a:tcPr>
                </a:tc>
              </a:tr>
            </a:tbl>
          </a:graphicData>
        </a:graphic>
      </p:graphicFrame>
      <p:sp>
        <p:nvSpPr>
          <p:cNvPr id="18" name="Text 14"/>
          <p:cNvSpPr txBox="1"/>
          <p:nvPr/>
        </p:nvSpPr>
        <p:spPr>
          <a:xfrm>
            <a:off x="548640" y="6035040"/>
            <a:ext cx="11064240" cy="274320"/>
          </a:xfrm>
          <a:prstGeom prst="rect">
            <a:avLst/>
          </a:prstGeom>
          <a:noFill/>
          <a:ln/>
        </p:spPr>
        <p:txBody>
          <a:bodyPr wrap="square" lIns="0" tIns="0" rIns="0" bIns="0" rtlCol="0" anchor="t"/>
          <a:lstStyle/>
          <a:p>
            <a:pPr algn="l" indent="0" marL="0">
              <a:buNone/>
            </a:pPr>
            <a:r>
              <a:rPr lang="en-US" sz="1100" i="1" dirty="0">
                <a:solidFill>
                  <a:srgbClr val="5B6275"/>
                </a:solidFill>
                <a:latin typeface="Calibri" pitchFamily="34" charset="0"/>
                <a:ea typeface="Calibri" pitchFamily="34" charset="-122"/>
                <a:cs typeface="Calibri" pitchFamily="34" charset="-120"/>
              </a:rPr>
              <a:t>Red: this check stopped the package · pink: no rebuilder would attest it · ✓ evaluated and passed · from the live run's event journal; live console at http://127.0.0.1:7790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B33"/>
        </a:solidFill>
      </p:bgPr>
    </p:bg>
    <p:spTree>
      <p:nvGrpSpPr>
        <p:cNvPr id="1" name=""/>
        <p:cNvGrpSpPr/>
        <p:nvPr/>
      </p:nvGrpSpPr>
      <p:grpSpPr>
        <a:xfrm>
          <a:off x="0" y="0"/>
          <a:ext cx="0" cy="0"/>
          <a:chOff x="0" y="0"/>
          <a:chExt cx="0" cy="0"/>
        </a:xfrm>
      </p:grpSpPr>
      <p:sp>
        <p:nvSpPr>
          <p:cNvPr id="3" name="Shape 0"/>
          <p:cNvSpPr/>
          <p:nvPr/>
        </p:nvSpPr>
        <p:spPr>
          <a:xfrm>
            <a:off x="682828" y="502920"/>
            <a:ext cx="65380" cy="502920"/>
          </a:xfrm>
          <a:prstGeom prst="rect">
            <a:avLst/>
          </a:prstGeom>
          <a:solidFill>
            <a:srgbClr val="8C9BFF"/>
          </a:solidFill>
          <a:ln/>
        </p:spPr>
      </p:sp>
      <p:sp>
        <p:nvSpPr>
          <p:cNvPr id="4" name="Shape 1"/>
          <p:cNvSpPr/>
          <p:nvPr/>
        </p:nvSpPr>
        <p:spPr>
          <a:xfrm>
            <a:off x="833704" y="502920"/>
            <a:ext cx="65380" cy="502920"/>
          </a:xfrm>
          <a:prstGeom prst="rect">
            <a:avLst/>
          </a:prstGeom>
          <a:solidFill>
            <a:srgbClr val="8C9BFF"/>
          </a:solidFill>
          <a:ln/>
        </p:spPr>
      </p:sp>
      <p:sp>
        <p:nvSpPr>
          <p:cNvPr id="5" name="Shape 2"/>
          <p:cNvSpPr/>
          <p:nvPr/>
        </p:nvSpPr>
        <p:spPr>
          <a:xfrm>
            <a:off x="984580" y="502920"/>
            <a:ext cx="65380" cy="502920"/>
          </a:xfrm>
          <a:prstGeom prst="rect">
            <a:avLst/>
          </a:prstGeom>
          <a:solidFill>
            <a:srgbClr val="8C9BFF"/>
          </a:solidFill>
          <a:ln/>
        </p:spPr>
      </p:sp>
      <p:sp>
        <p:nvSpPr>
          <p:cNvPr id="6" name="Shape 3"/>
          <p:cNvSpPr/>
          <p:nvPr/>
        </p:nvSpPr>
        <p:spPr>
          <a:xfrm>
            <a:off x="640080" y="570814"/>
            <a:ext cx="502920" cy="65380"/>
          </a:xfrm>
          <a:prstGeom prst="rect">
            <a:avLst/>
          </a:prstGeom>
          <a:solidFill>
            <a:srgbClr val="E0A526"/>
          </a:solidFill>
          <a:ln/>
        </p:spPr>
      </p:sp>
      <p:sp>
        <p:nvSpPr>
          <p:cNvPr id="7" name="Shape 4"/>
          <p:cNvSpPr/>
          <p:nvPr/>
        </p:nvSpPr>
        <p:spPr>
          <a:xfrm>
            <a:off x="640080" y="721690"/>
            <a:ext cx="502920" cy="65380"/>
          </a:xfrm>
          <a:prstGeom prst="rect">
            <a:avLst/>
          </a:prstGeom>
          <a:solidFill>
            <a:srgbClr val="E0A526"/>
          </a:solidFill>
          <a:ln/>
        </p:spPr>
      </p:sp>
      <p:sp>
        <p:nvSpPr>
          <p:cNvPr id="8" name="Shape 5"/>
          <p:cNvSpPr/>
          <p:nvPr/>
        </p:nvSpPr>
        <p:spPr>
          <a:xfrm>
            <a:off x="640080" y="872566"/>
            <a:ext cx="502920" cy="65380"/>
          </a:xfrm>
          <a:prstGeom prst="rect">
            <a:avLst/>
          </a:prstGeom>
          <a:solidFill>
            <a:srgbClr val="E0A526"/>
          </a:solidFill>
          <a:ln/>
        </p:spPr>
      </p:sp>
      <p:sp>
        <p:nvSpPr>
          <p:cNvPr id="9" name="Shape 6"/>
          <p:cNvSpPr/>
          <p:nvPr/>
        </p:nvSpPr>
        <p:spPr>
          <a:xfrm>
            <a:off x="682828" y="689000"/>
            <a:ext cx="65380" cy="130759"/>
          </a:xfrm>
          <a:prstGeom prst="rect">
            <a:avLst/>
          </a:prstGeom>
          <a:solidFill>
            <a:srgbClr val="8C9BFF"/>
          </a:solidFill>
          <a:ln/>
        </p:spPr>
      </p:sp>
      <p:sp>
        <p:nvSpPr>
          <p:cNvPr id="10" name="Shape 7"/>
          <p:cNvSpPr/>
          <p:nvPr/>
        </p:nvSpPr>
        <p:spPr>
          <a:xfrm>
            <a:off x="833704" y="538124"/>
            <a:ext cx="65380" cy="130759"/>
          </a:xfrm>
          <a:prstGeom prst="rect">
            <a:avLst/>
          </a:prstGeom>
          <a:solidFill>
            <a:srgbClr val="8C9BFF"/>
          </a:solidFill>
          <a:ln/>
        </p:spPr>
      </p:sp>
      <p:sp>
        <p:nvSpPr>
          <p:cNvPr id="11" name="Shape 8"/>
          <p:cNvSpPr/>
          <p:nvPr/>
        </p:nvSpPr>
        <p:spPr>
          <a:xfrm>
            <a:off x="833704" y="839876"/>
            <a:ext cx="65380" cy="130759"/>
          </a:xfrm>
          <a:prstGeom prst="rect">
            <a:avLst/>
          </a:prstGeom>
          <a:solidFill>
            <a:srgbClr val="8C9BFF"/>
          </a:solidFill>
          <a:ln/>
        </p:spPr>
      </p:sp>
      <p:sp>
        <p:nvSpPr>
          <p:cNvPr id="12" name="Shape 9"/>
          <p:cNvSpPr/>
          <p:nvPr/>
        </p:nvSpPr>
        <p:spPr>
          <a:xfrm>
            <a:off x="984580" y="689000"/>
            <a:ext cx="65380" cy="130759"/>
          </a:xfrm>
          <a:prstGeom prst="rect">
            <a:avLst/>
          </a:prstGeom>
          <a:solidFill>
            <a:srgbClr val="8C9BFF"/>
          </a:solidFill>
          <a:ln/>
        </p:spPr>
      </p:sp>
      <p:sp>
        <p:nvSpPr>
          <p:cNvPr id="13" name="Text 10"/>
          <p:cNvSpPr txBox="1"/>
          <p:nvPr/>
        </p:nvSpPr>
        <p:spPr>
          <a:xfrm>
            <a:off x="1325880" y="621792"/>
            <a:ext cx="7315200" cy="320040"/>
          </a:xfrm>
          <a:prstGeom prst="rect">
            <a:avLst/>
          </a:prstGeom>
          <a:noFill/>
          <a:ln/>
        </p:spPr>
        <p:txBody>
          <a:bodyPr wrap="square" lIns="0" tIns="0" rIns="0" bIns="0" rtlCol="0" anchor="t"/>
          <a:lstStyle/>
          <a:p>
            <a:pPr algn="l" indent="0" marL="0">
              <a:buNone/>
            </a:pPr>
            <a:r>
              <a:rPr lang="en-US" sz="1200" b="1" spc="400" kern="0" dirty="0">
                <a:solidFill>
                  <a:srgbClr val="E0A526"/>
                </a:solidFill>
                <a:latin typeface="Calibri" pitchFamily="34" charset="0"/>
                <a:ea typeface="Calibri" pitchFamily="34" charset="-122"/>
                <a:cs typeface="Calibri" pitchFamily="34" charset="-120"/>
              </a:rPr>
              <a:t>IX. CONCLUSION</a:t>
            </a:r>
            <a:endParaRPr lang="en-US" sz="1200" dirty="0"/>
          </a:p>
        </p:txBody>
      </p:sp>
      <p:sp>
        <p:nvSpPr>
          <p:cNvPr id="14" name="Text 11"/>
          <p:cNvSpPr txBox="1"/>
          <p:nvPr/>
        </p:nvSpPr>
        <p:spPr>
          <a:xfrm>
            <a:off x="640080" y="1143000"/>
            <a:ext cx="10881360" cy="914400"/>
          </a:xfrm>
          <a:prstGeom prst="rect">
            <a:avLst/>
          </a:prstGeom>
          <a:noFill/>
          <a:ln/>
        </p:spPr>
        <p:txBody>
          <a:bodyPr wrap="square" lIns="0" tIns="0" rIns="0" bIns="0" rtlCol="0" anchor="t"/>
          <a:lstStyle/>
          <a:p>
            <a:pPr algn="l" indent="0" marL="0">
              <a:buNone/>
            </a:pPr>
            <a:r>
              <a:rPr lang="en-US" sz="2600" b="1" dirty="0">
                <a:solidFill>
                  <a:srgbClr val="FFFFFF"/>
                </a:solidFill>
                <a:latin typeface="Cambria" pitchFamily="34" charset="0"/>
                <a:ea typeface="Cambria" pitchFamily="34" charset="-122"/>
                <a:cs typeface="Cambria" pitchFamily="34" charset="-120"/>
              </a:rPr>
              <a:t>Loom turns installing community software into a verifiable decision instead of an act of faith.</a:t>
            </a:r>
            <a:endParaRPr lang="en-US" sz="2600" dirty="0"/>
          </a:p>
        </p:txBody>
      </p:sp>
      <p:sp>
        <p:nvSpPr>
          <p:cNvPr id="15" name="Text 12"/>
          <p:cNvSpPr txBox="1"/>
          <p:nvPr/>
        </p:nvSpPr>
        <p:spPr>
          <a:xfrm>
            <a:off x="640080" y="2240280"/>
            <a:ext cx="2560320" cy="365760"/>
          </a:xfrm>
          <a:prstGeom prst="rect">
            <a:avLst/>
          </a:prstGeom>
          <a:noFill/>
          <a:ln/>
        </p:spPr>
        <p:txBody>
          <a:bodyPr wrap="square" lIns="0" tIns="0" rIns="0" bIns="0" rtlCol="0" anchor="t"/>
          <a:lstStyle/>
          <a:p>
            <a:pPr algn="l" indent="0" marL="0">
              <a:buNone/>
            </a:pPr>
            <a:r>
              <a:rPr lang="en-US" sz="1900" b="1" dirty="0">
                <a:solidFill>
                  <a:srgbClr val="E0A526"/>
                </a:solidFill>
                <a:latin typeface="Cambria" pitchFamily="34" charset="0"/>
                <a:ea typeface="Cambria" pitchFamily="34" charset="-122"/>
                <a:cs typeface="Cambria" pitchFamily="34" charset="-120"/>
              </a:rPr>
              <a:t>Contain</a:t>
            </a:r>
            <a:endParaRPr lang="en-US" sz="1900" dirty="0"/>
          </a:p>
        </p:txBody>
      </p:sp>
      <p:sp>
        <p:nvSpPr>
          <p:cNvPr id="16" name="Text 13"/>
          <p:cNvSpPr txBox="1"/>
          <p:nvPr/>
        </p:nvSpPr>
        <p:spPr>
          <a:xfrm>
            <a:off x="640080" y="2651760"/>
            <a:ext cx="2560320" cy="914400"/>
          </a:xfrm>
          <a:prstGeom prst="rect">
            <a:avLst/>
          </a:prstGeom>
          <a:noFill/>
          <a:ln/>
        </p:spPr>
        <p:txBody>
          <a:bodyPr wrap="square" lIns="0" tIns="0" rIns="0" bIns="0" rtlCol="0" anchor="t"/>
          <a:lstStyle/>
          <a:p>
            <a:pPr algn="l" indent="0" marL="0">
              <a:buNone/>
            </a:pPr>
            <a:r>
              <a:rPr lang="en-US" sz="1200" dirty="0">
                <a:solidFill>
                  <a:srgbClr val="DDE2FF"/>
                </a:solidFill>
                <a:latin typeface="Calibri" pitchFamily="34" charset="0"/>
                <a:ea typeface="Calibri" pitchFamily="34" charset="-122"/>
                <a:cs typeface="Calibri" pitchFamily="34" charset="-120"/>
              </a:rPr>
              <a:t>No home directory, credentials or network for any build; hostile attempts rejected even at exit 0.</a:t>
            </a:r>
            <a:endParaRPr lang="en-US" sz="1200" dirty="0"/>
          </a:p>
        </p:txBody>
      </p:sp>
      <p:sp>
        <p:nvSpPr>
          <p:cNvPr id="17" name="Text 14"/>
          <p:cNvSpPr txBox="1"/>
          <p:nvPr/>
        </p:nvSpPr>
        <p:spPr>
          <a:xfrm>
            <a:off x="3429000" y="2240280"/>
            <a:ext cx="2560320" cy="365760"/>
          </a:xfrm>
          <a:prstGeom prst="rect">
            <a:avLst/>
          </a:prstGeom>
          <a:noFill/>
          <a:ln/>
        </p:spPr>
        <p:txBody>
          <a:bodyPr wrap="square" lIns="0" tIns="0" rIns="0" bIns="0" rtlCol="0" anchor="t"/>
          <a:lstStyle/>
          <a:p>
            <a:pPr algn="l" indent="0" marL="0">
              <a:buNone/>
            </a:pPr>
            <a:r>
              <a:rPr lang="en-US" sz="1900" b="1" dirty="0">
                <a:solidFill>
                  <a:srgbClr val="E0A526"/>
                </a:solidFill>
                <a:latin typeface="Cambria" pitchFamily="34" charset="0"/>
                <a:ea typeface="Cambria" pitchFamily="34" charset="-122"/>
                <a:cs typeface="Cambria" pitchFamily="34" charset="-120"/>
              </a:rPr>
              <a:t>Verify</a:t>
            </a:r>
            <a:endParaRPr lang="en-US" sz="1900" dirty="0"/>
          </a:p>
        </p:txBody>
      </p:sp>
      <p:sp>
        <p:nvSpPr>
          <p:cNvPr id="18" name="Text 15"/>
          <p:cNvSpPr txBox="1"/>
          <p:nvPr/>
        </p:nvSpPr>
        <p:spPr>
          <a:xfrm>
            <a:off x="3429000" y="2651760"/>
            <a:ext cx="2560320" cy="914400"/>
          </a:xfrm>
          <a:prstGeom prst="rect">
            <a:avLst/>
          </a:prstGeom>
          <a:noFill/>
          <a:ln/>
        </p:spPr>
        <p:txBody>
          <a:bodyPr wrap="square" lIns="0" tIns="0" rIns="0" bIns="0" rtlCol="0" anchor="t"/>
          <a:lstStyle/>
          <a:p>
            <a:pPr algn="l" indent="0" marL="0">
              <a:buNone/>
            </a:pPr>
            <a:r>
              <a:rPr lang="en-US" sz="1200" dirty="0">
                <a:solidFill>
                  <a:srgbClr val="DDE2FF"/>
                </a:solidFill>
                <a:latin typeface="Calibri" pitchFamily="34" charset="0"/>
                <a:ea typeface="Calibri" pitchFamily="34" charset="-122"/>
                <a:cs typeface="Calibri" pitchFamily="34" charset="-120"/>
              </a:rPr>
              <a:t>Installed only when independent rebuilders reproduce it, recorded in a witnessed log.</a:t>
            </a:r>
            <a:endParaRPr lang="en-US" sz="1200" dirty="0"/>
          </a:p>
        </p:txBody>
      </p:sp>
      <p:sp>
        <p:nvSpPr>
          <p:cNvPr id="19" name="Text 16"/>
          <p:cNvSpPr txBox="1"/>
          <p:nvPr/>
        </p:nvSpPr>
        <p:spPr>
          <a:xfrm>
            <a:off x="6217920" y="2240280"/>
            <a:ext cx="2560320" cy="365760"/>
          </a:xfrm>
          <a:prstGeom prst="rect">
            <a:avLst/>
          </a:prstGeom>
          <a:noFill/>
          <a:ln/>
        </p:spPr>
        <p:txBody>
          <a:bodyPr wrap="square" lIns="0" tIns="0" rIns="0" bIns="0" rtlCol="0" anchor="t"/>
          <a:lstStyle/>
          <a:p>
            <a:pPr algn="l" indent="0" marL="0">
              <a:buNone/>
            </a:pPr>
            <a:r>
              <a:rPr lang="en-US" sz="1900" b="1" dirty="0">
                <a:solidFill>
                  <a:srgbClr val="E0A526"/>
                </a:solidFill>
                <a:latin typeface="Cambria" pitchFamily="34" charset="0"/>
                <a:ea typeface="Cambria" pitchFamily="34" charset="-122"/>
                <a:cs typeface="Cambria" pitchFamily="34" charset="-120"/>
              </a:rPr>
              <a:t>Detect</a:t>
            </a:r>
            <a:endParaRPr lang="en-US" sz="1900" dirty="0"/>
          </a:p>
        </p:txBody>
      </p:sp>
      <p:sp>
        <p:nvSpPr>
          <p:cNvPr id="20" name="Text 17"/>
          <p:cNvSpPr txBox="1"/>
          <p:nvPr/>
        </p:nvSpPr>
        <p:spPr>
          <a:xfrm>
            <a:off x="6217920" y="2651760"/>
            <a:ext cx="2560320" cy="914400"/>
          </a:xfrm>
          <a:prstGeom prst="rect">
            <a:avLst/>
          </a:prstGeom>
          <a:noFill/>
          <a:ln/>
        </p:spPr>
        <p:txBody>
          <a:bodyPr wrap="square" lIns="0" tIns="0" rIns="0" bIns="0" rtlCol="0" anchor="t"/>
          <a:lstStyle/>
          <a:p>
            <a:pPr algn="l" indent="0" marL="0">
              <a:buNone/>
            </a:pPr>
            <a:r>
              <a:rPr lang="en-US" sz="1200" dirty="0">
                <a:solidFill>
                  <a:srgbClr val="DDE2FF"/>
                </a:solidFill>
                <a:latin typeface="Calibri" pitchFamily="34" charset="0"/>
                <a:ea typeface="Calibri" pitchFamily="34" charset="-122"/>
                <a:cs typeface="Calibri" pitchFamily="34" charset="-120"/>
              </a:rPr>
              <a:t>Orphan adoption, force-pushes, fresh releases and persistence placements caught before install.</a:t>
            </a:r>
            <a:endParaRPr lang="en-US" sz="1200" dirty="0"/>
          </a:p>
        </p:txBody>
      </p:sp>
      <p:sp>
        <p:nvSpPr>
          <p:cNvPr id="21" name="Text 18"/>
          <p:cNvSpPr txBox="1"/>
          <p:nvPr/>
        </p:nvSpPr>
        <p:spPr>
          <a:xfrm>
            <a:off x="9006840" y="2240280"/>
            <a:ext cx="2560320" cy="365760"/>
          </a:xfrm>
          <a:prstGeom prst="rect">
            <a:avLst/>
          </a:prstGeom>
          <a:noFill/>
          <a:ln/>
        </p:spPr>
        <p:txBody>
          <a:bodyPr wrap="square" lIns="0" tIns="0" rIns="0" bIns="0" rtlCol="0" anchor="t"/>
          <a:lstStyle/>
          <a:p>
            <a:pPr algn="l" indent="0" marL="0">
              <a:buNone/>
            </a:pPr>
            <a:r>
              <a:rPr lang="en-US" sz="1900" b="1" dirty="0">
                <a:solidFill>
                  <a:srgbClr val="E0A526"/>
                </a:solidFill>
                <a:latin typeface="Cambria" pitchFamily="34" charset="0"/>
                <a:ea typeface="Cambria" pitchFamily="34" charset="-122"/>
                <a:cs typeface="Cambria" pitchFamily="34" charset="-120"/>
              </a:rPr>
              <a:t>Explain</a:t>
            </a:r>
            <a:endParaRPr lang="en-US" sz="1900" dirty="0"/>
          </a:p>
        </p:txBody>
      </p:sp>
      <p:sp>
        <p:nvSpPr>
          <p:cNvPr id="22" name="Text 19"/>
          <p:cNvSpPr txBox="1"/>
          <p:nvPr/>
        </p:nvSpPr>
        <p:spPr>
          <a:xfrm>
            <a:off x="9006840" y="2651760"/>
            <a:ext cx="2560320" cy="914400"/>
          </a:xfrm>
          <a:prstGeom prst="rect">
            <a:avLst/>
          </a:prstGeom>
          <a:noFill/>
          <a:ln/>
        </p:spPr>
        <p:txBody>
          <a:bodyPr wrap="square" lIns="0" tIns="0" rIns="0" bIns="0" rtlCol="0" anchor="t"/>
          <a:lstStyle/>
          <a:p>
            <a:pPr algn="l" indent="0" marL="0">
              <a:buNone/>
            </a:pPr>
            <a:r>
              <a:rPr lang="en-US" sz="1200" dirty="0">
                <a:solidFill>
                  <a:srgbClr val="DDE2FF"/>
                </a:solidFill>
                <a:latin typeface="Calibri" pitchFamily="34" charset="0"/>
                <a:ea typeface="Calibri" pitchFamily="34" charset="-122"/>
                <a:cs typeface="Calibri" pitchFamily="34" charset="-120"/>
              </a:rPr>
              <a:t>Every decision names its rule, its evidence and the command to proceed.</a:t>
            </a:r>
            <a:endParaRPr lang="en-US" sz="1200" dirty="0"/>
          </a:p>
        </p:txBody>
      </p:sp>
      <p:sp>
        <p:nvSpPr>
          <p:cNvPr id="23" name="Shape 20"/>
          <p:cNvSpPr/>
          <p:nvPr/>
        </p:nvSpPr>
        <p:spPr>
          <a:xfrm>
            <a:off x="640080" y="3749040"/>
            <a:ext cx="5394960" cy="1965960"/>
          </a:xfrm>
          <a:prstGeom prst="roundRect">
            <a:avLst>
              <a:gd name="adj" fmla="val 3721"/>
            </a:avLst>
          </a:prstGeom>
          <a:solidFill>
            <a:srgbClr val="232A55"/>
          </a:solidFill>
          <a:ln/>
        </p:spPr>
      </p:sp>
      <p:sp>
        <p:nvSpPr>
          <p:cNvPr id="24" name="Text 21"/>
          <p:cNvSpPr txBox="1"/>
          <p:nvPr/>
        </p:nvSpPr>
        <p:spPr>
          <a:xfrm>
            <a:off x="868680" y="3840480"/>
            <a:ext cx="4937760" cy="320040"/>
          </a:xfrm>
          <a:prstGeom prst="rect">
            <a:avLst/>
          </a:prstGeom>
          <a:noFill/>
          <a:ln/>
        </p:spPr>
        <p:txBody>
          <a:bodyPr wrap="square" lIns="0" tIns="0" rIns="0" bIns="0" rtlCol="0" anchor="t"/>
          <a:lstStyle/>
          <a:p>
            <a:pPr algn="l" indent="0" marL="0">
              <a:buNone/>
            </a:pPr>
            <a:r>
              <a:rPr lang="en-US" sz="1500" b="1" dirty="0">
                <a:solidFill>
                  <a:srgbClr val="FF9E8F"/>
                </a:solidFill>
                <a:latin typeface="Cambria" pitchFamily="34" charset="0"/>
                <a:ea typeface="Cambria" pitchFamily="34" charset="-122"/>
                <a:cs typeface="Cambria" pitchFamily="34" charset="-120"/>
              </a:rPr>
              <a:t>Limitations</a:t>
            </a:r>
            <a:endParaRPr lang="en-US" sz="1500" dirty="0"/>
          </a:p>
        </p:txBody>
      </p:sp>
      <p:sp>
        <p:nvSpPr>
          <p:cNvPr id="25" name="Text 22"/>
          <p:cNvSpPr txBox="1"/>
          <p:nvPr/>
        </p:nvSpPr>
        <p:spPr>
          <a:xfrm>
            <a:off x="868680" y="4224528"/>
            <a:ext cx="4983480" cy="146304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DDE2FF"/>
                </a:solidFill>
                <a:latin typeface="Calibri" pitchFamily="34" charset="0"/>
                <a:ea typeface="Calibri" pitchFamily="34" charset="-122"/>
                <a:cs typeface="Calibri" pitchFamily="34" charset="-120"/>
              </a:rPr>
              <a:t>Rebuilder independence simulated on one host (ASM-4).</a:t>
            </a:r>
            <a:endParaRPr lang="en-US" sz="1300" dirty="0"/>
          </a:p>
          <a:p>
            <a:pPr marL="203200" indent="-203200">
              <a:spcAft>
                <a:spcPts val="700"/>
              </a:spcAft>
              <a:buSzPct val="100000"/>
              <a:buChar char="•"/>
            </a:pPr>
            <a:r>
              <a:rPr lang="en-US" sz="1300" dirty="0">
                <a:solidFill>
                  <a:srgbClr val="DDE2FF"/>
                </a:solidFill>
                <a:latin typeface="Calibri" pitchFamily="34" charset="0"/>
                <a:ea typeface="Calibri" pitchFamily="34" charset="-122"/>
                <a:cs typeface="Calibri" pitchFamily="34" charset="-120"/>
              </a:rPr>
              <a:t>Proves artifact = source, not that the source is benign (OOS-5).</a:t>
            </a:r>
            <a:endParaRPr lang="en-US" sz="1300" dirty="0"/>
          </a:p>
          <a:p>
            <a:pPr marL="203200" indent="-203200">
              <a:spcAft>
                <a:spcPts val="700"/>
              </a:spcAft>
              <a:buSzPct val="100000"/>
              <a:buChar char="•"/>
            </a:pPr>
            <a:r>
              <a:rPr lang="en-US" sz="1300" dirty="0">
                <a:solidFill>
                  <a:srgbClr val="DDE2FF"/>
                </a:solidFill>
                <a:latin typeface="Calibri" pitchFamily="34" charset="0"/>
                <a:ea typeface="Calibri" pitchFamily="34" charset="-122"/>
                <a:cs typeface="Calibri" pitchFamily="34" charset="-120"/>
              </a:rPr>
              <a:t>Permissioned log admission; non-reproducible packages never reach k.</a:t>
            </a:r>
            <a:endParaRPr lang="en-US" sz="1300" dirty="0"/>
          </a:p>
        </p:txBody>
      </p:sp>
      <p:sp>
        <p:nvSpPr>
          <p:cNvPr id="26" name="Shape 23"/>
          <p:cNvSpPr/>
          <p:nvPr/>
        </p:nvSpPr>
        <p:spPr>
          <a:xfrm>
            <a:off x="6172200" y="3749040"/>
            <a:ext cx="5394960" cy="1965960"/>
          </a:xfrm>
          <a:prstGeom prst="roundRect">
            <a:avLst>
              <a:gd name="adj" fmla="val 3721"/>
            </a:avLst>
          </a:prstGeom>
          <a:solidFill>
            <a:srgbClr val="232A55"/>
          </a:solidFill>
          <a:ln/>
        </p:spPr>
      </p:sp>
      <p:sp>
        <p:nvSpPr>
          <p:cNvPr id="27" name="Text 24"/>
          <p:cNvSpPr txBox="1"/>
          <p:nvPr/>
        </p:nvSpPr>
        <p:spPr>
          <a:xfrm>
            <a:off x="6400800" y="3840480"/>
            <a:ext cx="4937760" cy="320040"/>
          </a:xfrm>
          <a:prstGeom prst="rect">
            <a:avLst/>
          </a:prstGeom>
          <a:noFill/>
          <a:ln/>
        </p:spPr>
        <p:txBody>
          <a:bodyPr wrap="square" lIns="0" tIns="0" rIns="0" bIns="0" rtlCol="0" anchor="t"/>
          <a:lstStyle/>
          <a:p>
            <a:pPr algn="l" indent="0" marL="0">
              <a:buNone/>
            </a:pPr>
            <a:r>
              <a:rPr lang="en-US" sz="1500" b="1" dirty="0">
                <a:solidFill>
                  <a:srgbClr val="8FE0B5"/>
                </a:solidFill>
                <a:latin typeface="Cambria" pitchFamily="34" charset="0"/>
                <a:ea typeface="Cambria" pitchFamily="34" charset="-122"/>
                <a:cs typeface="Cambria" pitchFamily="34" charset="-120"/>
              </a:rPr>
              <a:t>Future work</a:t>
            </a:r>
            <a:endParaRPr lang="en-US" sz="1500" dirty="0"/>
          </a:p>
        </p:txBody>
      </p:sp>
      <p:sp>
        <p:nvSpPr>
          <p:cNvPr id="28" name="Text 25"/>
          <p:cNvSpPr txBox="1"/>
          <p:nvPr/>
        </p:nvSpPr>
        <p:spPr>
          <a:xfrm>
            <a:off x="6400800" y="4224528"/>
            <a:ext cx="4983480" cy="146304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DDE2FF"/>
                </a:solidFill>
                <a:latin typeface="Calibri" pitchFamily="34" charset="0"/>
                <a:ea typeface="Calibri" pitchFamily="34" charset="-122"/>
                <a:cs typeface="Calibri" pitchFamily="34" charset="-120"/>
              </a:rPr>
              <a:t>A real federation of independent rebuilders and witnesses.</a:t>
            </a:r>
            <a:endParaRPr lang="en-US" sz="1300" dirty="0"/>
          </a:p>
          <a:p>
            <a:pPr marL="203200" indent="-203200">
              <a:spcAft>
                <a:spcPts val="700"/>
              </a:spcAft>
              <a:buSzPct val="100000"/>
              <a:buChar char="•"/>
            </a:pPr>
            <a:r>
              <a:rPr lang="en-US" sz="1300" dirty="0">
                <a:solidFill>
                  <a:srgbClr val="DDE2FF"/>
                </a:solidFill>
                <a:latin typeface="Calibri" pitchFamily="34" charset="0"/>
                <a:ea typeface="Calibri" pitchFamily="34" charset="-122"/>
                <a:cs typeface="Calibri" pitchFamily="34" charset="-120"/>
              </a:rPr>
              <a:t>npm / PyPI / crates.io backends: engines unchanged (NFR-MNT-1).</a:t>
            </a:r>
            <a:endParaRPr lang="en-US" sz="1300" dirty="0"/>
          </a:p>
          <a:p>
            <a:pPr marL="203200" indent="-203200">
              <a:spcAft>
                <a:spcPts val="700"/>
              </a:spcAft>
              <a:buSzPct val="100000"/>
              <a:buChar char="•"/>
            </a:pPr>
            <a:r>
              <a:rPr lang="en-US" sz="1300" dirty="0">
                <a:solidFill>
                  <a:srgbClr val="DDE2FF"/>
                </a:solidFill>
                <a:latin typeface="Calibri" pitchFamily="34" charset="0"/>
                <a:ea typeface="Calibri" pitchFamily="34" charset="-122"/>
                <a:cs typeface="Calibri" pitchFamily="34" charset="-120"/>
              </a:rPr>
              <a:t>libp2p transport; diverse double-compiling; verified Weave.</a:t>
            </a:r>
            <a:endParaRPr lang="en-US" sz="1300" dirty="0"/>
          </a:p>
        </p:txBody>
      </p:sp>
      <p:sp>
        <p:nvSpPr>
          <p:cNvPr id="29" name="Text 26"/>
          <p:cNvSpPr txBox="1"/>
          <p:nvPr/>
        </p:nvSpPr>
        <p:spPr>
          <a:xfrm>
            <a:off x="640080" y="5943600"/>
            <a:ext cx="6858000" cy="457200"/>
          </a:xfrm>
          <a:prstGeom prst="rect">
            <a:avLst/>
          </a:prstGeom>
          <a:noFill/>
          <a:ln/>
        </p:spPr>
        <p:txBody>
          <a:bodyPr wrap="square" lIns="0" tIns="0" rIns="0" bIns="0" rtlCol="0" anchor="t"/>
          <a:lstStyle/>
          <a:p>
            <a:pPr algn="l" indent="0" marL="0">
              <a:buNone/>
            </a:pPr>
            <a:r>
              <a:rPr lang="en-US" sz="2200" b="1" dirty="0">
                <a:solidFill>
                  <a:srgbClr val="FFFFFF"/>
                </a:solidFill>
                <a:latin typeface="Cambria" pitchFamily="34" charset="0"/>
                <a:ea typeface="Cambria" pitchFamily="34" charset="-122"/>
                <a:cs typeface="Cambria" pitchFamily="34" charset="-120"/>
              </a:rPr>
              <a:t>Thank you — questions welcome</a:t>
            </a:r>
            <a:endParaRPr lang="en-US" sz="2200" dirty="0"/>
          </a:p>
        </p:txBody>
      </p:sp>
      <p:sp>
        <p:nvSpPr>
          <p:cNvPr id="30" name="Text 27"/>
          <p:cNvSpPr txBox="1"/>
          <p:nvPr/>
        </p:nvSpPr>
        <p:spPr>
          <a:xfrm>
            <a:off x="7223760" y="6016752"/>
            <a:ext cx="4434840" cy="365760"/>
          </a:xfrm>
          <a:prstGeom prst="rect">
            <a:avLst/>
          </a:prstGeom>
          <a:noFill/>
          <a:ln/>
        </p:spPr>
        <p:txBody>
          <a:bodyPr wrap="square" lIns="0" tIns="0" rIns="0" bIns="0" rtlCol="0" anchor="t"/>
          <a:lstStyle/>
          <a:p>
            <a:pPr algn="r" indent="0" marL="0">
              <a:buNone/>
            </a:pPr>
            <a:r>
              <a:rPr lang="en-US" sz="1150" i="1" dirty="0">
                <a:solidFill>
                  <a:srgbClr val="AEB6DA"/>
                </a:solidFill>
                <a:latin typeface="Calibri" pitchFamily="34" charset="0"/>
                <a:ea typeface="Calibri" pitchFamily="34" charset="-122"/>
                <a:cs typeface="Calibri" pitchFamily="34" charset="-120"/>
              </a:rPr>
              <a:t>9/9 attacks blocked · 0 false positives · 200/200 split views detected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601200" cy="292608"/>
          </a:xfrm>
          <a:prstGeom prst="rect">
            <a:avLst/>
          </a:prstGeom>
          <a:noFill/>
          <a:ln/>
        </p:spPr>
        <p:txBody>
          <a:bodyPr wrap="square" lIns="0" tIns="0" rIns="0" bIns="0" rtlCol="0" anchor="ctr"/>
          <a:lstStyle/>
          <a:p>
            <a:pPr indent="0" marL="0">
              <a:buNone/>
            </a:pPr>
            <a:r>
              <a:rPr lang="en-US" sz="1200" b="1" spc="300" kern="0" dirty="0">
                <a:solidFill>
                  <a:srgbClr val="4455C7"/>
                </a:solidFill>
                <a:latin typeface="Calibri" pitchFamily="34" charset="0"/>
                <a:ea typeface="Calibri" pitchFamily="34" charset="-122"/>
                <a:cs typeface="Calibri" pitchFamily="34" charset="-120"/>
              </a:rPr>
              <a:t>REFERENCES</a:t>
            </a:r>
            <a:endParaRPr lang="en-US" sz="1200" dirty="0"/>
          </a:p>
        </p:txBody>
      </p:sp>
      <p:sp>
        <p:nvSpPr>
          <p:cNvPr id="3" name="Text 1"/>
          <p:cNvSpPr txBox="1"/>
          <p:nvPr/>
        </p:nvSpPr>
        <p:spPr>
          <a:xfrm>
            <a:off x="548640" y="621792"/>
            <a:ext cx="10241280" cy="685800"/>
          </a:xfrm>
          <a:prstGeom prst="rect">
            <a:avLst/>
          </a:prstGeom>
          <a:noFill/>
          <a:ln/>
        </p:spPr>
        <p:txBody>
          <a:bodyPr wrap="square" lIns="0" tIns="0" rIns="0" bIns="0" rtlCol="0" anchor="t"/>
          <a:lstStyle/>
          <a:p>
            <a:pPr indent="0" marL="0">
              <a:buNone/>
            </a:pPr>
            <a:r>
              <a:rPr lang="en-US" sz="3000" b="1" dirty="0">
                <a:solidFill>
                  <a:srgbClr val="161B33"/>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11240262" y="384048"/>
            <a:ext cx="59436" cy="457200"/>
          </a:xfrm>
          <a:prstGeom prst="rect">
            <a:avLst/>
          </a:prstGeom>
          <a:solidFill>
            <a:srgbClr val="4455C7"/>
          </a:solidFill>
          <a:ln/>
        </p:spPr>
      </p:sp>
      <p:sp>
        <p:nvSpPr>
          <p:cNvPr id="5" name="Shape 3"/>
          <p:cNvSpPr/>
          <p:nvPr/>
        </p:nvSpPr>
        <p:spPr>
          <a:xfrm>
            <a:off x="11377422" y="384048"/>
            <a:ext cx="59436" cy="457200"/>
          </a:xfrm>
          <a:prstGeom prst="rect">
            <a:avLst/>
          </a:prstGeom>
          <a:solidFill>
            <a:srgbClr val="4455C7"/>
          </a:solidFill>
          <a:ln/>
        </p:spPr>
      </p:sp>
      <p:sp>
        <p:nvSpPr>
          <p:cNvPr id="6" name="Shape 4"/>
          <p:cNvSpPr/>
          <p:nvPr/>
        </p:nvSpPr>
        <p:spPr>
          <a:xfrm>
            <a:off x="11514582" y="384048"/>
            <a:ext cx="59436" cy="457200"/>
          </a:xfrm>
          <a:prstGeom prst="rect">
            <a:avLst/>
          </a:prstGeom>
          <a:solidFill>
            <a:srgbClr val="4455C7"/>
          </a:solidFill>
          <a:ln/>
        </p:spPr>
      </p:sp>
      <p:sp>
        <p:nvSpPr>
          <p:cNvPr id="7" name="Shape 5"/>
          <p:cNvSpPr/>
          <p:nvPr/>
        </p:nvSpPr>
        <p:spPr>
          <a:xfrm>
            <a:off x="11201400" y="445770"/>
            <a:ext cx="457200" cy="59436"/>
          </a:xfrm>
          <a:prstGeom prst="rect">
            <a:avLst/>
          </a:prstGeom>
          <a:solidFill>
            <a:srgbClr val="161B33"/>
          </a:solidFill>
          <a:ln/>
        </p:spPr>
      </p:sp>
      <p:sp>
        <p:nvSpPr>
          <p:cNvPr id="8" name="Shape 6"/>
          <p:cNvSpPr/>
          <p:nvPr/>
        </p:nvSpPr>
        <p:spPr>
          <a:xfrm>
            <a:off x="11201400" y="582930"/>
            <a:ext cx="457200" cy="59436"/>
          </a:xfrm>
          <a:prstGeom prst="rect">
            <a:avLst/>
          </a:prstGeom>
          <a:solidFill>
            <a:srgbClr val="161B33"/>
          </a:solidFill>
          <a:ln/>
        </p:spPr>
      </p:sp>
      <p:sp>
        <p:nvSpPr>
          <p:cNvPr id="9" name="Shape 7"/>
          <p:cNvSpPr/>
          <p:nvPr/>
        </p:nvSpPr>
        <p:spPr>
          <a:xfrm>
            <a:off x="11201400" y="720090"/>
            <a:ext cx="457200" cy="59436"/>
          </a:xfrm>
          <a:prstGeom prst="rect">
            <a:avLst/>
          </a:prstGeom>
          <a:solidFill>
            <a:srgbClr val="161B33"/>
          </a:solidFill>
          <a:ln/>
        </p:spPr>
      </p:sp>
      <p:sp>
        <p:nvSpPr>
          <p:cNvPr id="10" name="Shape 8"/>
          <p:cNvSpPr/>
          <p:nvPr/>
        </p:nvSpPr>
        <p:spPr>
          <a:xfrm>
            <a:off x="11240262" y="553212"/>
            <a:ext cx="59436" cy="118872"/>
          </a:xfrm>
          <a:prstGeom prst="rect">
            <a:avLst/>
          </a:prstGeom>
          <a:solidFill>
            <a:srgbClr val="4455C7"/>
          </a:solidFill>
          <a:ln/>
        </p:spPr>
      </p:sp>
      <p:sp>
        <p:nvSpPr>
          <p:cNvPr id="11" name="Shape 9"/>
          <p:cNvSpPr/>
          <p:nvPr/>
        </p:nvSpPr>
        <p:spPr>
          <a:xfrm>
            <a:off x="11377422" y="416052"/>
            <a:ext cx="59436" cy="118872"/>
          </a:xfrm>
          <a:prstGeom prst="rect">
            <a:avLst/>
          </a:prstGeom>
          <a:solidFill>
            <a:srgbClr val="4455C7"/>
          </a:solidFill>
          <a:ln/>
        </p:spPr>
      </p:sp>
      <p:sp>
        <p:nvSpPr>
          <p:cNvPr id="12" name="Shape 10"/>
          <p:cNvSpPr/>
          <p:nvPr/>
        </p:nvSpPr>
        <p:spPr>
          <a:xfrm>
            <a:off x="11377422" y="690372"/>
            <a:ext cx="59436" cy="118872"/>
          </a:xfrm>
          <a:prstGeom prst="rect">
            <a:avLst/>
          </a:prstGeom>
          <a:solidFill>
            <a:srgbClr val="4455C7"/>
          </a:solidFill>
          <a:ln/>
        </p:spPr>
      </p:sp>
      <p:sp>
        <p:nvSpPr>
          <p:cNvPr id="13" name="Shape 11"/>
          <p:cNvSpPr/>
          <p:nvPr/>
        </p:nvSpPr>
        <p:spPr>
          <a:xfrm>
            <a:off x="11514582" y="553212"/>
            <a:ext cx="59436" cy="118872"/>
          </a:xfrm>
          <a:prstGeom prst="rect">
            <a:avLst/>
          </a:prstGeom>
          <a:solidFill>
            <a:srgbClr val="4455C7"/>
          </a:solidFill>
          <a:ln/>
        </p:spPr>
      </p:sp>
      <p:sp>
        <p:nvSpPr>
          <p:cNvPr id="14" name="Text 12"/>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B6275"/>
                </a:solidFill>
                <a:latin typeface="Calibri" pitchFamily="34" charset="0"/>
                <a:ea typeface="Calibri" pitchFamily="34" charset="-122"/>
                <a:cs typeface="Calibri" pitchFamily="34" charset="-120"/>
              </a:rPr>
              <a:t>Loom — Major Project Review · 2026</a:t>
            </a:r>
            <a:endParaRPr lang="en-US" sz="900" dirty="0"/>
          </a:p>
        </p:txBody>
      </p:sp>
      <p:sp>
        <p:nvSpPr>
          <p:cNvPr id="15" name="Text 13"/>
          <p:cNvSpPr txBox="1"/>
          <p:nvPr/>
        </p:nvSpPr>
        <p:spPr>
          <a:xfrm>
            <a:off x="11155680" y="6446520"/>
            <a:ext cx="502920" cy="228600"/>
          </a:xfrm>
          <a:prstGeom prst="rect">
            <a:avLst/>
          </a:prstGeom>
          <a:noFill/>
          <a:ln/>
        </p:spPr>
        <p:txBody>
          <a:bodyPr wrap="square" lIns="0" tIns="0" rIns="0" bIns="0" rtlCol="0" anchor="ctr"/>
          <a:lstStyle/>
          <a:p>
            <a:pPr algn="r" indent="0" marL="0">
              <a:buNone/>
            </a:pPr>
            <a:r>
              <a:rPr lang="en-US" sz="900" dirty="0">
                <a:solidFill>
                  <a:srgbClr val="5B6275"/>
                </a:solidFill>
                <a:latin typeface="Calibri" pitchFamily="34" charset="0"/>
                <a:ea typeface="Calibri" pitchFamily="34" charset="-122"/>
                <a:cs typeface="Calibri" pitchFamily="34" charset="-120"/>
              </a:rPr>
              <a:t>16</a:t>
            </a:r>
            <a:endParaRPr lang="en-US" sz="900" dirty="0"/>
          </a:p>
        </p:txBody>
      </p:sp>
      <p:sp>
        <p:nvSpPr>
          <p:cNvPr id="17" name="Text 14"/>
          <p:cNvSpPr txBox="1"/>
          <p:nvPr/>
        </p:nvSpPr>
        <p:spPr>
          <a:xfrm>
            <a:off x="548640" y="1417320"/>
            <a:ext cx="5440680" cy="4800600"/>
          </a:xfrm>
          <a:prstGeom prst="rect">
            <a:avLst/>
          </a:prstGeom>
          <a:noFill/>
          <a:ln/>
        </p:spPr>
        <p:txBody>
          <a:bodyPr wrap="square" lIns="0" tIns="0" rIns="0" bIns="0" rtlCol="0" anchor="t"/>
          <a:lstStyle/>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P. Ladisa, H. Plate, M. Martinez, and O. Barais, "SoK: Taxonomy of attacks on open-source software supply chains," in Proc. IEEE Symp. Security and Privacy (SP), 2023, pp. 1509–1526.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https://ieeexplore.ieee.org/document/10179304</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[2]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P. Ladisa, S. E. Ponta, N. Ronzoni, M. Martinez, and O. Barais, "On the feasibility of cross-language detection of malicious packages in npm and PyPI," in Proc. 39th Annu. Computer Security Applications Conf. (ACSAC), 2023.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https://doi.org/10.1145/3627106.3627138</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[3]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W. Guo, Z. Xu, C. Liu, C. Huang, Y. Fang, and Y. Liu, "An empirical study of malicious code in PyPI ecosystem," in Proc. 38th IEEE/ACM Int. Conf. Automated Software Engineering (ASE), 2023.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https://arxiv.org/abs/2309.11021</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[4]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X. Zhou, Y. Zhang, W. Niu, J. Liu, H. Wang, and Q. Li, "An analysis of malicious packages in open-source software in the wild," in Proc. 55th Annu. IEEE/IFIP Int. Conf. Dependable Systems and Networks (DSN), 2025.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https://arxiv.org/abs/2404.04991</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[5]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P. Przymus and T. Durieux, "Wolves in the repository: A software engineering analysis of the XZ Utils supply chain attack," in Proc. IEEE/ACM 22nd Int. Conf. Mining Software Repositories (MSR), 2025.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https://arxiv.org/abs/2504.17473</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[6]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C. Miller, C. Kästner, and B. Vasilescu, "'We feel like we're winging it:' A study on navigating open-source dependency abandonment," in Proc. 31st ACM ESEC/FSE, 2023.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https://doi.org/10.1145/3611643.3616293</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[7]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T. R. Schorlemmer et al., "Signing in four public software package registries: Quantity, quality, and influencing factors," in Proc. IEEE Symp. Security and Privacy (SP), 2024.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https://arxiv.org/abs/2401.14635</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[8]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K. Merrill, Z. Newman, S. Torres-Arias, and K. Sollins, "Speranza: Usable, privacy-friendly software signing," in Proc. ACM SIGSAC Conf. Computer and Communications Security (CCS), 2023.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https://doi.org/10.1145/3576915.3623200</a:t>
            </a:r>
            <a:endParaRPr lang="en-US" sz="950" dirty="0"/>
          </a:p>
        </p:txBody>
      </p:sp>
      <p:sp>
        <p:nvSpPr>
          <p:cNvPr id="18" name="Text 15"/>
          <p:cNvSpPr txBox="1"/>
          <p:nvPr/>
        </p:nvSpPr>
        <p:spPr>
          <a:xfrm>
            <a:off x="6217920" y="1417320"/>
            <a:ext cx="5440680" cy="4800600"/>
          </a:xfrm>
          <a:prstGeom prst="rect">
            <a:avLst/>
          </a:prstGeom>
          <a:noFill/>
          <a:ln/>
        </p:spPr>
        <p:txBody>
          <a:bodyPr wrap="square" lIns="0" tIns="0" rIns="0" bIns="0" rtlCol="0" anchor="t"/>
          <a:lstStyle/>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[9]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E. Abu Ishgair, M. S. Melara, and S. Torres-Arias, "SoK: A defense-oriented evaluation of software supply chain security," arXiv:2405.14993, 2024.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https://arxiv.org/abs/2405.14993</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[10]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M. Tamanna, S. Hamer, M. Tran, S. Fahl, Y. Acar, and L. Williams, "Analyzing challenges in deployment of the SLSA framework for software supply chain security," arXiv:2409.05014, 2024.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https://arxiv.org/abs/2409.05014</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[11]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J. Malka, S. Zacchiroli, and T. Zimmermann, "Reproducibility of build environments through space and time," in Proc. 46th IEEE/ACM ICSE: New Ideas and Emerging Results, 2024.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https://doi.org/10.1145/3639476.3639767</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[12]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J. Malka, S. Zacchiroli, and T. Zimmermann, "Does functional package management enable reproducible builds at scale? Yes.," in Proc. IEEE/ACM 22nd Int. Conf. Mining Software Repositories (MSR), 2025.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https://arxiv.org/abs/2501.15919</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[13]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H. Malvai et al., "Parakeet: Practical key transparency for end-to-end encrypted messaging," in Proc. Network and Distributed System Security Symp. (NDSS), 2023.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https://www.ndss-symposium.org/ndss-paper/parakeet-practical-key-transparency-for-end-to-end-encrypted-messaging/</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[14]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J. Len, M. Chase, E. Ghosh, K. Laine, and R. Cruz Moreno, "OPTIKS: An optimized key transparency system," in Proc. 33rd USENIX Security Symp., 2024.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https://www.usenix.org/conference/usenixsecurity24/presentation/len</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[15]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M. Alhindi and J. Hallett, "Sandboxing adoption in open source ecosystems," in Proc. 12th ACM/IEEE Int. Workshop on Software Engineering for Systems-of-Systems and Software Ecosystems (SESoS), 2024.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https://doi.org/10.1145/3643655.3643878</a:t>
            </a:r>
            <a:endParaRPr lang="en-US" sz="950" dirty="0"/>
          </a:p>
          <a:p>
            <a:pPr indent="0" marL="0">
              <a:spcAft>
                <a:spcPts val="500"/>
              </a:spcAft>
              <a:buNone/>
            </a:pPr>
            <a:r>
              <a:rPr lang="en-US" sz="950" b="1" dirty="0">
                <a:solidFill>
                  <a:srgbClr val="2E3A8C"/>
                </a:solidFill>
                <a:latin typeface="Calibri" pitchFamily="34" charset="0"/>
                <a:ea typeface="Calibri" pitchFamily="34" charset="-122"/>
                <a:cs typeface="Calibri" pitchFamily="34" charset="-120"/>
              </a:rPr>
              <a:t>[16] </a:t>
            </a:r>
            <a:pPr indent="0" marL="0">
              <a:spcAft>
                <a:spcPts val="500"/>
              </a:spcAft>
              <a:buNone/>
            </a:pPr>
            <a:r>
              <a:rPr lang="en-US" sz="950" dirty="0">
                <a:solidFill>
                  <a:srgbClr val="1B2030"/>
                </a:solidFill>
                <a:latin typeface="Calibri" pitchFamily="34" charset="0"/>
                <a:ea typeface="Calibri" pitchFamily="34" charset="-122"/>
                <a:cs typeface="Calibri" pitchFamily="34" charset="-120"/>
              </a:rPr>
              <a:t>S. R. Brandt et al., "Locking down science gateways with Landlock and seccomp," in Proc. 59th Hawaii Int. Conf. System Sciences (HICSS), 2026, pp. 7413–7422. </a:t>
            </a:r>
            <a:pPr indent="0" marL="0">
              <a:spcAft>
                <a:spcPts val="500"/>
              </a:spcAft>
              <a:buNone/>
            </a:pPr>
            <a:r>
              <a:rPr lang="en-US" sz="950" u="sng" dirty="0">
                <a:solidFill>
                  <a:srgbClr val="4455C7"/>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https://arxiv.org/abs/2509.18548</a:t>
            </a:r>
            <a:endParaRPr lang="en-US" sz="950" dirty="0"/>
          </a:p>
        </p:txBody>
      </p:sp>
      <p:sp>
        <p:nvSpPr>
          <p:cNvPr id="19" name="Text 16"/>
          <p:cNvSpPr txBox="1"/>
          <p:nvPr/>
        </p:nvSpPr>
        <p:spPr>
          <a:xfrm>
            <a:off x="548640" y="6236208"/>
            <a:ext cx="11109960" cy="201168"/>
          </a:xfrm>
          <a:prstGeom prst="rect">
            <a:avLst/>
          </a:prstGeom>
          <a:noFill/>
          <a:ln/>
        </p:spPr>
        <p:txBody>
          <a:bodyPr wrap="square" lIns="0" tIns="0" rIns="0" bIns="0" rtlCol="0" anchor="t"/>
          <a:lstStyle/>
          <a:p>
            <a:pPr algn="l" indent="0" marL="0">
              <a:buNone/>
            </a:pPr>
            <a:r>
              <a:rPr lang="en-US" sz="900" i="1" dirty="0">
                <a:solidFill>
                  <a:srgbClr val="5B6275"/>
                </a:solidFill>
                <a:latin typeface="Calibri" pitchFamily="34" charset="0"/>
                <a:ea typeface="Calibri" pitchFamily="34" charset="-122"/>
                <a:cs typeface="Calibri" pitchFamily="34" charset="-120"/>
              </a:rPr>
              <a:t>Standards implemented (FIPS 180-4, RFC 8032, RFC 6962/9162, RFC 8785, DSSE, in-toto, C2SP) are cited in the accompanying technical document.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Loom: A Decentralised, Verifying Package Manager for the AUR</dc:title>
  <dc:subject>Major Project Review</dc:subject>
  <dc:creator>PptxGenJS</dc:creator>
  <cp:lastModifiedBy>PptxGenJS</cp:lastModifiedBy>
  <cp:revision>1</cp:revision>
  <dcterms:created xsi:type="dcterms:W3CDTF">2026-09-28T02:46:28Z</dcterms:created>
  <dcterms:modified xsi:type="dcterms:W3CDTF">2026-09-28T02:46:28Z</dcterms:modified>
</cp:coreProperties>
</file>